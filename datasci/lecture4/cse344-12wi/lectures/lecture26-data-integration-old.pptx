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handoutMasterIdLst>
    <p:handoutMasterId r:id="rId14"/>
  </p:handoutMasterIdLst>
  <p:sldIdLst>
    <p:sldId id="256" r:id="rId2"/>
    <p:sldId id="281" r:id="rId3"/>
    <p:sldId id="283" r:id="rId4"/>
    <p:sldId id="282" r:id="rId5"/>
    <p:sldId id="284" r:id="rId6"/>
    <p:sldId id="285" r:id="rId7"/>
    <p:sldId id="287" r:id="rId8"/>
    <p:sldId id="286" r:id="rId9"/>
    <p:sldId id="288" r:id="rId10"/>
    <p:sldId id="289" r:id="rId11"/>
    <p:sldId id="290" r:id="rId12"/>
  </p:sldIdLst>
  <p:sldSz cx="9144000" cy="6858000" type="screen4x3"/>
  <p:notesSz cx="6934200" cy="90805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457200" rtl="0" eaLnBrk="1" latinLnBrk="0" hangingPunct="1">
      <a:defRPr sz="2400" kern="1200">
        <a:solidFill>
          <a:schemeClr val="tx1"/>
        </a:solidFill>
        <a:latin typeface="Times New Roman" charset="0"/>
        <a:ea typeface="+mn-ea"/>
        <a:cs typeface="+mn-cs"/>
      </a:defRPr>
    </a:lvl6pPr>
    <a:lvl7pPr marL="2743200" algn="l" defTabSz="457200" rtl="0" eaLnBrk="1" latinLnBrk="0" hangingPunct="1">
      <a:defRPr sz="2400" kern="1200">
        <a:solidFill>
          <a:schemeClr val="tx1"/>
        </a:solidFill>
        <a:latin typeface="Times New Roman" charset="0"/>
        <a:ea typeface="+mn-ea"/>
        <a:cs typeface="+mn-cs"/>
      </a:defRPr>
    </a:lvl7pPr>
    <a:lvl8pPr marL="3200400" algn="l" defTabSz="457200" rtl="0" eaLnBrk="1" latinLnBrk="0" hangingPunct="1">
      <a:defRPr sz="2400" kern="1200">
        <a:solidFill>
          <a:schemeClr val="tx1"/>
        </a:solidFill>
        <a:latin typeface="Times New Roman" charset="0"/>
        <a:ea typeface="+mn-ea"/>
        <a:cs typeface="+mn-cs"/>
      </a:defRPr>
    </a:lvl8pPr>
    <a:lvl9pPr marL="3657600" algn="l" defTabSz="4572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259" autoAdjust="0"/>
  </p:normalViewPr>
  <p:slideViewPr>
    <p:cSldViewPr>
      <p:cViewPr varScale="1">
        <p:scale>
          <a:sx n="76" d="100"/>
          <a:sy n="76" d="100"/>
        </p:scale>
        <p:origin x="-3512"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interSettings" Target="printerSettings/printerSettings1.bin"/><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3005138"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06499" name="Rectangle 3"/>
          <p:cNvSpPr>
            <a:spLocks noGrp="1" noChangeArrowheads="1"/>
          </p:cNvSpPr>
          <p:nvPr>
            <p:ph type="dt" sz="quarter" idx="1"/>
          </p:nvPr>
        </p:nvSpPr>
        <p:spPr bwMode="auto">
          <a:xfrm>
            <a:off x="3929063" y="0"/>
            <a:ext cx="3005137"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06500" name="Rectangle 4"/>
          <p:cNvSpPr>
            <a:spLocks noGrp="1" noChangeArrowheads="1"/>
          </p:cNvSpPr>
          <p:nvPr>
            <p:ph type="ftr" sz="quarter" idx="2"/>
          </p:nvPr>
        </p:nvSpPr>
        <p:spPr bwMode="auto">
          <a:xfrm>
            <a:off x="0" y="8626475"/>
            <a:ext cx="3005138"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06501" name="Rectangle 5"/>
          <p:cNvSpPr>
            <a:spLocks noGrp="1" noChangeArrowheads="1"/>
          </p:cNvSpPr>
          <p:nvPr>
            <p:ph type="sldNum" sz="quarter" idx="3"/>
          </p:nvPr>
        </p:nvSpPr>
        <p:spPr bwMode="auto">
          <a:xfrm>
            <a:off x="3929063" y="8626475"/>
            <a:ext cx="3005137"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795EDB4-1B8C-A445-A127-FD285FCFAB8E}" type="slidenum">
              <a:rPr lang="en-US"/>
              <a:pPr>
                <a:defRPr/>
              </a:pPr>
              <a:t>‹#›</a:t>
            </a:fld>
            <a:endParaRPr lang="en-US"/>
          </a:p>
        </p:txBody>
      </p:sp>
    </p:spTree>
    <p:extLst>
      <p:ext uri="{BB962C8B-B14F-4D97-AF65-F5344CB8AC3E}">
        <p14:creationId xmlns:p14="http://schemas.microsoft.com/office/powerpoint/2010/main" val="21391332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3005138"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04451" name="Rectangle 3"/>
          <p:cNvSpPr>
            <a:spLocks noGrp="1" noChangeArrowheads="1"/>
          </p:cNvSpPr>
          <p:nvPr>
            <p:ph type="dt" idx="1"/>
          </p:nvPr>
        </p:nvSpPr>
        <p:spPr bwMode="auto">
          <a:xfrm>
            <a:off x="3929063" y="0"/>
            <a:ext cx="3005137"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96975" y="681038"/>
            <a:ext cx="4540250" cy="3405187"/>
          </a:xfrm>
          <a:prstGeom prst="rect">
            <a:avLst/>
          </a:prstGeom>
          <a:noFill/>
          <a:ln w="9525">
            <a:solidFill>
              <a:srgbClr val="000000"/>
            </a:solidFill>
            <a:miter lim="800000"/>
            <a:headEnd/>
            <a:tailEnd/>
          </a:ln>
        </p:spPr>
      </p:sp>
      <p:sp>
        <p:nvSpPr>
          <p:cNvPr id="104453" name="Rectangle 5"/>
          <p:cNvSpPr>
            <a:spLocks noGrp="1" noChangeArrowheads="1"/>
          </p:cNvSpPr>
          <p:nvPr>
            <p:ph type="body" sz="quarter" idx="3"/>
          </p:nvPr>
        </p:nvSpPr>
        <p:spPr bwMode="auto">
          <a:xfrm>
            <a:off x="923925" y="4313238"/>
            <a:ext cx="5086350" cy="408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454" name="Rectangle 6"/>
          <p:cNvSpPr>
            <a:spLocks noGrp="1" noChangeArrowheads="1"/>
          </p:cNvSpPr>
          <p:nvPr>
            <p:ph type="ftr" sz="quarter" idx="4"/>
          </p:nvPr>
        </p:nvSpPr>
        <p:spPr bwMode="auto">
          <a:xfrm>
            <a:off x="0" y="8626475"/>
            <a:ext cx="3005138"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04455" name="Rectangle 7"/>
          <p:cNvSpPr>
            <a:spLocks noGrp="1" noChangeArrowheads="1"/>
          </p:cNvSpPr>
          <p:nvPr>
            <p:ph type="sldNum" sz="quarter" idx="5"/>
          </p:nvPr>
        </p:nvSpPr>
        <p:spPr bwMode="auto">
          <a:xfrm>
            <a:off x="3929063" y="8626475"/>
            <a:ext cx="3005137"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81092A1-13F6-A445-87D1-FA2328BAC0FB}" type="slidenum">
              <a:rPr lang="en-US"/>
              <a:pPr>
                <a:defRPr/>
              </a:pPr>
              <a:t>‹#›</a:t>
            </a:fld>
            <a:endParaRPr lang="en-US"/>
          </a:p>
        </p:txBody>
      </p:sp>
    </p:spTree>
    <p:extLst>
      <p:ext uri="{BB962C8B-B14F-4D97-AF65-F5344CB8AC3E}">
        <p14:creationId xmlns:p14="http://schemas.microsoft.com/office/powerpoint/2010/main" val="93501656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08726044-AF1E-5847-B655-6D2F7DB2DADC}" type="slidenum">
              <a:rPr lang="en-US"/>
              <a:pPr/>
              <a:t>1</a:t>
            </a:fld>
            <a:endParaRPr 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Two companies merge:</a:t>
            </a:r>
          </a:p>
          <a:p>
            <a:pPr>
              <a:buFontTx/>
              <a:buChar char="-"/>
            </a:pPr>
            <a:r>
              <a:rPr lang="en-US" baseline="0" dirty="0" smtClean="0"/>
              <a:t>Give example of Bank of America buying Fleet.</a:t>
            </a:r>
          </a:p>
          <a:p>
            <a:pPr>
              <a:buFontTx/>
              <a:buChar char="-"/>
            </a:pPr>
            <a:r>
              <a:rPr lang="en-US" baseline="0" dirty="0" smtClean="0"/>
              <a:t>- Each bank used to have a database with accounts, credit cards, etc.</a:t>
            </a:r>
          </a:p>
          <a:p>
            <a:pPr>
              <a:buFontTx/>
              <a:buChar char="-"/>
            </a:pPr>
            <a:r>
              <a:rPr lang="en-US" baseline="0" dirty="0" smtClean="0"/>
              <a:t>- Each bank used to have a database with employees</a:t>
            </a:r>
          </a:p>
          <a:p>
            <a:pPr>
              <a:buFontTx/>
              <a:buNone/>
            </a:pPr>
            <a:r>
              <a:rPr lang="en-US" baseline="0" dirty="0" smtClean="0"/>
              <a:t>Want to get legacy databases to talk to each other: university with registrar should not let a student register if he/she did not pay tuition as recorded in the bursar database. It’s too expensive to re-do everything because there are many legacy applications.</a:t>
            </a:r>
          </a:p>
          <a:p>
            <a:pPr>
              <a:buFontTx/>
              <a:buNone/>
            </a:pPr>
            <a:r>
              <a:rPr lang="en-US" baseline="0" dirty="0" smtClean="0"/>
              <a:t>Want  to analyze data produced by different sources: company databases, scientific databases</a:t>
            </a:r>
            <a:endParaRPr lang="en-US" dirty="0" smtClean="0"/>
          </a:p>
          <a:p>
            <a:r>
              <a:rPr lang="en-US" dirty="0" smtClean="0"/>
              <a:t>The </a:t>
            </a:r>
            <a:r>
              <a:rPr lang="en-US" i="1" dirty="0" smtClean="0"/>
              <a:t>genotype</a:t>
            </a:r>
            <a:r>
              <a:rPr lang="en-US" dirty="0" smtClean="0"/>
              <a:t> is the genetic makeup of a cell, an organism, or an individual (i.e. the specific allele makeup of the individual) </a:t>
            </a:r>
          </a:p>
          <a:p>
            <a:r>
              <a:rPr lang="en-US" dirty="0" smtClean="0"/>
              <a:t>A </a:t>
            </a:r>
            <a:r>
              <a:rPr lang="en-US" i="1" dirty="0" smtClean="0"/>
              <a:t>phenotype</a:t>
            </a:r>
            <a:r>
              <a:rPr lang="en-US" dirty="0" smtClean="0"/>
              <a:t> (from Greek </a:t>
            </a:r>
            <a:r>
              <a:rPr lang="en-US" dirty="0" err="1" smtClean="0"/>
              <a:t>phainein</a:t>
            </a:r>
            <a:r>
              <a:rPr lang="en-US" dirty="0" smtClean="0"/>
              <a:t> to 'show' + typos 'type') is an organism's observable characteristics or traits: such as its morphology</a:t>
            </a:r>
          </a:p>
          <a:p>
            <a:r>
              <a:rPr lang="en-US" dirty="0" smtClean="0"/>
              <a:t>Different websites: hotels, museums, restaurants, etc…. Help</a:t>
            </a:r>
            <a:r>
              <a:rPr lang="en-US" baseline="0" dirty="0" smtClean="0"/>
              <a:t> tourists plan their time.</a:t>
            </a:r>
            <a:endParaRPr lang="en-US" dirty="0"/>
          </a:p>
        </p:txBody>
      </p:sp>
      <p:sp>
        <p:nvSpPr>
          <p:cNvPr id="4" name="Slide Number Placeholder 3"/>
          <p:cNvSpPr>
            <a:spLocks noGrp="1"/>
          </p:cNvSpPr>
          <p:nvPr>
            <p:ph type="sldNum" sz="quarter" idx="10"/>
          </p:nvPr>
        </p:nvSpPr>
        <p:spPr/>
        <p:txBody>
          <a:bodyPr/>
          <a:lstStyle/>
          <a:p>
            <a:pPr>
              <a:defRPr/>
            </a:pPr>
            <a:fld id="{081092A1-13F6-A445-87D1-FA2328BAC0FB}" type="slidenum">
              <a:rPr lang="en-US" smtClean="0"/>
              <a:pPr>
                <a:defRPr/>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Federated databases: key</a:t>
            </a:r>
            <a:r>
              <a:rPr lang="en-US" baseline="0" dirty="0" smtClean="0"/>
              <a:t> idea is to establish links between different databases. Applications see these links and can use them. It is as if the tables in </a:t>
            </a:r>
            <a:r>
              <a:rPr lang="en-US" baseline="0" dirty="0" err="1" smtClean="0"/>
              <a:t>datasource</a:t>
            </a:r>
            <a:r>
              <a:rPr lang="en-US" baseline="0" dirty="0" smtClean="0"/>
              <a:t> 1 were becoming visible as part of datasource2. For example, worker and position from S2 would be visible when talking to S1.</a:t>
            </a:r>
          </a:p>
          <a:p>
            <a:endParaRPr lang="en-US" baseline="0" dirty="0" smtClean="0"/>
          </a:p>
          <a:p>
            <a:r>
              <a:rPr lang="en-US" baseline="0" dirty="0" smtClean="0"/>
              <a:t>Data warehouses: we will create a single global schema and we will extract data from the sources, transform it and clean it before putting it into the central warehouse. (Very popular approach for data analytics but not very agile. It’s hard to add new data sources).</a:t>
            </a:r>
          </a:p>
          <a:p>
            <a:endParaRPr lang="en-US" baseline="0" dirty="0" smtClean="0"/>
          </a:p>
          <a:p>
            <a:r>
              <a:rPr lang="en-US" baseline="0" dirty="0" smtClean="0"/>
              <a:t>Mediator: show picture with mediator and wrappers and how queries and result travel.</a:t>
            </a:r>
          </a:p>
          <a:p>
            <a:r>
              <a:rPr lang="en-US" baseline="0" dirty="0" smtClean="0"/>
              <a:t>With a mediator, data is always up-to-date but all the extraction/transformation/loading are done at query time!</a:t>
            </a:r>
            <a:endParaRPr lang="en-US" dirty="0"/>
          </a:p>
        </p:txBody>
      </p:sp>
      <p:sp>
        <p:nvSpPr>
          <p:cNvPr id="4" name="Slide Number Placeholder 3"/>
          <p:cNvSpPr>
            <a:spLocks noGrp="1"/>
          </p:cNvSpPr>
          <p:nvPr>
            <p:ph type="sldNum" sz="quarter" idx="10"/>
          </p:nvPr>
        </p:nvSpPr>
        <p:spPr/>
        <p:txBody>
          <a:bodyPr/>
          <a:lstStyle/>
          <a:p>
            <a:pPr>
              <a:defRPr/>
            </a:pPr>
            <a:fld id="{081092A1-13F6-A445-87D1-FA2328BAC0FB}" type="slidenum">
              <a:rPr lang="en-US" smtClean="0"/>
              <a:pPr>
                <a:defRPr/>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Pig</a:t>
            </a:r>
            <a:r>
              <a:rPr lang="en-US" baseline="0" dirty="0" smtClean="0"/>
              <a:t> system and Pig Latin are great for ETL!</a:t>
            </a:r>
          </a:p>
          <a:p>
            <a:r>
              <a:rPr lang="en-US" baseline="0" dirty="0" smtClean="0"/>
              <a:t>Also, may need a wrapper on top of the data source: e.g., perhaps need to fill-out a web form to get data out of a data source</a:t>
            </a:r>
            <a:endParaRPr lang="en-US" dirty="0"/>
          </a:p>
        </p:txBody>
      </p:sp>
      <p:sp>
        <p:nvSpPr>
          <p:cNvPr id="4" name="Slide Number Placeholder 3"/>
          <p:cNvSpPr>
            <a:spLocks noGrp="1"/>
          </p:cNvSpPr>
          <p:nvPr>
            <p:ph type="sldNum" sz="quarter" idx="10"/>
          </p:nvPr>
        </p:nvSpPr>
        <p:spPr/>
        <p:txBody>
          <a:bodyPr/>
          <a:lstStyle/>
          <a:p>
            <a:pPr>
              <a:defRPr/>
            </a:pPr>
            <a:fld id="{081092A1-13F6-A445-87D1-FA2328BAC0FB}" type="slidenum">
              <a:rPr lang="en-US" smtClean="0"/>
              <a:pPr>
                <a:defRPr/>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4AA3F00-9D55-6740-A2AC-352CCC2678A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26758B8-175C-0241-A47D-6800F688EEB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25FFA6-DD66-B14E-84C9-7250A61C852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7E754E-4057-C843-A668-651F31752C5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8C4FA1C-BC97-3A4F-8C0E-C436A8D1575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60454E-08EF-7D43-A9EE-FF5E10FEE9A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D958550E-0766-4D49-979B-FF2F6B70DAB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B7F07F3-8005-1246-9D6A-0837FE311A7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A37592-9D7B-EA43-9AB2-08BCB9F1BF7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887FED8-C9A3-DB4D-8B59-7FBA460E8B7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CSE 344 – Winter 2012</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3B3B38-540F-7047-B770-E3F5DD37722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2819400" y="6248400"/>
            <a:ext cx="3505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a:cs typeface="Arial"/>
              </a:defRPr>
            </a:lvl1pPr>
          </a:lstStyle>
          <a:p>
            <a:pPr>
              <a:defRPr/>
            </a:pPr>
            <a:r>
              <a:rPr lang="en-US" smtClean="0"/>
              <a:t>CSE 344 – Winter 2012</a:t>
            </a:r>
            <a:endParaRPr lang="en-US" dirty="0"/>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a:cs typeface="Arial"/>
              </a:defRPr>
            </a:lvl1pPr>
          </a:lstStyle>
          <a:p>
            <a:pPr>
              <a:defRPr/>
            </a:pPr>
            <a:fld id="{E4D9B849-79BE-6646-8D63-6FEDE6047041}"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000">
          <a:solidFill>
            <a:schemeClr val="tx2"/>
          </a:solidFill>
          <a:latin typeface="Arial"/>
          <a:ea typeface="ＭＳ Ｐゴシック" charset="-128"/>
          <a:cs typeface="Arial"/>
        </a:defRPr>
      </a:lvl1pPr>
      <a:lvl2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2800">
          <a:solidFill>
            <a:schemeClr val="tx1"/>
          </a:solidFill>
          <a:latin typeface="Arial"/>
          <a:ea typeface="ＭＳ Ｐゴシック" charset="-128"/>
          <a:cs typeface="Arial"/>
        </a:defRPr>
      </a:lvl1pPr>
      <a:lvl2pPr marL="742950" indent="-285750" algn="l" rtl="0" eaLnBrk="0" fontAlgn="base" hangingPunct="0">
        <a:spcBef>
          <a:spcPct val="20000"/>
        </a:spcBef>
        <a:spcAft>
          <a:spcPct val="0"/>
        </a:spcAft>
        <a:buChar char="–"/>
        <a:defRPr sz="2400">
          <a:solidFill>
            <a:schemeClr val="tx1"/>
          </a:solidFill>
          <a:latin typeface="Arial"/>
          <a:ea typeface="ＭＳ Ｐゴシック" charset="-128"/>
          <a:cs typeface="Arial"/>
        </a:defRPr>
      </a:lvl2pPr>
      <a:lvl3pPr marL="1143000" indent="-228600" algn="l" rtl="0" eaLnBrk="0" fontAlgn="base" hangingPunct="0">
        <a:spcBef>
          <a:spcPct val="20000"/>
        </a:spcBef>
        <a:spcAft>
          <a:spcPct val="0"/>
        </a:spcAft>
        <a:buChar char="•"/>
        <a:defRPr sz="2000">
          <a:solidFill>
            <a:schemeClr val="tx1"/>
          </a:solidFill>
          <a:latin typeface="Arial"/>
          <a:ea typeface="ＭＳ Ｐゴシック" charset="-128"/>
          <a:cs typeface="Arial"/>
        </a:defRPr>
      </a:lvl3pPr>
      <a:lvl4pPr marL="1600200" indent="-228600" algn="l" rtl="0" eaLnBrk="0" fontAlgn="base" hangingPunct="0">
        <a:spcBef>
          <a:spcPct val="20000"/>
        </a:spcBef>
        <a:spcAft>
          <a:spcPct val="0"/>
        </a:spcAft>
        <a:buChar char="–"/>
        <a:defRPr sz="1800">
          <a:solidFill>
            <a:schemeClr val="tx1"/>
          </a:solidFill>
          <a:latin typeface="Arial"/>
          <a:ea typeface="ＭＳ Ｐゴシック" charset="-128"/>
          <a:cs typeface="Arial"/>
        </a:defRPr>
      </a:lvl4pPr>
      <a:lvl5pPr marL="2057400" indent="-228600" algn="l" rtl="0" eaLnBrk="0" fontAlgn="base" hangingPunct="0">
        <a:spcBef>
          <a:spcPct val="20000"/>
        </a:spcBef>
        <a:spcAft>
          <a:spcPct val="0"/>
        </a:spcAft>
        <a:buChar char="»"/>
        <a:defRPr sz="18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ctrTitle"/>
          </p:nvPr>
        </p:nvSpPr>
        <p:spPr>
          <a:xfrm>
            <a:off x="685800" y="2286000"/>
            <a:ext cx="7772400" cy="1143000"/>
          </a:xfrm>
        </p:spPr>
        <p:txBody>
          <a:bodyPr/>
          <a:lstStyle/>
          <a:p>
            <a:pPr eaLnBrk="1" hangingPunct="1"/>
            <a:r>
              <a:rPr lang="en-US" sz="3600" dirty="0" smtClean="0"/>
              <a:t>Introduction to Data Management</a:t>
            </a:r>
            <a:br>
              <a:rPr lang="en-US" sz="3600" dirty="0" smtClean="0"/>
            </a:br>
            <a:r>
              <a:rPr lang="en-US" sz="3600" dirty="0" smtClean="0"/>
              <a:t>CSE 344</a:t>
            </a:r>
            <a:br>
              <a:rPr lang="en-US" sz="3600" dirty="0" smtClean="0"/>
            </a:br>
            <a:endParaRPr lang="en-US" sz="3600" dirty="0"/>
          </a:p>
        </p:txBody>
      </p:sp>
      <p:sp>
        <p:nvSpPr>
          <p:cNvPr id="15364" name="Rectangle 3"/>
          <p:cNvSpPr>
            <a:spLocks noGrp="1" noChangeArrowheads="1"/>
          </p:cNvSpPr>
          <p:nvPr>
            <p:ph type="subTitle" idx="1"/>
          </p:nvPr>
        </p:nvSpPr>
        <p:spPr/>
        <p:txBody>
          <a:bodyPr/>
          <a:lstStyle/>
          <a:p>
            <a:pPr eaLnBrk="1" hangingPunct="1"/>
            <a:r>
              <a:rPr lang="en-US" dirty="0" smtClean="0"/>
              <a:t>Lecture 26: Data Integration</a:t>
            </a:r>
            <a:endParaRPr lang="en-US" dirty="0"/>
          </a:p>
        </p:txBody>
      </p:sp>
      <p:sp>
        <p:nvSpPr>
          <p:cNvPr id="5" name="Footer Placeholder 4"/>
          <p:cNvSpPr>
            <a:spLocks noGrp="1"/>
          </p:cNvSpPr>
          <p:nvPr>
            <p:ph type="ftr" sz="quarter" idx="11"/>
          </p:nvPr>
        </p:nvSpPr>
        <p:spPr/>
        <p:txBody>
          <a:bodyPr/>
          <a:lstStyle/>
          <a:p>
            <a:pPr>
              <a:defRPr/>
            </a:pPr>
            <a:r>
              <a:rPr lang="en-US" smtClean="0"/>
              <a:t>CSE 344 – Winter 2012</a:t>
            </a:r>
            <a:endParaRPr lang="en-US"/>
          </a:p>
        </p:txBody>
      </p:sp>
      <p:sp>
        <p:nvSpPr>
          <p:cNvPr id="6" name="Slide Number Placeholder 5"/>
          <p:cNvSpPr>
            <a:spLocks noGrp="1"/>
          </p:cNvSpPr>
          <p:nvPr>
            <p:ph type="sldNum" sz="quarter" idx="12"/>
          </p:nvPr>
        </p:nvSpPr>
        <p:spPr/>
        <p:txBody>
          <a:bodyPr/>
          <a:lstStyle/>
          <a:p>
            <a:pPr>
              <a:defRPr/>
            </a:pPr>
            <a:fld id="{24AA3F00-9D55-6740-A2AC-352CCC2678AB}" type="slidenum">
              <a:rPr lang="en-US" smtClean="0"/>
              <a:pPr>
                <a:defRPr/>
              </a:pPr>
              <a:t>1</a:t>
            </a:fld>
            <a:endParaRPr lang="en-US"/>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Exam</a:t>
            </a:r>
            <a:endParaRPr lang="en-US" dirty="0"/>
          </a:p>
        </p:txBody>
      </p:sp>
      <p:sp>
        <p:nvSpPr>
          <p:cNvPr id="3" name="Content Placeholder 2"/>
          <p:cNvSpPr>
            <a:spLocks noGrp="1"/>
          </p:cNvSpPr>
          <p:nvPr>
            <p:ph idx="1"/>
          </p:nvPr>
        </p:nvSpPr>
        <p:spPr>
          <a:xfrm>
            <a:off x="685800" y="1981200"/>
            <a:ext cx="8458200" cy="4114800"/>
          </a:xfrm>
        </p:spPr>
        <p:txBody>
          <a:bodyPr/>
          <a:lstStyle/>
          <a:p>
            <a:r>
              <a:rPr lang="en-US" dirty="0" smtClean="0"/>
              <a:t>Wednesday, Dec 14, 8:30am-10:20am, in class</a:t>
            </a:r>
          </a:p>
          <a:p>
            <a:endParaRPr lang="en-US" dirty="0" smtClean="0"/>
          </a:p>
          <a:p>
            <a:r>
              <a:rPr lang="en-US" dirty="0" smtClean="0"/>
              <a:t>Content: Everything</a:t>
            </a:r>
          </a:p>
          <a:p>
            <a:pPr lvl="1"/>
            <a:r>
              <a:rPr lang="en-US" dirty="0" smtClean="0"/>
              <a:t>But no questions on the relational calculus</a:t>
            </a:r>
          </a:p>
          <a:p>
            <a:pPr lvl="1"/>
            <a:endParaRPr lang="en-US" dirty="0" smtClean="0"/>
          </a:p>
          <a:p>
            <a:r>
              <a:rPr lang="en-US" dirty="0" smtClean="0"/>
              <a:t>Open books and open notes</a:t>
            </a:r>
          </a:p>
          <a:p>
            <a:pPr lvl="1"/>
            <a:r>
              <a:rPr lang="en-US" dirty="0" smtClean="0"/>
              <a:t>You can bring any </a:t>
            </a:r>
            <a:r>
              <a:rPr lang="en-US" b="1" dirty="0" smtClean="0"/>
              <a:t>notes </a:t>
            </a:r>
            <a:r>
              <a:rPr lang="en-US" dirty="0" smtClean="0"/>
              <a:t>that you want including slides, assignments, old exams, stuff from the web, …</a:t>
            </a:r>
          </a:p>
          <a:p>
            <a:pPr lvl="1"/>
            <a:r>
              <a:rPr lang="en-US" dirty="0" smtClean="0"/>
              <a:t>BUT NO laptops, phones, or other devices</a:t>
            </a:r>
            <a:endParaRPr lang="en-US"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2</a:t>
            </a:fld>
            <a:endParaRPr lang="en-US"/>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Possible Questions about Last Few Lectures</a:t>
            </a:r>
            <a:endParaRPr lang="en-US" dirty="0"/>
          </a:p>
        </p:txBody>
      </p:sp>
      <p:sp>
        <p:nvSpPr>
          <p:cNvPr id="3" name="Content Placeholder 2"/>
          <p:cNvSpPr>
            <a:spLocks noGrp="1"/>
          </p:cNvSpPr>
          <p:nvPr>
            <p:ph idx="1"/>
          </p:nvPr>
        </p:nvSpPr>
        <p:spPr>
          <a:xfrm>
            <a:off x="685800" y="1981200"/>
            <a:ext cx="8001000" cy="4114800"/>
          </a:xfrm>
        </p:spPr>
        <p:txBody>
          <a:bodyPr/>
          <a:lstStyle/>
          <a:p>
            <a:r>
              <a:rPr lang="en-US" sz="2400" dirty="0" smtClean="0"/>
              <a:t>DBMS-as-a-service: You can expect some sort of qualitative question that will ask you to</a:t>
            </a:r>
          </a:p>
          <a:p>
            <a:pPr lvl="1"/>
            <a:r>
              <a:rPr lang="en-US" sz="2000" dirty="0" smtClean="0"/>
              <a:t>Discuss the benefits and challenges of offering </a:t>
            </a:r>
            <a:r>
              <a:rPr lang="en-US" sz="2000" dirty="0" err="1" smtClean="0"/>
              <a:t>DBMSs</a:t>
            </a:r>
            <a:r>
              <a:rPr lang="en-US" sz="2000" dirty="0" smtClean="0"/>
              <a:t> as a service in the cloud.</a:t>
            </a:r>
          </a:p>
          <a:p>
            <a:pPr lvl="1"/>
            <a:r>
              <a:rPr lang="en-US" sz="2000" dirty="0" smtClean="0"/>
              <a:t>Discuss </a:t>
            </a:r>
            <a:r>
              <a:rPr lang="en-US" sz="2000" i="1" dirty="0" smtClean="0"/>
              <a:t>some </a:t>
            </a:r>
            <a:r>
              <a:rPr lang="en-US" sz="2000" dirty="0" smtClean="0"/>
              <a:t>similarities and differences between relational and </a:t>
            </a:r>
            <a:r>
              <a:rPr lang="en-US" sz="2000" dirty="0" err="1" smtClean="0"/>
              <a:t>NoSQL</a:t>
            </a:r>
            <a:r>
              <a:rPr lang="en-US" sz="2000" dirty="0" smtClean="0"/>
              <a:t> systems or the motivation for such systems.</a:t>
            </a:r>
          </a:p>
          <a:p>
            <a:pPr lvl="1"/>
            <a:r>
              <a:rPr lang="en-US" sz="2000" dirty="0" smtClean="0"/>
              <a:t>Something else along those lines.</a:t>
            </a:r>
          </a:p>
          <a:p>
            <a:pPr lvl="1"/>
            <a:r>
              <a:rPr lang="en-US" sz="2000" dirty="0" smtClean="0"/>
              <a:t>NO specific questions about the various clouds</a:t>
            </a:r>
          </a:p>
          <a:p>
            <a:r>
              <a:rPr lang="en-US" sz="2400" dirty="0" smtClean="0"/>
              <a:t>Data integration and data cleaning</a:t>
            </a:r>
          </a:p>
          <a:p>
            <a:pPr lvl="1"/>
            <a:r>
              <a:rPr lang="en-US" sz="2000" dirty="0" smtClean="0"/>
              <a:t>You can similarly expect a qualitative question on these topics</a:t>
            </a:r>
            <a:endParaRPr lang="en-US" sz="2000"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Study</a:t>
            </a:r>
            <a:endParaRPr lang="en-US" dirty="0"/>
          </a:p>
        </p:txBody>
      </p:sp>
      <p:sp>
        <p:nvSpPr>
          <p:cNvPr id="3" name="Content Placeholder 2"/>
          <p:cNvSpPr>
            <a:spLocks noGrp="1"/>
          </p:cNvSpPr>
          <p:nvPr>
            <p:ph idx="1"/>
          </p:nvPr>
        </p:nvSpPr>
        <p:spPr/>
        <p:txBody>
          <a:bodyPr/>
          <a:lstStyle/>
          <a:p>
            <a:r>
              <a:rPr lang="en-US" sz="2400" dirty="0" smtClean="0"/>
              <a:t>Go over the lecture notes</a:t>
            </a:r>
          </a:p>
          <a:p>
            <a:r>
              <a:rPr lang="en-US" sz="2400" dirty="0" smtClean="0"/>
              <a:t>Read the book</a:t>
            </a:r>
          </a:p>
          <a:p>
            <a:r>
              <a:rPr lang="en-US" sz="2400" dirty="0" smtClean="0"/>
              <a:t>Go over the </a:t>
            </a:r>
            <a:r>
              <a:rPr lang="en-US" sz="2400" dirty="0" err="1" smtClean="0"/>
              <a:t>homeworks</a:t>
            </a:r>
            <a:endParaRPr lang="en-US" sz="2400" dirty="0" smtClean="0"/>
          </a:p>
          <a:p>
            <a:r>
              <a:rPr lang="en-US" sz="2400" dirty="0" smtClean="0"/>
              <a:t>Practice</a:t>
            </a:r>
          </a:p>
          <a:p>
            <a:pPr lvl="1"/>
            <a:r>
              <a:rPr lang="en-US" sz="2000" dirty="0" smtClean="0"/>
              <a:t>Practice </a:t>
            </a:r>
            <a:r>
              <a:rPr lang="en-US" sz="2000" dirty="0" err="1" smtClean="0"/>
              <a:t>webquiz</a:t>
            </a:r>
            <a:r>
              <a:rPr lang="en-US" sz="2000" dirty="0" smtClean="0"/>
              <a:t> will be posted Wednesday night</a:t>
            </a:r>
          </a:p>
          <a:p>
            <a:pPr lvl="1"/>
            <a:r>
              <a:rPr lang="en-US" sz="2000" dirty="0" smtClean="0"/>
              <a:t>Look at the final from 344 Spring 2011</a:t>
            </a:r>
          </a:p>
          <a:p>
            <a:pPr lvl="1"/>
            <a:r>
              <a:rPr lang="en-US" sz="2000" dirty="0" smtClean="0"/>
              <a:t>Look at both midterms and finals from 444 past years: be careful because several questions do not apply to us!</a:t>
            </a:r>
          </a:p>
          <a:p>
            <a:r>
              <a:rPr lang="en-US" sz="2400" dirty="0" smtClean="0"/>
              <a:t>Ask Kristi and me questions</a:t>
            </a:r>
          </a:p>
          <a:p>
            <a:r>
              <a:rPr lang="en-US" sz="2400" dirty="0" smtClean="0"/>
              <a:t>The goal of the final is to help you learn!</a:t>
            </a:r>
            <a:endParaRPr lang="en-US" sz="2400"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4</a:t>
            </a:fld>
            <a:endParaRPr lang="en-US"/>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Data Integration</a:t>
            </a:r>
            <a:endParaRPr lang="en-US" dirty="0"/>
          </a:p>
        </p:txBody>
      </p:sp>
      <p:sp>
        <p:nvSpPr>
          <p:cNvPr id="3" name="Content Placeholder 2"/>
          <p:cNvSpPr>
            <a:spLocks noGrp="1"/>
          </p:cNvSpPr>
          <p:nvPr>
            <p:ph idx="1"/>
          </p:nvPr>
        </p:nvSpPr>
        <p:spPr>
          <a:xfrm>
            <a:off x="685800" y="1981200"/>
            <a:ext cx="8229600" cy="4114800"/>
          </a:xfrm>
        </p:spPr>
        <p:txBody>
          <a:bodyPr/>
          <a:lstStyle/>
          <a:p>
            <a:r>
              <a:rPr lang="en-US" dirty="0" smtClean="0"/>
              <a:t>Goal:</a:t>
            </a:r>
          </a:p>
          <a:p>
            <a:pPr lvl="1"/>
            <a:r>
              <a:rPr lang="en-US" dirty="0" smtClean="0"/>
              <a:t>Data is available in multiple distinct databases</a:t>
            </a:r>
          </a:p>
          <a:p>
            <a:pPr lvl="1"/>
            <a:r>
              <a:rPr lang="en-US" dirty="0" smtClean="0"/>
              <a:t>Want to ask queries across all these databases</a:t>
            </a:r>
          </a:p>
          <a:p>
            <a:r>
              <a:rPr lang="en-US" dirty="0" smtClean="0"/>
              <a:t>When is data integration needed?</a:t>
            </a:r>
          </a:p>
          <a:p>
            <a:pPr lvl="1"/>
            <a:r>
              <a:rPr lang="en-US" dirty="0" smtClean="0"/>
              <a:t>Two companies merge</a:t>
            </a:r>
          </a:p>
          <a:p>
            <a:pPr lvl="1"/>
            <a:r>
              <a:rPr lang="en-US" dirty="0" smtClean="0"/>
              <a:t>Want to get legacy databases to talk to each other</a:t>
            </a:r>
          </a:p>
          <a:p>
            <a:pPr lvl="1"/>
            <a:r>
              <a:rPr lang="en-US" dirty="0" smtClean="0"/>
              <a:t>Want to analyze data produced by different sources</a:t>
            </a:r>
          </a:p>
          <a:p>
            <a:pPr lvl="1"/>
            <a:r>
              <a:rPr lang="en-US" dirty="0" smtClean="0"/>
              <a:t>Want to combine data from different websites</a:t>
            </a:r>
            <a:endParaRPr lang="en-US"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5</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Integration Challenges (1/2)</a:t>
            </a:r>
            <a:endParaRPr lang="en-US" dirty="0"/>
          </a:p>
        </p:txBody>
      </p:sp>
      <p:sp>
        <p:nvSpPr>
          <p:cNvPr id="3" name="Content Placeholder 2"/>
          <p:cNvSpPr>
            <a:spLocks noGrp="1"/>
          </p:cNvSpPr>
          <p:nvPr>
            <p:ph idx="1"/>
          </p:nvPr>
        </p:nvSpPr>
        <p:spPr>
          <a:xfrm>
            <a:off x="685800" y="1981200"/>
            <a:ext cx="8229600" cy="4114800"/>
          </a:xfrm>
        </p:spPr>
        <p:txBody>
          <a:bodyPr/>
          <a:lstStyle/>
          <a:p>
            <a:r>
              <a:rPr lang="en-US" sz="2400" dirty="0" smtClean="0"/>
              <a:t>Each database could be in a </a:t>
            </a:r>
            <a:r>
              <a:rPr lang="en-US" sz="2400" dirty="0" smtClean="0">
                <a:solidFill>
                  <a:srgbClr val="FF0000"/>
                </a:solidFill>
              </a:rPr>
              <a:t>different type of DBMS </a:t>
            </a:r>
            <a:r>
              <a:rPr lang="en-US" sz="2400" dirty="0" smtClean="0"/>
              <a:t>(different data model, query language, etc.)</a:t>
            </a:r>
          </a:p>
          <a:p>
            <a:pPr lvl="1"/>
            <a:r>
              <a:rPr lang="en-US" sz="2000" dirty="0" smtClean="0"/>
              <a:t>Relational, semi-structured, </a:t>
            </a:r>
            <a:r>
              <a:rPr lang="en-US" sz="2000" dirty="0" err="1" smtClean="0"/>
              <a:t>noSQL</a:t>
            </a:r>
            <a:endParaRPr lang="en-US" sz="2000" dirty="0" smtClean="0"/>
          </a:p>
          <a:p>
            <a:r>
              <a:rPr lang="en-US" sz="2400" dirty="0" smtClean="0">
                <a:solidFill>
                  <a:srgbClr val="FF0000"/>
                </a:solidFill>
              </a:rPr>
              <a:t>Schema</a:t>
            </a:r>
            <a:r>
              <a:rPr lang="en-US" sz="2400" dirty="0" smtClean="0"/>
              <a:t> heterogeneity</a:t>
            </a:r>
          </a:p>
          <a:p>
            <a:pPr lvl="1"/>
            <a:r>
              <a:rPr lang="en-US" sz="2000" dirty="0" smtClean="0"/>
              <a:t>S1: </a:t>
            </a:r>
            <a:r>
              <a:rPr lang="en-US" sz="2000" dirty="0" err="1" smtClean="0"/>
              <a:t>Employee(ID</a:t>
            </a:r>
            <a:r>
              <a:rPr lang="en-US" sz="2000" dirty="0" smtClean="0"/>
              <a:t>, name, address, position, salary)</a:t>
            </a:r>
          </a:p>
          <a:p>
            <a:pPr lvl="1"/>
            <a:r>
              <a:rPr lang="en-US" sz="2000" dirty="0" smtClean="0"/>
              <a:t>S2: </a:t>
            </a:r>
            <a:r>
              <a:rPr lang="en-US" sz="2000" dirty="0" err="1" smtClean="0"/>
              <a:t>Worker(EID</a:t>
            </a:r>
            <a:r>
              <a:rPr lang="en-US" sz="2000" dirty="0" smtClean="0"/>
              <a:t>, name, address)  </a:t>
            </a:r>
            <a:r>
              <a:rPr lang="en-US" sz="2000" dirty="0" err="1" smtClean="0"/>
              <a:t>Position(PID,salary,from,until</a:t>
            </a:r>
            <a:r>
              <a:rPr lang="en-US" sz="2000" dirty="0" smtClean="0"/>
              <a:t>)</a:t>
            </a:r>
          </a:p>
          <a:p>
            <a:r>
              <a:rPr lang="en-US" sz="2400" dirty="0" smtClean="0">
                <a:solidFill>
                  <a:srgbClr val="FF0000"/>
                </a:solidFill>
              </a:rPr>
              <a:t>Data type </a:t>
            </a:r>
            <a:r>
              <a:rPr lang="en-US" sz="2400" dirty="0" smtClean="0"/>
              <a:t>heterogeneity</a:t>
            </a:r>
          </a:p>
          <a:p>
            <a:pPr lvl="1"/>
            <a:r>
              <a:rPr lang="en-US" sz="2000" dirty="0" smtClean="0"/>
              <a:t>Employee ID could be a string or an integer</a:t>
            </a:r>
          </a:p>
          <a:p>
            <a:r>
              <a:rPr lang="en-US" sz="2400" dirty="0" smtClean="0">
                <a:solidFill>
                  <a:srgbClr val="FF0000"/>
                </a:solidFill>
              </a:rPr>
              <a:t>Value </a:t>
            </a:r>
            <a:r>
              <a:rPr lang="en-US" sz="2400" dirty="0" smtClean="0"/>
              <a:t>heterogeneity</a:t>
            </a:r>
          </a:p>
          <a:p>
            <a:pPr lvl="1"/>
            <a:r>
              <a:rPr lang="en-US" sz="2000" dirty="0" smtClean="0"/>
              <a:t>The “cashier” position could be called “cashier” or “associate”</a:t>
            </a:r>
            <a:endParaRPr lang="en-US" sz="2000"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6</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Integration Challenges (2/2)</a:t>
            </a:r>
            <a:endParaRPr lang="en-US" dirty="0"/>
          </a:p>
        </p:txBody>
      </p:sp>
      <p:sp>
        <p:nvSpPr>
          <p:cNvPr id="3" name="Content Placeholder 2"/>
          <p:cNvSpPr>
            <a:spLocks noGrp="1"/>
          </p:cNvSpPr>
          <p:nvPr>
            <p:ph idx="1"/>
          </p:nvPr>
        </p:nvSpPr>
        <p:spPr>
          <a:xfrm>
            <a:off x="685800" y="1981200"/>
            <a:ext cx="8077200" cy="4114800"/>
          </a:xfrm>
        </p:spPr>
        <p:txBody>
          <a:bodyPr/>
          <a:lstStyle/>
          <a:p>
            <a:r>
              <a:rPr lang="en-US" dirty="0" smtClean="0">
                <a:solidFill>
                  <a:srgbClr val="FF0000"/>
                </a:solidFill>
              </a:rPr>
              <a:t>Semantic </a:t>
            </a:r>
            <a:r>
              <a:rPr lang="en-US" dirty="0" smtClean="0"/>
              <a:t>heterogeneity</a:t>
            </a:r>
          </a:p>
          <a:p>
            <a:pPr lvl="1"/>
            <a:r>
              <a:rPr lang="en-US" dirty="0" smtClean="0"/>
              <a:t>Most difficult to manage</a:t>
            </a:r>
          </a:p>
          <a:p>
            <a:pPr lvl="1"/>
            <a:r>
              <a:rPr lang="en-US" dirty="0" smtClean="0"/>
              <a:t>E.g., salary is hourly salary before tax</a:t>
            </a:r>
          </a:p>
          <a:p>
            <a:pPr lvl="1"/>
            <a:r>
              <a:rPr lang="en-US" dirty="0" smtClean="0"/>
              <a:t>Or salary is net, weekly salary with lunch allowance</a:t>
            </a:r>
          </a:p>
          <a:p>
            <a:pPr lvl="1"/>
            <a:endParaRPr lang="en-US" dirty="0" smtClean="0"/>
          </a:p>
          <a:p>
            <a:r>
              <a:rPr lang="en-US" dirty="0" smtClean="0">
                <a:solidFill>
                  <a:srgbClr val="FF0000"/>
                </a:solidFill>
              </a:rPr>
              <a:t>Data integration is a very, very, very difficult </a:t>
            </a:r>
            <a:r>
              <a:rPr lang="en-US" dirty="0" err="1" smtClean="0">
                <a:solidFill>
                  <a:srgbClr val="FF0000"/>
                </a:solidFill>
              </a:rPr>
              <a:t>pb</a:t>
            </a:r>
            <a:r>
              <a:rPr lang="en-US" dirty="0" smtClean="0">
                <a:solidFill>
                  <a:srgbClr val="FF0000"/>
                </a:solidFill>
              </a:rPr>
              <a:t>!</a:t>
            </a:r>
            <a:endParaRPr lang="en-US" dirty="0">
              <a:solidFill>
                <a:srgbClr val="FF0000"/>
              </a:solidFill>
            </a:endParaRPr>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7</a:t>
            </a:fld>
            <a:endParaRPr lang="en-US"/>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Integration Approaches</a:t>
            </a:r>
            <a:endParaRPr lang="en-US" dirty="0"/>
          </a:p>
        </p:txBody>
      </p:sp>
      <p:sp>
        <p:nvSpPr>
          <p:cNvPr id="3" name="Content Placeholder 2"/>
          <p:cNvSpPr>
            <a:spLocks noGrp="1"/>
          </p:cNvSpPr>
          <p:nvPr>
            <p:ph idx="1"/>
          </p:nvPr>
        </p:nvSpPr>
        <p:spPr>
          <a:xfrm>
            <a:off x="685800" y="1981200"/>
            <a:ext cx="8001000" cy="4114800"/>
          </a:xfrm>
        </p:spPr>
        <p:txBody>
          <a:bodyPr/>
          <a:lstStyle/>
          <a:p>
            <a:r>
              <a:rPr lang="en-US" sz="2400" dirty="0" smtClean="0">
                <a:solidFill>
                  <a:srgbClr val="0000FF"/>
                </a:solidFill>
              </a:rPr>
              <a:t>Federated </a:t>
            </a:r>
            <a:r>
              <a:rPr lang="en-US" sz="2400" dirty="0" smtClean="0"/>
              <a:t>databases</a:t>
            </a:r>
          </a:p>
          <a:p>
            <a:pPr lvl="1"/>
            <a:r>
              <a:rPr lang="en-US" sz="2000" dirty="0" smtClean="0"/>
              <a:t>Each source remains independently administered</a:t>
            </a:r>
          </a:p>
          <a:p>
            <a:pPr lvl="1"/>
            <a:r>
              <a:rPr lang="en-US" sz="2000" dirty="0" smtClean="0"/>
              <a:t>One source can call on others to supply info</a:t>
            </a:r>
          </a:p>
          <a:p>
            <a:r>
              <a:rPr lang="en-US" sz="2400" dirty="0" smtClean="0"/>
              <a:t>Centralized </a:t>
            </a:r>
            <a:r>
              <a:rPr lang="en-US" sz="2400" dirty="0" smtClean="0">
                <a:solidFill>
                  <a:srgbClr val="0000FF"/>
                </a:solidFill>
              </a:rPr>
              <a:t>warehouse </a:t>
            </a:r>
          </a:p>
          <a:p>
            <a:pPr lvl="1"/>
            <a:r>
              <a:rPr lang="en-US" sz="2000" dirty="0" smtClean="0"/>
              <a:t>Data from source is </a:t>
            </a:r>
            <a:r>
              <a:rPr lang="en-US" sz="2000" b="1" dirty="0" smtClean="0"/>
              <a:t>extracted-transformed-loaded </a:t>
            </a:r>
            <a:r>
              <a:rPr lang="en-US" sz="2000" dirty="0" smtClean="0"/>
              <a:t>into a single, centralized database</a:t>
            </a:r>
          </a:p>
          <a:p>
            <a:pPr lvl="1"/>
            <a:r>
              <a:rPr lang="en-US" sz="2000" dirty="0" smtClean="0"/>
              <a:t>Data is refreshed periodically (so data is not 100% up-to-date)</a:t>
            </a:r>
          </a:p>
          <a:p>
            <a:r>
              <a:rPr lang="en-US" sz="2400" dirty="0" smtClean="0">
                <a:solidFill>
                  <a:srgbClr val="0000FF"/>
                </a:solidFill>
              </a:rPr>
              <a:t>Mediator</a:t>
            </a:r>
          </a:p>
          <a:p>
            <a:pPr lvl="1"/>
            <a:r>
              <a:rPr lang="en-US" sz="2000" dirty="0" smtClean="0"/>
              <a:t>Virtual database on top of others</a:t>
            </a:r>
          </a:p>
          <a:p>
            <a:pPr lvl="1"/>
            <a:r>
              <a:rPr lang="en-US" sz="2000" dirty="0" smtClean="0"/>
              <a:t>Takes query as input and rewrites it in terms of queries over the other databases, then synthesizes the answer</a:t>
            </a:r>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8</a:t>
            </a:fld>
            <a:endParaRPr lang="en-US"/>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Data Warehouse</a:t>
            </a:r>
            <a:endParaRPr lang="en-US" dirty="0"/>
          </a:p>
        </p:txBody>
      </p:sp>
      <p:sp>
        <p:nvSpPr>
          <p:cNvPr id="3" name="Content Placeholder 2"/>
          <p:cNvSpPr>
            <a:spLocks noGrp="1"/>
          </p:cNvSpPr>
          <p:nvPr>
            <p:ph idx="1"/>
          </p:nvPr>
        </p:nvSpPr>
        <p:spPr>
          <a:xfrm>
            <a:off x="685800" y="1981200"/>
            <a:ext cx="8153400" cy="4114800"/>
          </a:xfrm>
        </p:spPr>
        <p:txBody>
          <a:bodyPr/>
          <a:lstStyle/>
          <a:p>
            <a:r>
              <a:rPr lang="en-US" sz="2400" dirty="0" smtClean="0">
                <a:solidFill>
                  <a:srgbClr val="FF0000"/>
                </a:solidFill>
              </a:rPr>
              <a:t>Extract </a:t>
            </a:r>
            <a:r>
              <a:rPr lang="en-US" sz="2400" dirty="0" smtClean="0"/>
              <a:t>data from distributed operational databases</a:t>
            </a:r>
          </a:p>
          <a:p>
            <a:pPr lvl="1"/>
            <a:r>
              <a:rPr lang="en-US" sz="2000" dirty="0" smtClean="0"/>
              <a:t>Can do this by running a query over the data source</a:t>
            </a:r>
          </a:p>
          <a:p>
            <a:r>
              <a:rPr lang="en-US" sz="2400" dirty="0" smtClean="0">
                <a:solidFill>
                  <a:srgbClr val="FF0000"/>
                </a:solidFill>
              </a:rPr>
              <a:t>Clean </a:t>
            </a:r>
            <a:r>
              <a:rPr lang="en-US" sz="2400" dirty="0" smtClean="0"/>
              <a:t>to minimize errors and fill in missing information</a:t>
            </a:r>
          </a:p>
          <a:p>
            <a:pPr lvl="1"/>
            <a:r>
              <a:rPr lang="en-US" sz="2000" dirty="0" smtClean="0"/>
              <a:t>We will discuss cleaning next lecture</a:t>
            </a:r>
          </a:p>
          <a:p>
            <a:r>
              <a:rPr lang="en-US" sz="2400" dirty="0" smtClean="0">
                <a:solidFill>
                  <a:srgbClr val="FF0000"/>
                </a:solidFill>
              </a:rPr>
              <a:t>Transform </a:t>
            </a:r>
            <a:r>
              <a:rPr lang="en-US" sz="2400" dirty="0" smtClean="0"/>
              <a:t>to reconcile semantic (and other) mismatches</a:t>
            </a:r>
          </a:p>
          <a:p>
            <a:pPr lvl="1"/>
            <a:r>
              <a:rPr lang="en-US" sz="2000" dirty="0" smtClean="0"/>
              <a:t>Performed by defining views over the data sources</a:t>
            </a:r>
          </a:p>
          <a:p>
            <a:r>
              <a:rPr lang="en-US" sz="2400" dirty="0" smtClean="0">
                <a:solidFill>
                  <a:srgbClr val="FF0000"/>
                </a:solidFill>
              </a:rPr>
              <a:t>Load</a:t>
            </a:r>
            <a:r>
              <a:rPr lang="en-US" sz="2400" dirty="0" smtClean="0"/>
              <a:t> to materialize the above defined views</a:t>
            </a:r>
          </a:p>
          <a:p>
            <a:pPr lvl="1"/>
            <a:r>
              <a:rPr lang="en-US" sz="2000" dirty="0" smtClean="0"/>
              <a:t>Build indexes and additional materialized views</a:t>
            </a:r>
          </a:p>
          <a:p>
            <a:r>
              <a:rPr lang="en-US" sz="2400" dirty="0" smtClean="0">
                <a:solidFill>
                  <a:srgbClr val="FF0000"/>
                </a:solidFill>
              </a:rPr>
              <a:t>Refresh </a:t>
            </a:r>
            <a:r>
              <a:rPr lang="en-US" sz="2400" dirty="0" smtClean="0"/>
              <a:t>to propagate updates to warehouse periodically</a:t>
            </a:r>
          </a:p>
          <a:p>
            <a:pPr lvl="1"/>
            <a:r>
              <a:rPr lang="en-US" sz="2000" dirty="0" smtClean="0"/>
              <a:t>Update the warehouse </a:t>
            </a:r>
            <a:r>
              <a:rPr lang="en-US" sz="2000" i="1" dirty="0" smtClean="0"/>
              <a:t>incrementally</a:t>
            </a:r>
            <a:endParaRPr lang="en-US" sz="2000" i="1"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9</a:t>
            </a:fld>
            <a:endParaRPr lang="en-US"/>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Executing Queries over Mediator</a:t>
            </a:r>
            <a:endParaRPr lang="en-US" dirty="0"/>
          </a:p>
        </p:txBody>
      </p:sp>
      <p:sp>
        <p:nvSpPr>
          <p:cNvPr id="3" name="Content Placeholder 2"/>
          <p:cNvSpPr>
            <a:spLocks noGrp="1"/>
          </p:cNvSpPr>
          <p:nvPr>
            <p:ph idx="1"/>
          </p:nvPr>
        </p:nvSpPr>
        <p:spPr>
          <a:xfrm>
            <a:off x="685800" y="1981200"/>
            <a:ext cx="8153400" cy="4114800"/>
          </a:xfrm>
        </p:spPr>
        <p:txBody>
          <a:bodyPr/>
          <a:lstStyle/>
          <a:p>
            <a:r>
              <a:rPr lang="en-US" sz="2400" dirty="0" smtClean="0">
                <a:solidFill>
                  <a:srgbClr val="0000FF"/>
                </a:solidFill>
              </a:rPr>
              <a:t>Wrappers more complex than with warehouses</a:t>
            </a:r>
          </a:p>
          <a:p>
            <a:pPr lvl="1"/>
            <a:r>
              <a:rPr lang="en-US" sz="2000" dirty="0" smtClean="0"/>
              <a:t>Need to execute all sorts of queries, not just extract</a:t>
            </a:r>
          </a:p>
          <a:p>
            <a:pPr lvl="1"/>
            <a:r>
              <a:rPr lang="en-US" sz="2000" dirty="0" smtClean="0"/>
              <a:t>One approach is to define </a:t>
            </a:r>
            <a:r>
              <a:rPr lang="en-US" sz="2000" i="1" dirty="0" smtClean="0"/>
              <a:t>templates</a:t>
            </a:r>
          </a:p>
          <a:p>
            <a:pPr lvl="1"/>
            <a:r>
              <a:rPr lang="en-US" sz="2000" dirty="0" smtClean="0"/>
              <a:t>A template is a parameterized query</a:t>
            </a:r>
          </a:p>
          <a:p>
            <a:pPr lvl="2"/>
            <a:r>
              <a:rPr lang="en-US" sz="1800" dirty="0" smtClean="0"/>
              <a:t>select * from </a:t>
            </a:r>
            <a:r>
              <a:rPr lang="en-US" sz="1800" dirty="0" err="1" smtClean="0"/>
              <a:t>EmployeeMed</a:t>
            </a:r>
            <a:r>
              <a:rPr lang="en-US" sz="1800" dirty="0" smtClean="0"/>
              <a:t> where position=‘$</a:t>
            </a:r>
            <a:r>
              <a:rPr lang="en-US" sz="1800" dirty="0" err="1" smtClean="0"/>
              <a:t>p</a:t>
            </a:r>
            <a:r>
              <a:rPr lang="en-US" sz="1800" dirty="0" smtClean="0"/>
              <a:t>’</a:t>
            </a:r>
          </a:p>
          <a:p>
            <a:r>
              <a:rPr lang="en-US" sz="2400" dirty="0" smtClean="0">
                <a:solidFill>
                  <a:srgbClr val="0000FF"/>
                </a:solidFill>
              </a:rPr>
              <a:t>Query optimization at the mediator is a challenge</a:t>
            </a:r>
          </a:p>
          <a:p>
            <a:pPr lvl="1"/>
            <a:r>
              <a:rPr lang="en-US" sz="2000" dirty="0" smtClean="0"/>
              <a:t>Wrapped data sources can be seen as views</a:t>
            </a:r>
          </a:p>
          <a:p>
            <a:pPr lvl="1"/>
            <a:r>
              <a:rPr lang="en-US" sz="2000" dirty="0" smtClean="0"/>
              <a:t>How can I answer the given query using these views?</a:t>
            </a:r>
            <a:endParaRPr lang="en-US" dirty="0" smtClean="0"/>
          </a:p>
          <a:p>
            <a:r>
              <a:rPr lang="en-US" sz="2400" dirty="0" smtClean="0">
                <a:solidFill>
                  <a:srgbClr val="0000FF"/>
                </a:solidFill>
              </a:rPr>
              <a:t>Data sources can exhibit bad and variable performance</a:t>
            </a:r>
          </a:p>
          <a:p>
            <a:pPr marL="742950" lvl="2" indent="-342900"/>
            <a:r>
              <a:rPr lang="en-US" dirty="0" smtClean="0"/>
              <a:t>May want a more dynamic query plan: process data as it arrives</a:t>
            </a:r>
            <a:endParaRPr lang="en-US" sz="2800" dirty="0" smtClean="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10</a:t>
            </a:fld>
            <a:endParaRPr lang="en-US"/>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Dirty Data</a:t>
            </a:r>
            <a:endParaRPr lang="en-US" dirty="0"/>
          </a:p>
        </p:txBody>
      </p:sp>
      <p:sp>
        <p:nvSpPr>
          <p:cNvPr id="3" name="Content Placeholder 2"/>
          <p:cNvSpPr>
            <a:spLocks noGrp="1"/>
          </p:cNvSpPr>
          <p:nvPr>
            <p:ph idx="1"/>
          </p:nvPr>
        </p:nvSpPr>
        <p:spPr/>
        <p:txBody>
          <a:bodyPr/>
          <a:lstStyle/>
          <a:p>
            <a:r>
              <a:rPr lang="en-US" dirty="0" smtClean="0"/>
              <a:t>Another challenge with data integration</a:t>
            </a:r>
          </a:p>
          <a:p>
            <a:pPr lvl="1"/>
            <a:r>
              <a:rPr lang="en-US" dirty="0" smtClean="0"/>
              <a:t>Often hard to decide if two records represent the same entity or not</a:t>
            </a:r>
          </a:p>
          <a:p>
            <a:pPr lvl="1"/>
            <a:r>
              <a:rPr lang="en-US" dirty="0" smtClean="0"/>
              <a:t>E.g., John Doe from 1234 56</a:t>
            </a:r>
            <a:r>
              <a:rPr lang="en-US" baseline="30000" dirty="0" smtClean="0"/>
              <a:t>th</a:t>
            </a:r>
            <a:r>
              <a:rPr lang="en-US" dirty="0" smtClean="0"/>
              <a:t> </a:t>
            </a:r>
            <a:r>
              <a:rPr lang="en-US" dirty="0" err="1" smtClean="0"/>
              <a:t>ave</a:t>
            </a:r>
            <a:r>
              <a:rPr lang="en-US" dirty="0" smtClean="0"/>
              <a:t> NE, Seattle</a:t>
            </a:r>
          </a:p>
          <a:p>
            <a:pPr lvl="1"/>
            <a:r>
              <a:rPr lang="en-US" dirty="0" smtClean="0"/>
              <a:t>Vs. J. R. Doe from 1234 56</a:t>
            </a:r>
            <a:r>
              <a:rPr lang="en-US" baseline="30000" dirty="0" smtClean="0"/>
              <a:t>th</a:t>
            </a:r>
            <a:r>
              <a:rPr lang="en-US" dirty="0" smtClean="0"/>
              <a:t> </a:t>
            </a:r>
            <a:r>
              <a:rPr lang="en-US" dirty="0" err="1" smtClean="0"/>
              <a:t>ave</a:t>
            </a:r>
            <a:r>
              <a:rPr lang="en-US" dirty="0" smtClean="0"/>
              <a:t> NE, Seattle</a:t>
            </a:r>
          </a:p>
          <a:p>
            <a:pPr lvl="1"/>
            <a:r>
              <a:rPr lang="en-US" dirty="0" smtClean="0"/>
              <a:t>Vs John Doe from 789 108th St., Bellevue</a:t>
            </a:r>
          </a:p>
          <a:p>
            <a:pPr lvl="1"/>
            <a:endParaRPr lang="en-US" dirty="0" smtClean="0"/>
          </a:p>
          <a:p>
            <a:r>
              <a:rPr lang="en-US" dirty="0" smtClean="0"/>
              <a:t>Even without data integration, data often dirty</a:t>
            </a:r>
          </a:p>
          <a:p>
            <a:pPr lvl="1"/>
            <a:r>
              <a:rPr lang="en-US" dirty="0" smtClean="0"/>
              <a:t>Missing values, duplicates, odd characters, etc.</a:t>
            </a:r>
            <a:endParaRPr lang="en-US" dirty="0"/>
          </a:p>
        </p:txBody>
      </p:sp>
      <p:sp>
        <p:nvSpPr>
          <p:cNvPr id="4" name="Footer Placeholder 3"/>
          <p:cNvSpPr>
            <a:spLocks noGrp="1"/>
          </p:cNvSpPr>
          <p:nvPr>
            <p:ph type="ftr" sz="quarter" idx="11"/>
          </p:nvPr>
        </p:nvSpPr>
        <p:spPr/>
        <p:txBody>
          <a:bodyPr/>
          <a:lstStyle/>
          <a:p>
            <a:pPr>
              <a:defRPr/>
            </a:pPr>
            <a:r>
              <a:rPr lang="en-US" smtClean="0"/>
              <a:t>CSE 344 – Winter 2012</a:t>
            </a:r>
            <a:endParaRPr lang="en-US"/>
          </a:p>
        </p:txBody>
      </p:sp>
      <p:sp>
        <p:nvSpPr>
          <p:cNvPr id="5" name="Slide Number Placeholder 4"/>
          <p:cNvSpPr>
            <a:spLocks noGrp="1"/>
          </p:cNvSpPr>
          <p:nvPr>
            <p:ph type="sldNum" sz="quarter" idx="12"/>
          </p:nvPr>
        </p:nvSpPr>
        <p:spPr/>
        <p:txBody>
          <a:bodyPr/>
          <a:lstStyle/>
          <a:p>
            <a:pPr>
              <a:defRPr/>
            </a:pPr>
            <a:fld id="{C26758B8-175C-0241-A47D-6800F688EEBD}" type="slidenum">
              <a:rPr lang="en-US" smtClean="0"/>
              <a:pPr>
                <a:defRPr/>
              </a:pPr>
              <a:t>11</a:t>
            </a:fld>
            <a:endParaRPr lang="en-US"/>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alpha val="50000"/>
          </a:srgbClr>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rgbClr val="C0C0C0">
            <a:alpha val="50000"/>
          </a:srgbClr>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4556</TotalTime>
  <Words>1191</Words>
  <Application>Microsoft Macintosh PowerPoint</Application>
  <PresentationFormat>On-screen Show (4:3)</PresentationFormat>
  <Paragraphs>139</Paragraphs>
  <Slides>11</Slides>
  <Notes>4</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Default Design</vt:lpstr>
      <vt:lpstr>Introduction to Data Management CSE 344 </vt:lpstr>
      <vt:lpstr>Final Exam</vt:lpstr>
      <vt:lpstr>Possible Questions about Last Few Lectures</vt:lpstr>
      <vt:lpstr>How To Study</vt:lpstr>
      <vt:lpstr>Today: Data Integration</vt:lpstr>
      <vt:lpstr>Data Integration Challenges (1/2)</vt:lpstr>
      <vt:lpstr>Data Integration Challenges (2/2)</vt:lpstr>
      <vt:lpstr>Data Integration Approaches</vt:lpstr>
      <vt:lpstr>Creating a Data Warehouse</vt:lpstr>
      <vt:lpstr>Executing Queries over Mediator</vt:lpstr>
      <vt:lpstr>Dirty Data</vt:lpstr>
    </vt:vector>
  </TitlesOfParts>
  <Company>UW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 Suciu</dc:creator>
  <cp:lastModifiedBy>Dan Suciu</cp:lastModifiedBy>
  <cp:revision>557</cp:revision>
  <cp:lastPrinted>2011-12-05T07:30:27Z</cp:lastPrinted>
  <dcterms:created xsi:type="dcterms:W3CDTF">2011-12-05T05:36:44Z</dcterms:created>
  <dcterms:modified xsi:type="dcterms:W3CDTF">2012-01-05T17:16:51Z</dcterms:modified>
</cp:coreProperties>
</file>