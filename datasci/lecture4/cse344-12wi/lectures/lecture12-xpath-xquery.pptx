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81" r:id="rId2"/>
    <p:sldId id="295" r:id="rId3"/>
    <p:sldId id="296" r:id="rId4"/>
    <p:sldId id="298" r:id="rId5"/>
    <p:sldId id="299" r:id="rId6"/>
    <p:sldId id="325" r:id="rId7"/>
    <p:sldId id="300" r:id="rId8"/>
    <p:sldId id="326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531" autoAdjust="0"/>
  </p:normalViewPr>
  <p:slideViewPr>
    <p:cSldViewPr>
      <p:cViewPr varScale="1">
        <p:scale>
          <a:sx n="119" d="100"/>
          <a:sy n="119" d="100"/>
        </p:scale>
        <p:origin x="-2152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2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02AC6-F045-1A49-B933-8245513712D8}" type="datetimeFigureOut">
              <a:rPr lang="en-US" smtClean="0"/>
              <a:pPr/>
              <a:t>2/3/12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07DD-A2F4-5547-89A6-C877F0D14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401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ABC830F-C79C-F047-B9FB-FF592F19C2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31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AF8012-5483-3C4D-9BDE-EE51DBB2AABA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B2E94C-2091-D84D-8CCD-0161161943D0}" type="slidenum">
              <a:rPr lang="en-US"/>
              <a:pPr/>
              <a:t>2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826807-5C50-7A49-B977-67C15FAB28E1}" type="slidenum">
              <a:rPr lang="en-US"/>
              <a:pPr/>
              <a:t>3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 smtClean="0"/>
              <a:t>XQuery</a:t>
            </a:r>
            <a:r>
              <a:rPr lang="en-US" dirty="0" smtClean="0"/>
              <a:t> queries take the form of expressions</a:t>
            </a:r>
          </a:p>
          <a:p>
            <a:pPr eaLnBrk="1" hangingPunct="1"/>
            <a:r>
              <a:rPr lang="en-US" dirty="0" smtClean="0"/>
              <a:t>Similar to </a:t>
            </a:r>
            <a:r>
              <a:rPr lang="en-US" dirty="0" err="1" smtClean="0"/>
              <a:t>XPath</a:t>
            </a:r>
            <a:r>
              <a:rPr lang="en-US" dirty="0" smtClean="0"/>
              <a:t>, </a:t>
            </a:r>
            <a:r>
              <a:rPr lang="en-US" dirty="0" err="1" smtClean="0"/>
              <a:t>Xquery</a:t>
            </a:r>
            <a:r>
              <a:rPr lang="en-US" dirty="0" smtClean="0"/>
              <a:t> expressions return sequences of items as results.</a:t>
            </a:r>
          </a:p>
          <a:p>
            <a:pPr eaLnBrk="1" hangingPunct="1"/>
            <a:r>
              <a:rPr lang="en-US" dirty="0" smtClean="0"/>
              <a:t>Beyond </a:t>
            </a:r>
            <a:r>
              <a:rPr lang="en-US" dirty="0" err="1" smtClean="0"/>
              <a:t>XPath</a:t>
            </a:r>
            <a:r>
              <a:rPr lang="en-US" dirty="0" smtClean="0"/>
              <a:t> expressions, most important form of </a:t>
            </a:r>
            <a:r>
              <a:rPr lang="en-US" dirty="0" err="1" smtClean="0"/>
              <a:t>XQuery</a:t>
            </a:r>
            <a:r>
              <a:rPr lang="en-US" dirty="0" smtClean="0"/>
              <a:t> expression is the FLWR expression.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699513-2503-B245-9A21-CF50BC9D2B55}" type="slidenum">
              <a:rPr lang="en-US"/>
              <a:pPr/>
              <a:t>4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For variable in expression: idea is to evaluate the expression, but result is a sequence,</a:t>
            </a:r>
            <a:r>
              <a:rPr lang="en-US" baseline="0" dirty="0" smtClean="0"/>
              <a:t> so we iterate over that sequence.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1FB59A-6050-AE48-A9EE-87712B5CCB6A}" type="slidenum">
              <a:rPr lang="en-US"/>
              <a:pPr/>
              <a:t>5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AF9720-E97F-A34E-B8B3-170CAC2355AB}" type="slidenum">
              <a:rPr lang="en-US"/>
              <a:pPr/>
              <a:t>6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1F14E2-BF08-9346-92E3-AF3141AB53E6}" type="slidenum">
              <a:rPr lang="en-US"/>
              <a:pPr/>
              <a:t>7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Need to put the curly braces</a:t>
            </a:r>
            <a:r>
              <a:rPr lang="en-US" baseline="0" dirty="0" smtClean="0"/>
              <a:t> or else </a:t>
            </a:r>
            <a:r>
              <a:rPr lang="en-US" baseline="0" dirty="0" err="1" smtClean="0"/>
              <a:t>XQuery</a:t>
            </a:r>
            <a:r>
              <a:rPr lang="en-US" baseline="0" dirty="0" smtClean="0"/>
              <a:t> will treat the </a:t>
            </a:r>
            <a:r>
              <a:rPr lang="en-US" baseline="0" dirty="0" err="1" smtClean="0"/>
              <a:t>Xpath</a:t>
            </a:r>
            <a:r>
              <a:rPr lang="en-US" baseline="0" dirty="0" smtClean="0"/>
              <a:t> expression are random text.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6EF48A-3A5D-D842-A164-3CD127E36EDE}" type="slidenum">
              <a:rPr lang="en-US"/>
              <a:pPr/>
              <a:t>8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9D285D-4623-C244-B1A4-2BE0DC33B0A4}" type="slidenum">
              <a:rPr lang="en-US"/>
              <a:pPr/>
              <a:t>9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For clause here serves the same role as a From clause in SQL that lists the relations to join. Here, the documents to join.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5AF492-F470-1F40-866B-2174DB802AC8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7663DF-CE8C-E948-AB84-553D1A2F9B72}" type="slidenum">
              <a:rPr lang="en-US"/>
              <a:pPr/>
              <a:t>11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644CC7-223F-F242-862E-816980E3E6DA}" type="slidenum">
              <a:rPr lang="en-US"/>
              <a:pPr/>
              <a:t>12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B23DE-258B-6D4A-9079-800F4C80113D}" type="slidenum">
              <a:rPr lang="en-US"/>
              <a:pPr/>
              <a:t>13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3570A4-DEA2-DD4C-B9C6-F1956319907C}" type="slidenum">
              <a:rPr lang="en-US"/>
              <a:pPr/>
              <a:t>14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Let enables us to declare variables.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9BC9E0-CA48-C848-ACF8-F5987EE26A2B}" type="slidenum">
              <a:rPr lang="en-US"/>
              <a:pPr/>
              <a:t>15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E3414C-E646-1D40-BFCD-9DAC72F0FB1B}" type="slidenum">
              <a:rPr lang="en-US"/>
              <a:pPr/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2C5ABF-2FC0-A64B-84BF-15AAB527AE55}" type="slidenum">
              <a:rPr lang="en-US"/>
              <a:pPr/>
              <a:t>17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6FFCAB-548A-1540-8FFF-BD879C09FB0F}" type="slidenum">
              <a:rPr lang="en-US"/>
              <a:pPr/>
              <a:t>18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F89A8E-8C0D-8743-B408-E256E44B6B25}" type="slidenum">
              <a:rPr lang="en-US"/>
              <a:pPr/>
              <a:t>19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89ADF-B7D7-724D-817C-76FF20435088}" type="slidenum">
              <a:rPr lang="en-US"/>
              <a:pPr/>
              <a:t>20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10ADCD-3590-3647-BF44-4BB487ACE593}" type="slidenum">
              <a:rPr lang="en-US"/>
              <a:pPr/>
              <a:t>21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00FA9D-5451-A24F-B887-0E43343CE379}" type="slidenum">
              <a:rPr lang="en-US"/>
              <a:pPr/>
              <a:t>22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C04EBF-6944-FB4D-B51C-BAA2EE9E0B65}" type="slidenum">
              <a:rPr lang="en-US"/>
              <a:pPr/>
              <a:t>23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808BF-3416-8647-894E-A0398358E4EC}" type="slidenum">
              <a:rPr lang="en-US"/>
              <a:pPr/>
              <a:t>24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7D5E79-2E20-0545-87FF-F2EBCB94D2D3}" type="slidenum">
              <a:rPr lang="en-US"/>
              <a:pPr/>
              <a:t>25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4A265B-B093-BC47-924C-F5C446E2FBA4}" type="slidenum">
              <a:rPr lang="en-US"/>
              <a:pPr/>
              <a:t>26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F88AD-BC29-DC4B-B0D5-26342B419F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7DDFD-F4E1-3747-8375-333C275E1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4CF24-3E6E-1044-B972-694A063991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03B36-F520-564B-AA88-E8C30D94B3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61E14-5444-9646-89E7-3F94868DE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CDAE77-BA4C-E64E-B922-0280D18135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75E22-F793-5B46-AE53-F7D3DAC21F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339CE-7EB7-CB4C-A3D7-2A66CC012F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B07A8-AD1F-C740-BF58-2CC615205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3780C-FCDE-B042-809A-B4C7F0385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E94F5-C6EC-BE43-9E12-4A6DF574C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CSE 344 – Winter 2012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fld id="{A95397A5-5496-F44D-9F22-1FC572EA33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Introduction to Data Management</a:t>
            </a:r>
            <a:br>
              <a:rPr lang="en-US" sz="3600" dirty="0" smtClean="0"/>
            </a:br>
            <a:r>
              <a:rPr lang="en-US" sz="3600" dirty="0" smtClean="0"/>
              <a:t>CSE 344</a:t>
            </a:r>
            <a:endParaRPr lang="en-US" sz="3600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267200"/>
            <a:ext cx="6400800" cy="1752600"/>
          </a:xfrm>
        </p:spPr>
        <p:txBody>
          <a:bodyPr/>
          <a:lstStyle/>
          <a:p>
            <a:pPr eaLnBrk="1" hangingPunct="1"/>
            <a:r>
              <a:rPr lang="en-US" smtClean="0"/>
              <a:t>Lecture 12: </a:t>
            </a:r>
            <a:r>
              <a:rPr lang="en-US" dirty="0" err="1" smtClean="0"/>
              <a:t>XQuery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F88AD-BC29-DC4B-B0D5-26342B419F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7AB4E6-D352-544A-AE7D-ED9C1774BCAE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XQuery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Standard for high-level querying of databases containing data in XML form</a:t>
            </a:r>
          </a:p>
          <a:p>
            <a:pPr eaLnBrk="1" hangingPunct="1"/>
            <a:r>
              <a:rPr lang="en-US" dirty="0" smtClean="0"/>
              <a:t>Based </a:t>
            </a:r>
            <a:r>
              <a:rPr lang="en-US" dirty="0"/>
              <a:t>on Quilt, which is based on XML-QL</a:t>
            </a:r>
          </a:p>
          <a:p>
            <a:pPr eaLnBrk="1" hangingPunct="1"/>
            <a:r>
              <a:rPr lang="en-US" dirty="0"/>
              <a:t>Uses </a:t>
            </a:r>
            <a:r>
              <a:rPr lang="en-US" dirty="0" err="1"/>
              <a:t>XPath</a:t>
            </a:r>
            <a:r>
              <a:rPr lang="en-US" dirty="0"/>
              <a:t> to express more complex </a:t>
            </a:r>
            <a:r>
              <a:rPr lang="en-US" dirty="0" smtClean="0"/>
              <a:t>queries</a:t>
            </a:r>
          </a:p>
          <a:p>
            <a:pPr eaLnBrk="1" hangingPunct="1">
              <a:buNone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CE650F-7F1D-0141-8A0E-D79C63795D9E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FLWR (“Flower”) Expressions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2819400"/>
            <a:ext cx="3429000" cy="2341563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buFontTx/>
              <a:buNone/>
              <a:defRPr/>
            </a:pPr>
            <a:r>
              <a:rPr lang="en-US" u="sng" dirty="0">
                <a:ea typeface="+mn-ea"/>
                <a:cs typeface="+mn-cs"/>
              </a:rPr>
              <a:t>FOR</a:t>
            </a:r>
            <a:r>
              <a:rPr lang="en-US" dirty="0">
                <a:ea typeface="+mn-ea"/>
                <a:cs typeface="+mn-cs"/>
              </a:rPr>
              <a:t> ... </a:t>
            </a:r>
          </a:p>
          <a:p>
            <a:pPr eaLnBrk="1" hangingPunct="1">
              <a:buFontTx/>
              <a:buNone/>
              <a:defRPr/>
            </a:pPr>
            <a:r>
              <a:rPr lang="en-US" u="sng" dirty="0">
                <a:ea typeface="+mn-ea"/>
                <a:cs typeface="+mn-cs"/>
              </a:rPr>
              <a:t>LET</a:t>
            </a:r>
            <a:r>
              <a:rPr lang="en-US" dirty="0">
                <a:ea typeface="+mn-ea"/>
                <a:cs typeface="+mn-cs"/>
              </a:rPr>
              <a:t>... </a:t>
            </a:r>
          </a:p>
          <a:p>
            <a:pPr eaLnBrk="1" hangingPunct="1">
              <a:buFontTx/>
              <a:buNone/>
              <a:defRPr/>
            </a:pPr>
            <a:r>
              <a:rPr lang="en-US" u="sng" dirty="0">
                <a:ea typeface="+mn-ea"/>
                <a:cs typeface="+mn-cs"/>
              </a:rPr>
              <a:t>WHERE</a:t>
            </a:r>
            <a:r>
              <a:rPr lang="en-US" dirty="0">
                <a:ea typeface="+mn-ea"/>
                <a:cs typeface="+mn-cs"/>
              </a:rPr>
              <a:t>...</a:t>
            </a:r>
          </a:p>
          <a:p>
            <a:pPr eaLnBrk="1" hangingPunct="1">
              <a:buFontTx/>
              <a:buNone/>
              <a:defRPr/>
            </a:pPr>
            <a:r>
              <a:rPr lang="en-US" u="sng" dirty="0">
                <a:ea typeface="+mn-ea"/>
                <a:cs typeface="+mn-cs"/>
              </a:rPr>
              <a:t>RETURN</a:t>
            </a:r>
            <a:r>
              <a:rPr lang="en-US" dirty="0">
                <a:ea typeface="+mn-ea"/>
                <a:cs typeface="+mn-cs"/>
              </a:rPr>
              <a:t>...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  <p:sp>
        <p:nvSpPr>
          <p:cNvPr id="6" name="AutoShape 10"/>
          <p:cNvSpPr>
            <a:spLocks noChangeArrowheads="1"/>
          </p:cNvSpPr>
          <p:nvPr/>
        </p:nvSpPr>
        <p:spPr bwMode="auto">
          <a:xfrm>
            <a:off x="5867400" y="2590800"/>
            <a:ext cx="2760910" cy="649188"/>
          </a:xfrm>
          <a:prstGeom prst="wedgeEllipseCallout">
            <a:avLst>
              <a:gd name="adj1" fmla="val -138808"/>
              <a:gd name="adj2" fmla="val 28749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Zero or more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6075574" y="3429000"/>
            <a:ext cx="2496966" cy="649188"/>
          </a:xfrm>
          <a:prstGeom prst="wedgeEllipseCallout">
            <a:avLst>
              <a:gd name="adj1" fmla="val -162623"/>
              <a:gd name="adj2" fmla="val -2154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Exactly one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6096000" y="4343400"/>
            <a:ext cx="2496966" cy="649188"/>
          </a:xfrm>
          <a:prstGeom prst="wedgeEllipseCallout">
            <a:avLst>
              <a:gd name="adj1" fmla="val -138006"/>
              <a:gd name="adj2" fmla="val -84994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Zero or one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4800600" y="5105400"/>
            <a:ext cx="2496966" cy="649188"/>
          </a:xfrm>
          <a:prstGeom prst="wedgeEllipseCallout">
            <a:avLst>
              <a:gd name="adj1" fmla="val -81826"/>
              <a:gd name="adj2" fmla="val -128216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Exactly one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A3B2C-B95B-3D44-A260-A57607169C3E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FOR-WHERE-RETURN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Find all book titles published after 1995:</a:t>
            </a:r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685800" y="2895600"/>
            <a:ext cx="4867438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</a:p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/text() &gt; 1995</a:t>
            </a:r>
          </a:p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</a:p>
        </p:txBody>
      </p:sp>
      <p:sp>
        <p:nvSpPr>
          <p:cNvPr id="20486" name="Text Box 5"/>
          <p:cNvSpPr txBox="1">
            <a:spLocks noChangeArrowheads="1"/>
          </p:cNvSpPr>
          <p:nvPr/>
        </p:nvSpPr>
        <p:spPr bwMode="auto">
          <a:xfrm>
            <a:off x="5410200" y="4572000"/>
            <a:ext cx="287079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Result: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def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ghi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20DBCF-095D-EE4F-92D2-66AF9482EF85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FOR-WHERE-RETURN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905000"/>
            <a:ext cx="6178550" cy="579438"/>
          </a:xfrm>
        </p:spPr>
        <p:txBody>
          <a:bodyPr wrap="none">
            <a:spAutoFit/>
          </a:bodyPr>
          <a:lstStyle/>
          <a:p>
            <a:pPr eaLnBrk="1" hangingPunct="1">
              <a:buFontTx/>
              <a:buNone/>
            </a:pPr>
            <a:r>
              <a:rPr lang="en-US"/>
              <a:t>Equivalently (perhaps more geekish)</a:t>
            </a:r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152400" y="2895600"/>
            <a:ext cx="8109161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book[year</a:t>
            </a:r>
            <a:r>
              <a:rPr lang="en-US" dirty="0">
                <a:latin typeface="Arial"/>
                <a:cs typeface="Arial"/>
              </a:rPr>
              <a:t>/text() &gt; 1995] 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 </a:t>
            </a:r>
          </a:p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endParaRPr lang="en-US" dirty="0">
              <a:solidFill>
                <a:srgbClr val="006600"/>
              </a:solidFill>
              <a:latin typeface="Arial"/>
              <a:cs typeface="Arial"/>
            </a:endParaRPr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381000" y="4495800"/>
            <a:ext cx="26269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And even shorter:</a:t>
            </a:r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423070" y="5105400"/>
            <a:ext cx="6570128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book[year</a:t>
            </a:r>
            <a:r>
              <a:rPr lang="en-US" dirty="0">
                <a:latin typeface="Arial"/>
                <a:cs typeface="Arial"/>
              </a:rPr>
              <a:t>/text() &gt; 1995] 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34F910-8A68-6746-BF63-3D1CD970DACA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COERCION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905000"/>
            <a:ext cx="1955800" cy="579438"/>
          </a:xfrm>
        </p:spPr>
        <p:txBody>
          <a:bodyPr wrap="none">
            <a:spAutoFit/>
          </a:bodyPr>
          <a:lstStyle/>
          <a:p>
            <a:pPr eaLnBrk="1" hangingPunct="1">
              <a:buFontTx/>
              <a:buNone/>
            </a:pPr>
            <a:r>
              <a:rPr lang="en-US"/>
              <a:t>The query:</a:t>
            </a:r>
          </a:p>
        </p:txBody>
      </p:sp>
      <p:sp>
        <p:nvSpPr>
          <p:cNvPr id="321540" name="Rectangle 4"/>
          <p:cNvSpPr>
            <a:spLocks noChangeArrowheads="1"/>
          </p:cNvSpPr>
          <p:nvPr/>
        </p:nvSpPr>
        <p:spPr bwMode="auto">
          <a:xfrm>
            <a:off x="304800" y="2895600"/>
            <a:ext cx="7322588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book[year</a:t>
            </a:r>
            <a:r>
              <a:rPr lang="en-US" dirty="0">
                <a:latin typeface="Arial"/>
                <a:cs typeface="Arial"/>
              </a:rPr>
              <a:t> &gt; 1995] 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 </a:t>
            </a:r>
          </a:p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endParaRPr lang="en-US" dirty="0">
              <a:solidFill>
                <a:srgbClr val="006600"/>
              </a:solidFill>
              <a:latin typeface="Arial"/>
              <a:cs typeface="Arial"/>
            </a:endParaRP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381000" y="4495800"/>
            <a:ext cx="43411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Is rewritten by the system into:</a:t>
            </a:r>
          </a:p>
        </p:txBody>
      </p:sp>
      <p:sp>
        <p:nvSpPr>
          <p:cNvPr id="321543" name="Rectangle 7"/>
          <p:cNvSpPr>
            <a:spLocks noChangeArrowheads="1"/>
          </p:cNvSpPr>
          <p:nvPr/>
        </p:nvSpPr>
        <p:spPr bwMode="auto">
          <a:xfrm>
            <a:off x="76200" y="5029200"/>
            <a:ext cx="8109161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book[year</a:t>
            </a:r>
            <a:r>
              <a:rPr lang="en-US" dirty="0">
                <a:latin typeface="Arial"/>
                <a:cs typeface="Arial"/>
              </a:rPr>
              <a:t>/text() &gt; 1995] 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 </a:t>
            </a:r>
          </a:p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A0E8A9-97BA-0647-81F6-8045AF1D0743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FOR-WHERE-RETURN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Find all book titles and the year when they were published:</a:t>
            </a:r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457200" y="2971800"/>
            <a:ext cx="6325770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&gt;{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/text() }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&gt;{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/text() }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0" y="5076825"/>
            <a:ext cx="920125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Result: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&gt; 1995 &lt;/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 </a:t>
            </a:r>
            <a:r>
              <a:rPr lang="en-US" dirty="0">
                <a:latin typeface="Arial"/>
                <a:cs typeface="Arial"/>
              </a:rPr>
              <a:t>&gt;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def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 &lt;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 </a:t>
            </a:r>
            <a:r>
              <a:rPr lang="en-US" dirty="0">
                <a:latin typeface="Arial"/>
                <a:cs typeface="Arial"/>
              </a:rPr>
              <a:t>&gt; 2002 &lt;/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 </a:t>
            </a:r>
            <a:r>
              <a:rPr lang="en-US" dirty="0">
                <a:latin typeface="Arial"/>
                <a:cs typeface="Arial"/>
              </a:rPr>
              <a:t>&gt;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</a:t>
            </a:r>
          </a:p>
          <a:p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ghk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 &lt;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 </a:t>
            </a:r>
            <a:r>
              <a:rPr lang="en-US" dirty="0">
                <a:latin typeface="Arial"/>
                <a:cs typeface="Arial"/>
              </a:rPr>
              <a:t>&gt; 1980 &lt;/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 </a:t>
            </a:r>
            <a:r>
              <a:rPr lang="en-US" dirty="0">
                <a:latin typeface="Arial"/>
                <a:cs typeface="Arial"/>
              </a:rPr>
              <a:t>&gt;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3570C6-061A-424B-AC08-9A1147B90A7F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FOR-WHERE-RETURN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Notice the use of “{“ and “}”</a:t>
            </a:r>
          </a:p>
          <a:p>
            <a:pPr eaLnBrk="1" hangingPunct="1"/>
            <a:r>
              <a:rPr lang="en-US"/>
              <a:t>What is the result without them ?</a:t>
            </a:r>
          </a:p>
        </p:txBody>
      </p:sp>
      <p:sp>
        <p:nvSpPr>
          <p:cNvPr id="253956" name="Rectangle 4"/>
          <p:cNvSpPr>
            <a:spLocks noChangeArrowheads="1"/>
          </p:cNvSpPr>
          <p:nvPr/>
        </p:nvSpPr>
        <p:spPr bwMode="auto">
          <a:xfrm>
            <a:off x="1600200" y="3048000"/>
            <a:ext cx="6034675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 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/text()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/text()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253957" name="Rectangle 5"/>
          <p:cNvSpPr>
            <a:spLocks noChangeArrowheads="1"/>
          </p:cNvSpPr>
          <p:nvPr/>
        </p:nvSpPr>
        <p:spPr bwMode="auto">
          <a:xfrm>
            <a:off x="533400" y="5105400"/>
            <a:ext cx="834472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Arial"/>
                <a:cs typeface="Arial"/>
              </a:rPr>
              <a:t>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lang="en-US" sz="1800" dirty="0">
                <a:latin typeface="Arial"/>
                <a:cs typeface="Arial"/>
              </a:rPr>
              <a:t>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lang="en-US" sz="1800" dirty="0">
                <a:latin typeface="Arial"/>
                <a:cs typeface="Arial"/>
              </a:rPr>
              <a:t>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1800" dirty="0">
                <a:latin typeface="Arial"/>
                <a:cs typeface="Arial"/>
              </a:rPr>
              <a:t>&gt;  &lt;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</a:t>
            </a:r>
            <a:r>
              <a:rPr lang="en-US" sz="1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1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1800" dirty="0">
                <a:latin typeface="Arial"/>
                <a:cs typeface="Arial"/>
              </a:rPr>
              <a:t>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/text()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year</a:t>
            </a:r>
            <a:r>
              <a:rPr lang="en-US" sz="1800" dirty="0">
                <a:latin typeface="Arial"/>
                <a:cs typeface="Arial"/>
              </a:rPr>
              <a:t>&gt; &lt;/</a:t>
            </a:r>
            <a:r>
              <a:rPr lang="en-US" sz="18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1800" dirty="0">
                <a:latin typeface="Arial"/>
                <a:cs typeface="Arial"/>
              </a:rPr>
              <a:t>&gt;</a:t>
            </a:r>
            <a:endParaRPr lang="en-US"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0E89F3-FB2D-9246-9C5F-F4CFB26B32C4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Nesting</a:t>
            </a:r>
            <a:endParaRPr lang="en-US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For each author of a book by Morgan Kaufmann, list all books</a:t>
            </a:r>
            <a:r>
              <a:rPr lang="en-US" dirty="0" smtClean="0"/>
              <a:t> he/she </a:t>
            </a:r>
            <a:r>
              <a:rPr lang="en-US" dirty="0"/>
              <a:t>published:</a:t>
            </a:r>
          </a:p>
        </p:txBody>
      </p:sp>
      <p:sp>
        <p:nvSpPr>
          <p:cNvPr id="254980" name="Rectangle 4"/>
          <p:cNvSpPr>
            <a:spLocks noChangeArrowheads="1"/>
          </p:cNvSpPr>
          <p:nvPr/>
        </p:nvSpPr>
        <p:spPr bwMode="auto">
          <a:xfrm>
            <a:off x="76200" y="2819400"/>
            <a:ext cx="9037751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cs typeface="Arial"/>
              </a:rPr>
              <a:t>doc(“</a:t>
            </a:r>
            <a:r>
              <a:rPr lang="en-US" dirty="0" err="1">
                <a:latin typeface="Arial"/>
                <a:cs typeface="Arial"/>
              </a:rPr>
              <a:t>bib.xml</a:t>
            </a:r>
            <a:r>
              <a:rPr lang="en-US" dirty="0">
                <a:latin typeface="Arial"/>
                <a:cs typeface="Arial"/>
              </a:rPr>
              <a:t>”)/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bib,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dirty="0">
                <a:latin typeface="Arial"/>
                <a:cs typeface="Arial"/>
              </a:rPr>
              <a:t>[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publisher </a:t>
            </a:r>
            <a:r>
              <a:rPr lang="en-US" dirty="0">
                <a:latin typeface="Arial"/>
                <a:cs typeface="Arial"/>
              </a:rPr>
              <a:t>/text()=“Morgan Kaufmann”]/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result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             {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$a,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                       </a:t>
            </a: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b</a:t>
            </a:r>
            <a:r>
              <a:rPr lang="en-US" dirty="0" err="1">
                <a:latin typeface="Arial"/>
                <a:cs typeface="Arial"/>
              </a:rPr>
              <a:t>/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dirty="0" err="1">
                <a:latin typeface="Arial"/>
                <a:cs typeface="Arial"/>
              </a:rPr>
              <a:t>[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 err="1">
                <a:latin typeface="Arial"/>
                <a:cs typeface="Arial"/>
              </a:rPr>
              <a:t>/text</a:t>
            </a:r>
            <a:r>
              <a:rPr lang="en-US" dirty="0">
                <a:latin typeface="Arial"/>
                <a:cs typeface="Arial"/>
              </a:rPr>
              <a:t>()=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  <a:r>
              <a:rPr lang="en-US" dirty="0">
                <a:latin typeface="Arial"/>
                <a:cs typeface="Arial"/>
              </a:rPr>
              <a:t>/text()]/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                </a:t>
            </a: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t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2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                    </a:t>
            </a:r>
            <a:r>
              <a:rPr lang="en-US" dirty="0">
                <a:latin typeface="Arial"/>
                <a:cs typeface="Arial"/>
              </a:rPr>
              <a:t>}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      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result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32774" name="Text Box 5"/>
          <p:cNvSpPr txBox="1">
            <a:spLocks noChangeArrowheads="1"/>
          </p:cNvSpPr>
          <p:nvPr/>
        </p:nvSpPr>
        <p:spPr bwMode="auto">
          <a:xfrm>
            <a:off x="304800" y="6019800"/>
            <a:ext cx="8469536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In the </a:t>
            </a:r>
            <a:r>
              <a:rPr lang="en-US" u="sng" dirty="0">
                <a:solidFill>
                  <a:schemeClr val="tx1"/>
                </a:solidFill>
                <a:latin typeface="Arial"/>
                <a:cs typeface="Arial"/>
              </a:rPr>
              <a:t>RETURN</a:t>
            </a: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 clause comma concatenates XML fragments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4EFCD7-5D4C-8D43-B85B-A12DEADA073D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Result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57400"/>
            <a:ext cx="5562600" cy="3944938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result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    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author</a:t>
            </a:r>
            <a:r>
              <a:rPr lang="en-US" sz="2800" dirty="0">
                <a:ea typeface="+mn-ea"/>
                <a:cs typeface="+mn-cs"/>
              </a:rPr>
              <a:t>&gt;Jones&lt;/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author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    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 </a:t>
            </a:r>
            <a:r>
              <a:rPr lang="en-US" sz="2800" dirty="0" err="1">
                <a:ea typeface="+mn-ea"/>
                <a:cs typeface="+mn-cs"/>
              </a:rPr>
              <a:t>abc</a:t>
            </a:r>
            <a:r>
              <a:rPr lang="en-US" sz="2800" dirty="0">
                <a:ea typeface="+mn-ea"/>
                <a:cs typeface="+mn-cs"/>
              </a:rPr>
              <a:t>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    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 def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result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result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     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author</a:t>
            </a:r>
            <a:r>
              <a:rPr lang="en-US" sz="2800" dirty="0">
                <a:ea typeface="+mn-ea"/>
                <a:cs typeface="+mn-cs"/>
              </a:rPr>
              <a:t>&gt; Smith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author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        &lt;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 </a:t>
            </a:r>
            <a:r>
              <a:rPr lang="en-US" sz="2800" dirty="0" err="1">
                <a:ea typeface="+mn-ea"/>
                <a:cs typeface="+mn-cs"/>
              </a:rPr>
              <a:t>ghi</a:t>
            </a:r>
            <a:r>
              <a:rPr lang="en-US" sz="2800" dirty="0">
                <a:ea typeface="+mn-ea"/>
                <a:cs typeface="+mn-cs"/>
              </a:rPr>
              <a:t>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title</a:t>
            </a:r>
            <a:r>
              <a:rPr lang="en-US" sz="2800" dirty="0">
                <a:ea typeface="+mn-ea"/>
                <a:cs typeface="+mn-cs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sz="2800" dirty="0">
                <a:ea typeface="+mn-ea"/>
                <a:cs typeface="+mn-cs"/>
              </a:rPr>
              <a:t>   &lt;/</a:t>
            </a:r>
            <a:r>
              <a:rPr lang="en-US" sz="2800" dirty="0">
                <a:solidFill>
                  <a:srgbClr val="006600"/>
                </a:solidFill>
                <a:ea typeface="+mn-ea"/>
                <a:cs typeface="+mn-cs"/>
              </a:rPr>
              <a:t>result&gt;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DF524AA-C42F-D746-AEE9-87C62839CE76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Aggregates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Find all books with more than 3 authors:</a:t>
            </a:r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609600" y="4343400"/>
            <a:ext cx="5297488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solidFill>
                  <a:srgbClr val="FF33CC"/>
                </a:solidFill>
                <a:latin typeface="Arial" charset="0"/>
              </a:rPr>
              <a:t>count</a:t>
            </a:r>
            <a:r>
              <a:rPr lang="en-US" dirty="0">
                <a:latin typeface="Arial" charset="0"/>
              </a:rPr>
              <a:t> = a function that counts</a:t>
            </a:r>
          </a:p>
          <a:p>
            <a:pPr eaLnBrk="0" hangingPunct="0"/>
            <a:r>
              <a:rPr lang="en-US" dirty="0" err="1">
                <a:solidFill>
                  <a:srgbClr val="FF33CC"/>
                </a:solidFill>
                <a:latin typeface="Arial" charset="0"/>
              </a:rPr>
              <a:t>avg</a:t>
            </a:r>
            <a:r>
              <a:rPr lang="en-US" dirty="0">
                <a:latin typeface="Arial" charset="0"/>
              </a:rPr>
              <a:t> =  computes the average</a:t>
            </a:r>
            <a:br>
              <a:rPr lang="en-US" dirty="0">
                <a:latin typeface="Arial" charset="0"/>
              </a:rPr>
            </a:br>
            <a:r>
              <a:rPr lang="en-US" dirty="0">
                <a:solidFill>
                  <a:srgbClr val="FF33CC"/>
                </a:solidFill>
                <a:latin typeface="Arial" charset="0"/>
              </a:rPr>
              <a:t>sum</a:t>
            </a:r>
            <a:r>
              <a:rPr lang="en-US" dirty="0">
                <a:latin typeface="Arial" charset="0"/>
              </a:rPr>
              <a:t> = computes the sum</a:t>
            </a:r>
            <a:br>
              <a:rPr lang="en-US" dirty="0">
                <a:latin typeface="Arial" charset="0"/>
              </a:rPr>
            </a:br>
            <a:r>
              <a:rPr lang="en-US" dirty="0">
                <a:solidFill>
                  <a:srgbClr val="FF33CC"/>
                </a:solidFill>
                <a:latin typeface="Arial" charset="0"/>
              </a:rPr>
              <a:t>distinct-values</a:t>
            </a:r>
            <a:r>
              <a:rPr lang="en-US" dirty="0">
                <a:latin typeface="Arial" charset="0"/>
              </a:rPr>
              <a:t> = eliminates duplicates</a:t>
            </a:r>
          </a:p>
        </p:txBody>
      </p:sp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371356" y="2743200"/>
            <a:ext cx="4867438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WHERE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33CC"/>
                </a:solidFill>
                <a:latin typeface="Arial"/>
                <a:cs typeface="Arial"/>
              </a:rPr>
              <a:t>count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)&gt;3 </a:t>
            </a:r>
            <a:br>
              <a:rPr lang="en-US" dirty="0"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88DAF5-74FA-D14A-97C7-B5902A70A1B4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Aggregates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Same thing:</a:t>
            </a:r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228600" y="2971800"/>
            <a:ext cx="7219945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dirty="0">
                <a:latin typeface="Arial"/>
                <a:cs typeface="Arial"/>
              </a:rPr>
              <a:t>[</a:t>
            </a:r>
            <a:r>
              <a:rPr lang="en-US" dirty="0">
                <a:solidFill>
                  <a:srgbClr val="FF33CC"/>
                </a:solidFill>
                <a:latin typeface="Arial"/>
                <a:cs typeface="Arial"/>
              </a:rPr>
              <a:t>count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)&gt;3] </a:t>
            </a:r>
            <a:br>
              <a:rPr lang="en-US" dirty="0"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B837A5-E271-3343-B308-6FE61D6C3C41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Duplicates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Print all authors:</a:t>
            </a:r>
          </a:p>
        </p:txBody>
      </p:sp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879475" y="3276600"/>
            <a:ext cx="6736039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33CC"/>
                </a:solidFill>
                <a:latin typeface="Arial"/>
                <a:cs typeface="Arial"/>
              </a:rPr>
              <a:t>distinct-</a:t>
            </a:r>
            <a:r>
              <a:rPr lang="en-US" dirty="0" err="1">
                <a:solidFill>
                  <a:srgbClr val="FF33CC"/>
                </a:solidFill>
                <a:latin typeface="Arial"/>
                <a:cs typeface="Arial"/>
              </a:rPr>
              <a:t>values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(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/book/author/</a:t>
            </a:r>
            <a:r>
              <a:rPr lang="en-US" dirty="0">
                <a:latin typeface="Arial"/>
                <a:cs typeface="Arial"/>
              </a:rPr>
              <a:t>text())</a:t>
            </a:r>
            <a:br>
              <a:rPr lang="en-US" dirty="0"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&gt; {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 </a:t>
            </a:r>
            <a:r>
              <a:rPr lang="en-US" dirty="0">
                <a:latin typeface="Arial"/>
                <a:cs typeface="Arial"/>
              </a:rPr>
              <a:t>}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&gt;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381000" y="5257800"/>
            <a:ext cx="8378766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Note: distinct-values applies ONLY to values, NOT elements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39A173-2208-BA4C-B375-87EE35DE3873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LET Clause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Find books whose price is larger than average:</a:t>
            </a:r>
          </a:p>
        </p:txBody>
      </p:sp>
      <p:sp>
        <p:nvSpPr>
          <p:cNvPr id="260100" name="Rectangle 4"/>
          <p:cNvSpPr>
            <a:spLocks noChangeArrowheads="1"/>
          </p:cNvSpPr>
          <p:nvPr/>
        </p:nvSpPr>
        <p:spPr bwMode="auto">
          <a:xfrm>
            <a:off x="457200" y="2971800"/>
            <a:ext cx="5692258" cy="22467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2800" u="sng" dirty="0">
                <a:latin typeface="Arial"/>
                <a:cs typeface="Arial"/>
              </a:rPr>
              <a:t>FOR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800" dirty="0">
                <a:latin typeface="Arial"/>
                <a:cs typeface="Arial"/>
              </a:rPr>
              <a:t> in </a:t>
            </a:r>
            <a:r>
              <a:rPr lang="en-US" sz="2800" dirty="0" smtClean="0">
                <a:latin typeface="Arial"/>
                <a:cs typeface="Arial"/>
              </a:rPr>
              <a:t>doc(“</a:t>
            </a:r>
            <a:r>
              <a:rPr lang="en-US" sz="2800" dirty="0" err="1">
                <a:latin typeface="Arial"/>
                <a:cs typeface="Arial"/>
              </a:rPr>
              <a:t>bib.xml</a:t>
            </a:r>
            <a:r>
              <a:rPr lang="en-US" sz="2800" dirty="0">
                <a:latin typeface="Arial"/>
                <a:cs typeface="Arial"/>
              </a:rPr>
              <a:t>”)/</a:t>
            </a:r>
            <a:r>
              <a:rPr lang="en-US" sz="2800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sz="2800" u="sng" dirty="0">
                <a:latin typeface="Arial"/>
                <a:cs typeface="Arial"/>
              </a:rPr>
              <a:t/>
            </a:r>
            <a:br>
              <a:rPr lang="en-US" sz="2800" u="sng" dirty="0">
                <a:latin typeface="Arial"/>
                <a:cs typeface="Arial"/>
              </a:rPr>
            </a:br>
            <a:r>
              <a:rPr lang="en-US" sz="2800" u="sng" dirty="0">
                <a:latin typeface="Arial"/>
                <a:cs typeface="Arial"/>
              </a:rPr>
              <a:t>LET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$a:</a:t>
            </a:r>
            <a:r>
              <a:rPr lang="en-US" sz="2800" dirty="0">
                <a:latin typeface="Arial"/>
                <a:cs typeface="Arial"/>
              </a:rPr>
              <a:t>=</a:t>
            </a:r>
            <a:r>
              <a:rPr lang="en-US" sz="2800" dirty="0" err="1">
                <a:solidFill>
                  <a:srgbClr val="FF33CC"/>
                </a:solidFill>
                <a:latin typeface="Arial"/>
                <a:cs typeface="Arial"/>
              </a:rPr>
              <a:t>avg</a:t>
            </a:r>
            <a:r>
              <a:rPr lang="en-US" sz="2800" dirty="0">
                <a:latin typeface="Arial"/>
                <a:cs typeface="Arial"/>
              </a:rPr>
              <a:t>(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800" dirty="0">
                <a:latin typeface="Arial"/>
                <a:cs typeface="Arial"/>
              </a:rPr>
              <a:t>/</a:t>
            </a:r>
            <a:r>
              <a:rPr lang="en-US" sz="2800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sz="2800" dirty="0">
                <a:latin typeface="Arial"/>
                <a:cs typeface="Arial"/>
              </a:rPr>
              <a:t>/</a:t>
            </a:r>
            <a:r>
              <a:rPr lang="en-US" sz="2800" dirty="0">
                <a:solidFill>
                  <a:srgbClr val="006600"/>
                </a:solidFill>
                <a:latin typeface="Arial"/>
                <a:cs typeface="Arial"/>
              </a:rPr>
              <a:t>price/</a:t>
            </a:r>
            <a:r>
              <a:rPr lang="en-US" sz="2800" dirty="0">
                <a:latin typeface="Arial"/>
                <a:cs typeface="Arial"/>
              </a:rPr>
              <a:t>text())</a:t>
            </a:r>
          </a:p>
          <a:p>
            <a:pPr>
              <a:defRPr/>
            </a:pPr>
            <a:r>
              <a:rPr lang="en-US" sz="2800" u="sng" dirty="0">
                <a:latin typeface="Arial"/>
                <a:cs typeface="Arial"/>
              </a:rPr>
              <a:t>FOR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 in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b</a:t>
            </a:r>
            <a:r>
              <a:rPr lang="en-US" sz="2800" dirty="0">
                <a:latin typeface="Arial"/>
                <a:cs typeface="Arial"/>
              </a:rPr>
              <a:t>/</a:t>
            </a:r>
            <a:r>
              <a:rPr lang="en-US" sz="2800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endParaRPr lang="en-US" sz="28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800" u="sng" dirty="0">
                <a:latin typeface="Arial"/>
                <a:cs typeface="Arial"/>
              </a:rPr>
              <a:t>WHERE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/</a:t>
            </a:r>
            <a:r>
              <a:rPr lang="en-US" sz="2800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sz="2800" dirty="0">
                <a:latin typeface="Arial"/>
                <a:cs typeface="Arial"/>
              </a:rPr>
              <a:t>/text() &gt;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</a:p>
          <a:p>
            <a:pPr>
              <a:defRPr/>
            </a:pPr>
            <a:r>
              <a:rPr lang="en-US" sz="2800" u="sng" dirty="0">
                <a:latin typeface="Arial"/>
                <a:cs typeface="Arial"/>
              </a:rPr>
              <a:t>RETURN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$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x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1837C-EA1D-C948-99AD-6BEB93EF0B0E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Flattening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68580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Compute a list of (author, title</a:t>
            </a:r>
            <a:r>
              <a:rPr lang="en-US" sz="2800" dirty="0" smtClean="0"/>
              <a:t>) pairs</a:t>
            </a:r>
            <a:endParaRPr lang="en-US" sz="2800" dirty="0"/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3788447" y="3100388"/>
            <a:ext cx="5046423" cy="24622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u="sng" dirty="0">
                <a:latin typeface="Arial"/>
                <a:cs typeface="Arial"/>
              </a:rPr>
              <a:t>FOR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u="sng" dirty="0">
                <a:latin typeface="Arial"/>
                <a:cs typeface="Arial"/>
              </a:rPr>
              <a:t>IN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sz="2200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sz="2200" dirty="0">
                <a:latin typeface="Arial"/>
                <a:ea typeface="Courier New" charset="0"/>
                <a:cs typeface="Arial"/>
              </a:rPr>
              <a:t>")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book,</a:t>
            </a:r>
            <a:b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        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u="sng" dirty="0">
                <a:latin typeface="Arial"/>
                <a:cs typeface="Arial"/>
              </a:rPr>
              <a:t>IN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200" dirty="0">
                <a:latin typeface="Arial"/>
                <a:cs typeface="Arial"/>
              </a:rPr>
              <a:t>/text(),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   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u="sng" dirty="0">
                <a:latin typeface="Arial"/>
                <a:cs typeface="Arial"/>
              </a:rPr>
              <a:t>IN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/text()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u="sng" dirty="0">
                <a:latin typeface="Arial"/>
                <a:cs typeface="Arial"/>
              </a:rPr>
              <a:t>RETURN</a:t>
            </a:r>
            <a:r>
              <a:rPr lang="en-US" sz="2200" dirty="0">
                <a:latin typeface="Arial"/>
                <a:cs typeface="Arial"/>
              </a:rPr>
              <a:t> &lt;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200" dirty="0">
                <a:latin typeface="Arial"/>
                <a:cs typeface="Arial"/>
              </a:rPr>
              <a:t>&gt;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                 &lt;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200" dirty="0">
                <a:latin typeface="Arial"/>
                <a:cs typeface="Arial"/>
              </a:rPr>
              <a:t>&gt; { $x } &lt;/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200" dirty="0">
                <a:latin typeface="Arial"/>
                <a:cs typeface="Arial"/>
              </a:rPr>
              <a:t>&gt;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                 &lt;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&gt; { $y } &lt;/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&gt;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            &lt;/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200" dirty="0">
                <a:latin typeface="Arial"/>
                <a:cs typeface="Arial"/>
              </a:rPr>
              <a:t>&gt;</a:t>
            </a: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242888" y="3995678"/>
            <a:ext cx="353519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Output</a:t>
            </a:r>
            <a:r>
              <a:rPr lang="en-US" sz="2000" dirty="0">
                <a:latin typeface="Arial"/>
                <a:cs typeface="Arial"/>
              </a:rPr>
              <a:t>: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 Databases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  <a:p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Widom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 Databases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  <a:p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Ullman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</p:txBody>
      </p:sp>
      <p:sp>
        <p:nvSpPr>
          <p:cNvPr id="45063" name="Text Box 6"/>
          <p:cNvSpPr txBox="1">
            <a:spLocks noChangeArrowheads="1"/>
          </p:cNvSpPr>
          <p:nvPr/>
        </p:nvSpPr>
        <p:spPr bwMode="auto">
          <a:xfrm>
            <a:off x="228600" y="2139831"/>
            <a:ext cx="353519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Input</a:t>
            </a:r>
            <a:r>
              <a:rPr lang="en-US" sz="2000" dirty="0">
                <a:latin typeface="Arial"/>
                <a:cs typeface="Arial"/>
              </a:rPr>
              <a:t>: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 Databases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  <a:p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Widom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Ullman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 smtClean="0">
                <a:latin typeface="Arial"/>
                <a:cs typeface="Arial"/>
              </a:rPr>
              <a:t>/</a:t>
            </a:r>
            <a:r>
              <a:rPr lang="en-US" sz="2000" dirty="0" smtClean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sz="2000" dirty="0" smtClean="0">
                <a:latin typeface="Arial"/>
                <a:cs typeface="Arial"/>
              </a:rPr>
              <a:t>&gt;</a:t>
            </a:r>
            <a:endParaRPr lang="en-US"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2679D1-BBD6-664B-A7EE-8EC0CA86BEA7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Re-grouping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 each author, return all titles of her/his books</a:t>
            </a:r>
          </a:p>
        </p:txBody>
      </p:sp>
      <p:sp>
        <p:nvSpPr>
          <p:cNvPr id="262148" name="Rectangle 4"/>
          <p:cNvSpPr>
            <a:spLocks noChangeArrowheads="1"/>
          </p:cNvSpPr>
          <p:nvPr/>
        </p:nvSpPr>
        <p:spPr bwMode="auto">
          <a:xfrm>
            <a:off x="197936" y="3048000"/>
            <a:ext cx="5821864" cy="280076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u="sng" dirty="0">
                <a:latin typeface="Arial"/>
                <a:cs typeface="Arial"/>
              </a:rPr>
              <a:t>FOR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 IN </a:t>
            </a:r>
            <a:r>
              <a:rPr lang="en-US" sz="2200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sz="2200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sz="2200" dirty="0">
                <a:latin typeface="Arial"/>
                <a:ea typeface="Courier New" charset="0"/>
                <a:cs typeface="Arial"/>
              </a:rPr>
              <a:t>")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bib,</a:t>
            </a:r>
            <a:b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        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u="sng" dirty="0">
                <a:latin typeface="Arial"/>
                <a:cs typeface="Arial"/>
              </a:rPr>
              <a:t>IN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/text()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/>
            </a:r>
            <a:b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sz="2200" u="sng" dirty="0">
                <a:latin typeface="Arial"/>
                <a:cs typeface="Arial"/>
              </a:rPr>
              <a:t>RETURN</a:t>
            </a:r>
            <a:r>
              <a:rPr lang="en-US" sz="2200" dirty="0">
                <a:latin typeface="Arial"/>
                <a:cs typeface="Arial"/>
              </a:rPr>
              <a:t> 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&lt;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200" dirty="0">
                <a:latin typeface="Arial"/>
                <a:cs typeface="Arial"/>
              </a:rPr>
              <a:t>&gt;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&lt;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&gt; {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sz="2200" dirty="0">
                <a:latin typeface="Arial"/>
                <a:cs typeface="Arial"/>
              </a:rPr>
              <a:t> } &lt;/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200" dirty="0">
                <a:latin typeface="Arial"/>
                <a:cs typeface="Arial"/>
              </a:rPr>
              <a:t>&gt;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{ </a:t>
            </a:r>
            <a:r>
              <a:rPr lang="en-US" sz="2200" u="sng" dirty="0">
                <a:latin typeface="Arial"/>
                <a:cs typeface="Arial"/>
              </a:rPr>
              <a:t>FOR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u="sng" dirty="0">
                <a:latin typeface="Arial"/>
                <a:cs typeface="Arial"/>
              </a:rPr>
              <a:t>IN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sz="2200" dirty="0">
                <a:latin typeface="Arial"/>
                <a:cs typeface="Arial"/>
              </a:rPr>
              <a:t>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book[author</a:t>
            </a:r>
            <a:r>
              <a:rPr lang="en-US" sz="2200" dirty="0">
                <a:latin typeface="Arial"/>
                <a:cs typeface="Arial"/>
              </a:rPr>
              <a:t>/text()=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sz="2200" dirty="0">
                <a:latin typeface="Arial"/>
                <a:cs typeface="Arial"/>
              </a:rPr>
              <a:t>]/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200" dirty="0">
                <a:latin typeface="Arial"/>
                <a:cs typeface="Arial"/>
              </a:rPr>
              <a:t/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      </a:t>
            </a:r>
            <a:r>
              <a:rPr lang="en-US" sz="2200" u="sng" dirty="0">
                <a:latin typeface="Arial"/>
                <a:cs typeface="Arial"/>
              </a:rPr>
              <a:t>RETURN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200" dirty="0">
                <a:latin typeface="Arial"/>
                <a:cs typeface="Arial"/>
              </a:rPr>
              <a:t> }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  &lt;/</a:t>
            </a:r>
            <a:r>
              <a:rPr lang="en-US" sz="22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200" dirty="0" smtClean="0">
                <a:latin typeface="Arial"/>
                <a:cs typeface="Arial"/>
              </a:rPr>
              <a:t>&gt;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47110" name="Text Box 5"/>
          <p:cNvSpPr txBox="1">
            <a:spLocks noChangeArrowheads="1"/>
          </p:cNvSpPr>
          <p:nvPr/>
        </p:nvSpPr>
        <p:spPr bwMode="auto">
          <a:xfrm>
            <a:off x="6781800" y="5105400"/>
            <a:ext cx="1762021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What about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duplicate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authors ?</a:t>
            </a:r>
          </a:p>
        </p:txBody>
      </p:sp>
      <p:sp>
        <p:nvSpPr>
          <p:cNvPr id="47111" name="Text Box 6"/>
          <p:cNvSpPr txBox="1">
            <a:spLocks noChangeArrowheads="1"/>
          </p:cNvSpPr>
          <p:nvPr/>
        </p:nvSpPr>
        <p:spPr bwMode="auto">
          <a:xfrm>
            <a:off x="6096000" y="2819400"/>
            <a:ext cx="3093615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/>
                <a:cs typeface="Arial"/>
              </a:rPr>
              <a:t>Result: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efg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abc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  <a:p>
            <a:r>
              <a:rPr lang="en-US" sz="2000" dirty="0">
                <a:latin typeface="Arial"/>
                <a:cs typeface="Arial"/>
              </a:rPr>
              <a:t>     &lt;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latin typeface="Arial"/>
                <a:cs typeface="Arial"/>
              </a:rPr>
              <a:t>klm</a:t>
            </a:r>
            <a:r>
              <a:rPr lang="en-US" sz="2000" dirty="0">
                <a:latin typeface="Arial"/>
                <a:cs typeface="Arial"/>
              </a:rPr>
              <a:t> 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. . . .</a:t>
            </a:r>
          </a:p>
          <a:p>
            <a:r>
              <a:rPr lang="en-US" sz="2000" dirty="0">
                <a:latin typeface="Arial"/>
                <a:cs typeface="Arial"/>
              </a:rPr>
              <a:t>&lt;/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E039E3-5885-EC4B-8C00-6D1729CE6966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Re-grouping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Same, but eliminate duplicate authors:</a:t>
            </a:r>
          </a:p>
        </p:txBody>
      </p:sp>
      <p:sp>
        <p:nvSpPr>
          <p:cNvPr id="263172" name="Rectangle 4"/>
          <p:cNvSpPr>
            <a:spLocks noChangeArrowheads="1"/>
          </p:cNvSpPr>
          <p:nvPr/>
        </p:nvSpPr>
        <p:spPr bwMode="auto">
          <a:xfrm>
            <a:off x="685800" y="2667000"/>
            <a:ext cx="6602739" cy="34163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LET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  <a:r>
              <a:rPr lang="en-US" dirty="0">
                <a:latin typeface="Arial"/>
                <a:cs typeface="Arial"/>
              </a:rPr>
              <a:t> := </a:t>
            </a:r>
            <a:r>
              <a:rPr lang="en-US" dirty="0">
                <a:solidFill>
                  <a:srgbClr val="FF33CC"/>
                </a:solidFill>
                <a:latin typeface="Arial"/>
                <a:cs typeface="Arial"/>
              </a:rPr>
              <a:t>distinct-values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/text())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$a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{ </a:t>
            </a: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book[author</a:t>
            </a:r>
            <a:r>
              <a:rPr lang="en-US" dirty="0">
                <a:latin typeface="Arial"/>
                <a:cs typeface="Arial"/>
              </a:rPr>
              <a:t>/text()=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]/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</a:t>
            </a: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dirty="0">
                <a:latin typeface="Arial"/>
                <a:cs typeface="Arial"/>
              </a:rPr>
              <a:t> }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BF79D5-49F4-8347-9E14-4765FFF20F28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Re-grouping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Same thing:</a:t>
            </a:r>
          </a:p>
        </p:txBody>
      </p:sp>
      <p:sp>
        <p:nvSpPr>
          <p:cNvPr id="264196" name="Rectangle 4"/>
          <p:cNvSpPr>
            <a:spLocks noChangeArrowheads="1"/>
          </p:cNvSpPr>
          <p:nvPr/>
        </p:nvSpPr>
        <p:spPr bwMode="auto">
          <a:xfrm>
            <a:off x="685800" y="2819400"/>
            <a:ext cx="6753171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ea typeface="Courier New" charset="0"/>
                <a:cs typeface="Arial"/>
              </a:rPr>
              <a:t>doc("</a:t>
            </a:r>
            <a:r>
              <a:rPr lang="en-US" dirty="0" err="1">
                <a:latin typeface="Arial"/>
                <a:ea typeface="Courier New" charset="0"/>
                <a:cs typeface="Arial"/>
              </a:rPr>
              <a:t>bib.xml</a:t>
            </a:r>
            <a:r>
              <a:rPr lang="en-US" dirty="0">
                <a:latin typeface="Arial"/>
                <a:ea typeface="Courier New" charset="0"/>
                <a:cs typeface="Arial"/>
              </a:rPr>
              <a:t>")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bib,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33CC"/>
                </a:solidFill>
                <a:latin typeface="Arial"/>
                <a:cs typeface="Arial"/>
              </a:rPr>
              <a:t>distinct-values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/text())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author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{ </a:t>
            </a: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u="sng" dirty="0">
                <a:latin typeface="Arial"/>
                <a:cs typeface="Arial"/>
              </a:rPr>
              <a:t>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book[author</a:t>
            </a:r>
            <a:r>
              <a:rPr lang="en-US" dirty="0">
                <a:latin typeface="Arial"/>
                <a:cs typeface="Arial"/>
              </a:rPr>
              <a:t>/text()=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]/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title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</a:t>
            </a: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dirty="0">
                <a:latin typeface="Arial"/>
                <a:cs typeface="Arial"/>
              </a:rPr>
              <a:t> }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1AD614-9E54-5D41-A35B-7AF7A19C9C48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SQL and XQuery Side-by-side</a:t>
            </a:r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228600" y="1752600"/>
            <a:ext cx="46492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Product(pid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name, maker, price)</a:t>
            </a:r>
          </a:p>
        </p:txBody>
      </p:sp>
      <p:sp>
        <p:nvSpPr>
          <p:cNvPr id="53253" name="Text Box 4"/>
          <p:cNvSpPr txBox="1">
            <a:spLocks noChangeArrowheads="1"/>
          </p:cNvSpPr>
          <p:nvPr/>
        </p:nvSpPr>
        <p:spPr bwMode="auto">
          <a:xfrm>
            <a:off x="4800600" y="1752600"/>
            <a:ext cx="43757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 product names, prices,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sort by price</a:t>
            </a:r>
          </a:p>
        </p:txBody>
      </p:sp>
      <p:grpSp>
        <p:nvGrpSpPr>
          <p:cNvPr id="53254" name="Group 5"/>
          <p:cNvGrpSpPr>
            <a:grpSpLocks/>
          </p:cNvGrpSpPr>
          <p:nvPr/>
        </p:nvGrpSpPr>
        <p:grpSpPr bwMode="auto">
          <a:xfrm>
            <a:off x="176213" y="3030537"/>
            <a:ext cx="2562225" cy="2552699"/>
            <a:chOff x="96" y="1824"/>
            <a:chExt cx="1614" cy="1608"/>
          </a:xfrm>
        </p:grpSpPr>
        <p:sp>
          <p:nvSpPr>
            <p:cNvPr id="267270" name="Rectangle 6"/>
            <p:cNvSpPr>
              <a:spLocks noChangeArrowheads="1"/>
            </p:cNvSpPr>
            <p:nvPr/>
          </p:nvSpPr>
          <p:spPr bwMode="auto">
            <a:xfrm>
              <a:off x="96" y="1824"/>
              <a:ext cx="1614" cy="9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dirty="0" smtClean="0">
                  <a:latin typeface="Arial"/>
                  <a:cs typeface="Arial"/>
                </a:rPr>
                <a:t>SELECT </a:t>
              </a:r>
              <a:r>
                <a:rPr lang="en-US" sz="2200" dirty="0" err="1" smtClean="0">
                  <a:latin typeface="Arial"/>
                  <a:cs typeface="Arial"/>
                </a:rPr>
                <a:t>x.name</a:t>
              </a:r>
              <a:r>
                <a:rPr lang="en-US" sz="2200" dirty="0" smtClean="0">
                  <a:latin typeface="Arial"/>
                  <a:cs typeface="Arial"/>
                </a:rPr>
                <a:t>,</a:t>
              </a:r>
              <a:br>
                <a:rPr lang="en-US" sz="2200" dirty="0" smtClean="0">
                  <a:latin typeface="Arial"/>
                  <a:cs typeface="Arial"/>
                </a:rPr>
              </a:br>
              <a:r>
                <a:rPr lang="en-US" sz="2200" dirty="0" smtClean="0">
                  <a:latin typeface="Arial"/>
                  <a:cs typeface="Arial"/>
                </a:rPr>
                <a:t>                </a:t>
              </a:r>
              <a:r>
                <a:rPr lang="en-US" sz="2200" dirty="0" err="1" smtClean="0">
                  <a:latin typeface="Arial"/>
                  <a:cs typeface="Arial"/>
                </a:rPr>
                <a:t>x.price</a:t>
              </a:r>
              <a:r>
                <a:rPr lang="en-US" sz="2200" dirty="0" smtClean="0">
                  <a:latin typeface="Arial"/>
                  <a:cs typeface="Arial"/>
                </a:rPr>
                <a:t/>
              </a:r>
              <a:br>
                <a:rPr lang="en-US" sz="2200" dirty="0" smtClean="0">
                  <a:latin typeface="Arial"/>
                  <a:cs typeface="Arial"/>
                </a:rPr>
              </a:br>
              <a:r>
                <a:rPr lang="en-US" sz="2200" dirty="0" smtClean="0">
                  <a:latin typeface="Arial"/>
                  <a:cs typeface="Arial"/>
                </a:rPr>
                <a:t>FROM Product </a:t>
              </a:r>
              <a:r>
                <a:rPr lang="en-US" sz="2200" dirty="0" err="1" smtClean="0">
                  <a:latin typeface="Arial"/>
                  <a:cs typeface="Arial"/>
                </a:rPr>
                <a:t>x</a:t>
              </a:r>
              <a:r>
                <a:rPr lang="en-US" sz="2200" dirty="0" smtClean="0">
                  <a:latin typeface="Arial"/>
                  <a:cs typeface="Arial"/>
                </a:rPr>
                <a:t/>
              </a:r>
              <a:br>
                <a:rPr lang="en-US" sz="2200" dirty="0" smtClean="0">
                  <a:latin typeface="Arial"/>
                  <a:cs typeface="Arial"/>
                </a:rPr>
              </a:br>
              <a:r>
                <a:rPr lang="en-US" sz="2200" dirty="0" smtClean="0">
                  <a:latin typeface="Arial"/>
                  <a:cs typeface="Arial"/>
                </a:rPr>
                <a:t>ORDER BY </a:t>
              </a:r>
              <a:r>
                <a:rPr lang="en-US" sz="2200" dirty="0" err="1" smtClean="0">
                  <a:latin typeface="Arial"/>
                  <a:cs typeface="Arial"/>
                </a:rPr>
                <a:t>x.price</a:t>
              </a:r>
              <a:endParaRPr lang="en-US" sz="2200" dirty="0">
                <a:latin typeface="Arial"/>
                <a:cs typeface="Arial"/>
              </a:endParaRPr>
            </a:p>
          </p:txBody>
        </p:sp>
        <p:sp>
          <p:nvSpPr>
            <p:cNvPr id="53259" name="AutoShape 7"/>
            <p:cNvSpPr>
              <a:spLocks noChangeArrowheads="1"/>
            </p:cNvSpPr>
            <p:nvPr/>
          </p:nvSpPr>
          <p:spPr bwMode="auto">
            <a:xfrm>
              <a:off x="307" y="3023"/>
              <a:ext cx="699" cy="409"/>
            </a:xfrm>
            <a:prstGeom prst="wedgeEllipseCallout">
              <a:avLst>
                <a:gd name="adj1" fmla="val -28181"/>
                <a:gd name="adj2" fmla="val -98463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Arial"/>
                  <a:cs typeface="Arial"/>
                </a:rPr>
                <a:t>SQL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752600" y="2962275"/>
            <a:ext cx="6394451" cy="3087688"/>
            <a:chOff x="2063" y="1488"/>
            <a:chExt cx="4028" cy="1945"/>
          </a:xfrm>
        </p:grpSpPr>
        <p:sp>
          <p:nvSpPr>
            <p:cNvPr id="267273" name="Rectangle 9"/>
            <p:cNvSpPr>
              <a:spLocks noChangeArrowheads="1"/>
            </p:cNvSpPr>
            <p:nvPr/>
          </p:nvSpPr>
          <p:spPr bwMode="auto">
            <a:xfrm>
              <a:off x="2832" y="1488"/>
              <a:ext cx="3259" cy="11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u="sng" dirty="0">
                  <a:latin typeface="Arial"/>
                  <a:cs typeface="Arial"/>
                </a:rPr>
                <a:t>FOR</a:t>
              </a:r>
              <a:r>
                <a:rPr lang="en-US" sz="2200" dirty="0">
                  <a:latin typeface="Arial"/>
                  <a:cs typeface="Arial"/>
                </a:rPr>
                <a:t>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 in </a:t>
              </a:r>
              <a:r>
                <a:rPr lang="en-US" sz="2200" dirty="0" smtClean="0">
                  <a:latin typeface="Arial"/>
                  <a:cs typeface="Arial"/>
                </a:rPr>
                <a:t>doc(“</a:t>
              </a:r>
              <a:r>
                <a:rPr lang="en-US" sz="2200" dirty="0" err="1">
                  <a:latin typeface="Arial"/>
                  <a:cs typeface="Arial"/>
                </a:rPr>
                <a:t>db.xml</a:t>
              </a:r>
              <a:r>
                <a:rPr lang="en-US" sz="2200" dirty="0">
                  <a:latin typeface="Arial"/>
                  <a:cs typeface="Arial"/>
                </a:rPr>
                <a:t>”)/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db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Product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row</a:t>
              </a:r>
              <a:b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</a:br>
              <a:r>
                <a:rPr lang="en-US" sz="2200" u="sng" dirty="0">
                  <a:latin typeface="Arial"/>
                  <a:cs typeface="Arial"/>
                </a:rPr>
                <a:t>ORDER BY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/price/</a:t>
              </a:r>
              <a:r>
                <a:rPr lang="en-US" sz="2200" dirty="0">
                  <a:latin typeface="Arial"/>
                  <a:cs typeface="Arial"/>
                </a:rPr>
                <a:t>text()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u="sng" dirty="0">
                  <a:latin typeface="Arial"/>
                  <a:cs typeface="Arial"/>
                </a:rPr>
                <a:t>RETURN</a:t>
              </a:r>
              <a:r>
                <a:rPr lang="en-US" sz="2200" dirty="0">
                  <a:latin typeface="Arial"/>
                  <a:cs typeface="Arial"/>
                </a:rPr>
                <a:t> &lt;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answer</a:t>
              </a:r>
              <a:r>
                <a:rPr lang="en-US" sz="2200" dirty="0">
                  <a:latin typeface="Arial"/>
                  <a:cs typeface="Arial"/>
                </a:rPr>
                <a:t>&gt;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                 {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name, 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price</a:t>
              </a:r>
              <a:r>
                <a:rPr lang="en-US" sz="2200" dirty="0">
                  <a:latin typeface="Arial"/>
                  <a:cs typeface="Arial"/>
                </a:rPr>
                <a:t> }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              &lt;/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answer</a:t>
              </a:r>
              <a:r>
                <a:rPr lang="en-US" sz="2200" dirty="0">
                  <a:latin typeface="Arial"/>
                  <a:cs typeface="Arial"/>
                </a:rPr>
                <a:t>&gt;</a:t>
              </a:r>
            </a:p>
          </p:txBody>
        </p:sp>
        <p:sp>
          <p:nvSpPr>
            <p:cNvPr id="53257" name="AutoShape 10"/>
            <p:cNvSpPr>
              <a:spLocks noChangeArrowheads="1"/>
            </p:cNvSpPr>
            <p:nvPr/>
          </p:nvSpPr>
          <p:spPr bwMode="auto">
            <a:xfrm>
              <a:off x="2063" y="3024"/>
              <a:ext cx="1088" cy="409"/>
            </a:xfrm>
            <a:prstGeom prst="wedgeEllipseCallout">
              <a:avLst>
                <a:gd name="adj1" fmla="val 43995"/>
                <a:gd name="adj2" fmla="val -128463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 err="1">
                  <a:latin typeface="Arial"/>
                  <a:cs typeface="Arial"/>
                </a:rPr>
                <a:t>XQuery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E68E1F-E86B-324F-A850-C6FB5100FBBF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609600" y="2057400"/>
            <a:ext cx="4051259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  </a:t>
            </a:r>
            <a:r>
              <a:rPr lang="en-US" dirty="0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  7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  def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  23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. . . .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XQuery’s</a:t>
            </a:r>
            <a:r>
              <a:rPr lang="en-US" dirty="0" smtClean="0"/>
              <a:t> </a:t>
            </a:r>
            <a:r>
              <a:rPr lang="en-US" dirty="0"/>
              <a:t>Answer</a:t>
            </a:r>
          </a:p>
        </p:txBody>
      </p:sp>
      <p:sp>
        <p:nvSpPr>
          <p:cNvPr id="55301" name="Text Box 4"/>
          <p:cNvSpPr txBox="1">
            <a:spLocks noChangeArrowheads="1"/>
          </p:cNvSpPr>
          <p:nvPr/>
        </p:nvSpPr>
        <p:spPr bwMode="auto">
          <a:xfrm>
            <a:off x="4876800" y="4343400"/>
            <a:ext cx="3396232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Notice: this is NOT a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well-formed document !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(WHY ???)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238B36-959C-1948-A531-E2539B2F231F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Producing a Well-Formed Answer</a:t>
            </a:r>
          </a:p>
        </p:txBody>
      </p:sp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1295400" y="2438400"/>
            <a:ext cx="6070893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latin typeface="Arial"/>
                <a:cs typeface="Arial"/>
              </a:rPr>
              <a:t>&lt;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myQuery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{  </a:t>
            </a:r>
            <a:r>
              <a:rPr lang="en-US" u="sng" dirty="0">
                <a:latin typeface="Arial"/>
                <a:cs typeface="Arial"/>
              </a:rPr>
              <a:t>FOR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 in </a:t>
            </a:r>
            <a:r>
              <a:rPr lang="en-US" dirty="0" smtClean="0">
                <a:latin typeface="Arial"/>
                <a:cs typeface="Arial"/>
              </a:rPr>
              <a:t>doc(“</a:t>
            </a:r>
            <a:r>
              <a:rPr lang="en-US" dirty="0" err="1">
                <a:latin typeface="Arial"/>
                <a:cs typeface="Arial"/>
              </a:rPr>
              <a:t>db.xml</a:t>
            </a:r>
            <a:r>
              <a:rPr lang="en-US" dirty="0">
                <a:latin typeface="Arial"/>
                <a:cs typeface="Arial"/>
              </a:rPr>
              <a:t>”)/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db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br>
              <a:rPr lang="en-US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     </a:t>
            </a:r>
            <a:r>
              <a:rPr lang="en-US" u="sng" dirty="0">
                <a:latin typeface="Arial"/>
                <a:cs typeface="Arial"/>
              </a:rPr>
              <a:t>ORDER BY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/price/</a:t>
            </a:r>
            <a:r>
              <a:rPr lang="en-US" dirty="0">
                <a:latin typeface="Arial"/>
                <a:cs typeface="Arial"/>
              </a:rPr>
              <a:t>text()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</a:t>
            </a:r>
            <a:r>
              <a:rPr lang="en-US" u="sng" dirty="0">
                <a:latin typeface="Arial"/>
                <a:cs typeface="Arial"/>
              </a:rPr>
              <a:t>RETURN</a:t>
            </a:r>
            <a:r>
              <a:rPr lang="en-US" dirty="0">
                <a:latin typeface="Arial"/>
                <a:cs typeface="Arial"/>
              </a:rPr>
              <a:t>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{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name,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$x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 }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}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myQuery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17301F-092F-5546-B134-47603B601E7C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609600" y="2057400"/>
            <a:ext cx="4307790" cy="415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&lt;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myQuery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  </a:t>
            </a:r>
            <a:r>
              <a:rPr lang="en-US" dirty="0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  7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  def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  23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answer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. . . .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myQuery</a:t>
            </a:r>
            <a:r>
              <a:rPr lang="en-US" dirty="0">
                <a:latin typeface="Arial"/>
                <a:cs typeface="Arial"/>
              </a:rPr>
              <a:t>&gt;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XQuery’s</a:t>
            </a:r>
            <a:r>
              <a:rPr lang="en-US" dirty="0" smtClean="0"/>
              <a:t> </a:t>
            </a:r>
            <a:r>
              <a:rPr lang="en-US" dirty="0"/>
              <a:t>Answer</a:t>
            </a: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5562600" y="2971800"/>
            <a:ext cx="31946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Now it is well-formed 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9652B4-C214-2F45-A2A3-485FBAC252CB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SQL and XQuery Side-by-side</a:t>
            </a:r>
          </a:p>
        </p:txBody>
      </p:sp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90488" y="1524000"/>
            <a:ext cx="467957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solidFill>
                  <a:schemeClr val="accent2"/>
                </a:solidFill>
                <a:latin typeface="Arial"/>
                <a:cs typeface="Arial"/>
              </a:rPr>
              <a:t>Product(pid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, name, maker, price)</a:t>
            </a:r>
            <a:b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</a:br>
            <a:r>
              <a:rPr lang="en-US" sz="2200" dirty="0" err="1">
                <a:solidFill>
                  <a:schemeClr val="accent2"/>
                </a:solidFill>
                <a:latin typeface="Arial"/>
                <a:cs typeface="Arial"/>
              </a:rPr>
              <a:t>Company(cid</a:t>
            </a:r>
            <a:r>
              <a:rPr lang="en-US" sz="2200" dirty="0">
                <a:solidFill>
                  <a:schemeClr val="accent2"/>
                </a:solidFill>
                <a:latin typeface="Arial"/>
                <a:cs typeface="Arial"/>
              </a:rPr>
              <a:t>, name, city, revenues)</a:t>
            </a:r>
          </a:p>
        </p:txBody>
      </p:sp>
      <p:sp>
        <p:nvSpPr>
          <p:cNvPr id="61445" name="Text Box 4"/>
          <p:cNvSpPr txBox="1">
            <a:spLocks noChangeArrowheads="1"/>
          </p:cNvSpPr>
          <p:nvPr/>
        </p:nvSpPr>
        <p:spPr bwMode="auto">
          <a:xfrm>
            <a:off x="4792663" y="1752600"/>
            <a:ext cx="429343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Arial"/>
                <a:cs typeface="Arial"/>
              </a:rPr>
              <a:t>Find all products made in Seattle</a:t>
            </a:r>
          </a:p>
        </p:txBody>
      </p:sp>
      <p:grpSp>
        <p:nvGrpSpPr>
          <p:cNvPr id="61446" name="Group 5"/>
          <p:cNvGrpSpPr>
            <a:grpSpLocks/>
          </p:cNvGrpSpPr>
          <p:nvPr/>
        </p:nvGrpSpPr>
        <p:grpSpPr bwMode="auto">
          <a:xfrm>
            <a:off x="152400" y="2895601"/>
            <a:ext cx="3868738" cy="2552701"/>
            <a:chOff x="96" y="1824"/>
            <a:chExt cx="2437" cy="1608"/>
          </a:xfrm>
        </p:grpSpPr>
        <p:sp>
          <p:nvSpPr>
            <p:cNvPr id="271366" name="Rectangle 6"/>
            <p:cNvSpPr>
              <a:spLocks noChangeArrowheads="1"/>
            </p:cNvSpPr>
            <p:nvPr/>
          </p:nvSpPr>
          <p:spPr bwMode="auto">
            <a:xfrm>
              <a:off x="96" y="1824"/>
              <a:ext cx="2437" cy="9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dirty="0">
                  <a:latin typeface="Arial"/>
                  <a:cs typeface="Arial"/>
                </a:rPr>
                <a:t>SELECT </a:t>
              </a:r>
              <a:r>
                <a:rPr lang="en-US" sz="2200" dirty="0" err="1">
                  <a:latin typeface="Arial"/>
                  <a:cs typeface="Arial"/>
                </a:rPr>
                <a:t>x.name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FROM Product </a:t>
              </a:r>
              <a:r>
                <a:rPr lang="en-US" sz="2200" dirty="0" err="1">
                  <a:latin typeface="Arial"/>
                  <a:cs typeface="Arial"/>
                </a:rPr>
                <a:t>x</a:t>
              </a:r>
              <a:r>
                <a:rPr lang="en-US" sz="2200" dirty="0">
                  <a:latin typeface="Arial"/>
                  <a:cs typeface="Arial"/>
                </a:rPr>
                <a:t>, Company </a:t>
              </a:r>
              <a:r>
                <a:rPr lang="en-US" sz="2200" dirty="0" err="1">
                  <a:latin typeface="Arial"/>
                  <a:cs typeface="Arial"/>
                </a:rPr>
                <a:t>y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WHERE </a:t>
              </a:r>
              <a:r>
                <a:rPr lang="en-US" sz="2200" dirty="0" err="1">
                  <a:latin typeface="Arial"/>
                  <a:cs typeface="Arial"/>
                </a:rPr>
                <a:t>x.maker</a:t>
              </a:r>
              <a:r>
                <a:rPr lang="en-US" sz="2200" dirty="0">
                  <a:latin typeface="Arial"/>
                  <a:cs typeface="Arial"/>
                </a:rPr>
                <a:t>=</a:t>
              </a:r>
              <a:r>
                <a:rPr lang="en-US" sz="2200" dirty="0" err="1">
                  <a:latin typeface="Arial"/>
                  <a:cs typeface="Arial"/>
                </a:rPr>
                <a:t>y.cid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    and </a:t>
              </a:r>
              <a:r>
                <a:rPr lang="en-US" sz="2200" dirty="0" err="1">
                  <a:latin typeface="Arial"/>
                  <a:cs typeface="Arial"/>
                </a:rPr>
                <a:t>y.city</a:t>
              </a:r>
              <a:r>
                <a:rPr lang="en-US" sz="2200" dirty="0">
                  <a:latin typeface="Arial"/>
                  <a:cs typeface="Arial"/>
                </a:rPr>
                <a:t>=“Seattle”</a:t>
              </a:r>
            </a:p>
          </p:txBody>
        </p:sp>
        <p:sp>
          <p:nvSpPr>
            <p:cNvPr id="61454" name="AutoShape 7"/>
            <p:cNvSpPr>
              <a:spLocks noChangeArrowheads="1"/>
            </p:cNvSpPr>
            <p:nvPr/>
          </p:nvSpPr>
          <p:spPr bwMode="auto">
            <a:xfrm>
              <a:off x="307" y="3023"/>
              <a:ext cx="699" cy="409"/>
            </a:xfrm>
            <a:prstGeom prst="wedgeEllipseCallout">
              <a:avLst>
                <a:gd name="adj1" fmla="val -28181"/>
                <a:gd name="adj2" fmla="val -98463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Arial"/>
                  <a:cs typeface="Arial"/>
                </a:rPr>
                <a:t>SQL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971800" y="2362200"/>
            <a:ext cx="5557836" cy="3087688"/>
            <a:chOff x="1872" y="1488"/>
            <a:chExt cx="3501" cy="1945"/>
          </a:xfrm>
        </p:grpSpPr>
        <p:sp>
          <p:nvSpPr>
            <p:cNvPr id="271369" name="Rectangle 9"/>
            <p:cNvSpPr>
              <a:spLocks noChangeArrowheads="1"/>
            </p:cNvSpPr>
            <p:nvPr/>
          </p:nvSpPr>
          <p:spPr bwMode="auto">
            <a:xfrm>
              <a:off x="2832" y="1488"/>
              <a:ext cx="2541" cy="15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u="sng" dirty="0">
                  <a:latin typeface="Arial"/>
                  <a:cs typeface="Arial"/>
                </a:rPr>
                <a:t>FOR</a:t>
              </a:r>
              <a:r>
                <a:rPr lang="en-US" sz="2200" dirty="0">
                  <a:latin typeface="Arial"/>
                  <a:cs typeface="Arial"/>
                </a:rPr>
                <a:t>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$r</a:t>
              </a:r>
              <a:r>
                <a:rPr lang="en-US" sz="2200" dirty="0">
                  <a:latin typeface="Arial"/>
                  <a:cs typeface="Arial"/>
                </a:rPr>
                <a:t> in </a:t>
              </a:r>
              <a:r>
                <a:rPr lang="en-US" sz="2200" dirty="0" smtClean="0">
                  <a:latin typeface="Arial"/>
                  <a:cs typeface="Arial"/>
                </a:rPr>
                <a:t>doc(“</a:t>
              </a:r>
              <a:r>
                <a:rPr lang="en-US" sz="2200" dirty="0" err="1">
                  <a:latin typeface="Arial"/>
                  <a:cs typeface="Arial"/>
                </a:rPr>
                <a:t>db.xml</a:t>
              </a:r>
              <a:r>
                <a:rPr lang="en-US" sz="2200" dirty="0">
                  <a:latin typeface="Arial"/>
                  <a:cs typeface="Arial"/>
                </a:rPr>
                <a:t>”)/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db,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    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 in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$r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Product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row,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    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$y</a:t>
              </a:r>
              <a:r>
                <a:rPr lang="en-US" sz="2200" dirty="0">
                  <a:latin typeface="Arial"/>
                  <a:cs typeface="Arial"/>
                </a:rPr>
                <a:t> in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$r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Company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row</a:t>
              </a:r>
              <a:r>
                <a:rPr lang="en-US" sz="2200" dirty="0">
                  <a:latin typeface="Arial"/>
                  <a:cs typeface="Arial"/>
                </a:rPr>
                <a:t/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u="sng" dirty="0">
                  <a:latin typeface="Arial"/>
                  <a:cs typeface="Arial"/>
                </a:rPr>
                <a:t>WHERE</a:t>
              </a:r>
              <a:r>
                <a:rPr lang="en-US" sz="2200" dirty="0">
                  <a:latin typeface="Arial"/>
                  <a:cs typeface="Arial"/>
                </a:rPr>
                <a:t> 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maker</a:t>
              </a:r>
              <a:r>
                <a:rPr lang="en-US" sz="2200" dirty="0">
                  <a:latin typeface="Arial"/>
                  <a:cs typeface="Arial"/>
                </a:rPr>
                <a:t>/text()=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$y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cid</a:t>
              </a:r>
              <a:r>
                <a:rPr lang="en-US" sz="2200" dirty="0">
                  <a:latin typeface="Arial"/>
                  <a:cs typeface="Arial"/>
                </a:rPr>
                <a:t>/text()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dirty="0">
                  <a:latin typeface="Arial"/>
                  <a:cs typeface="Arial"/>
                </a:rPr>
                <a:t>    and 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$y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city</a:t>
              </a:r>
              <a:r>
                <a:rPr lang="en-US" sz="2200" dirty="0">
                  <a:latin typeface="Arial"/>
                  <a:cs typeface="Arial"/>
                </a:rPr>
                <a:t>/text() = “Seattle”</a:t>
              </a:r>
              <a:br>
                <a:rPr lang="en-US" sz="2200" dirty="0">
                  <a:latin typeface="Arial"/>
                  <a:cs typeface="Arial"/>
                </a:rPr>
              </a:br>
              <a:r>
                <a:rPr lang="en-US" sz="2200" u="sng" dirty="0">
                  <a:latin typeface="Arial"/>
                  <a:cs typeface="Arial"/>
                </a:rPr>
                <a:t>RETURN</a:t>
              </a:r>
              <a:r>
                <a:rPr lang="en-US" sz="2200" dirty="0">
                  <a:latin typeface="Arial"/>
                  <a:cs typeface="Arial"/>
                </a:rPr>
                <a:t> { </a:t>
              </a:r>
              <a:r>
                <a:rPr lang="en-US" sz="2200" dirty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dirty="0">
                  <a:latin typeface="Arial"/>
                  <a:cs typeface="Arial"/>
                </a:rPr>
                <a:t>/</a:t>
              </a:r>
              <a:r>
                <a:rPr lang="en-US" sz="2200" dirty="0">
                  <a:solidFill>
                    <a:srgbClr val="006600"/>
                  </a:solidFill>
                  <a:latin typeface="Arial"/>
                  <a:cs typeface="Arial"/>
                </a:rPr>
                <a:t>name</a:t>
              </a:r>
              <a:r>
                <a:rPr lang="en-US" sz="2200" dirty="0">
                  <a:latin typeface="Arial"/>
                  <a:cs typeface="Arial"/>
                </a:rPr>
                <a:t> }</a:t>
              </a:r>
            </a:p>
          </p:txBody>
        </p:sp>
        <p:sp>
          <p:nvSpPr>
            <p:cNvPr id="61452" name="AutoShape 10"/>
            <p:cNvSpPr>
              <a:spLocks noChangeArrowheads="1"/>
            </p:cNvSpPr>
            <p:nvPr/>
          </p:nvSpPr>
          <p:spPr bwMode="auto">
            <a:xfrm>
              <a:off x="1872" y="3024"/>
              <a:ext cx="1088" cy="409"/>
            </a:xfrm>
            <a:prstGeom prst="wedgeEllipseCallout">
              <a:avLst>
                <a:gd name="adj1" fmla="val 43995"/>
                <a:gd name="adj2" fmla="val -128463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 err="1">
                  <a:latin typeface="Arial"/>
                  <a:cs typeface="Arial"/>
                </a:rPr>
                <a:t>XQuery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73038" y="5546725"/>
            <a:ext cx="8709023" cy="1260475"/>
            <a:chOff x="109" y="3494"/>
            <a:chExt cx="5486" cy="794"/>
          </a:xfrm>
        </p:grpSpPr>
        <p:sp>
          <p:nvSpPr>
            <p:cNvPr id="271372" name="Rectangle 12"/>
            <p:cNvSpPr>
              <a:spLocks noChangeArrowheads="1"/>
            </p:cNvSpPr>
            <p:nvPr/>
          </p:nvSpPr>
          <p:spPr bwMode="auto">
            <a:xfrm>
              <a:off x="1296" y="3494"/>
              <a:ext cx="4299" cy="6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200" u="sng" smtClean="0">
                  <a:latin typeface="Arial"/>
                  <a:cs typeface="Arial"/>
                </a:rPr>
                <a:t>FOR</a:t>
              </a:r>
              <a:r>
                <a:rPr lang="en-US" sz="2200" smtClean="0">
                  <a:latin typeface="Arial"/>
                  <a:cs typeface="Arial"/>
                </a:rPr>
                <a:t> </a:t>
              </a:r>
              <a:r>
                <a:rPr lang="en-US" sz="2200" smtClean="0">
                  <a:solidFill>
                    <a:schemeClr val="accent2"/>
                  </a:solidFill>
                  <a:latin typeface="Arial"/>
                  <a:cs typeface="Arial"/>
                </a:rPr>
                <a:t>$y</a:t>
              </a:r>
              <a:r>
                <a:rPr lang="en-US" sz="2200" smtClean="0">
                  <a:latin typeface="Arial"/>
                  <a:cs typeface="Arial"/>
                </a:rPr>
                <a:t> in 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db</a:t>
              </a:r>
              <a:r>
                <a:rPr lang="en-US" sz="2200" smtClean="0">
                  <a:latin typeface="Arial"/>
                  <a:cs typeface="Arial"/>
                </a:rPr>
                <a:t>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Company</a:t>
              </a:r>
              <a:r>
                <a:rPr lang="en-US" sz="2200" smtClean="0">
                  <a:latin typeface="Arial"/>
                  <a:cs typeface="Arial"/>
                </a:rPr>
                <a:t>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row[city</a:t>
              </a:r>
              <a:r>
                <a:rPr lang="en-US" sz="2200" smtClean="0">
                  <a:latin typeface="Arial"/>
                  <a:cs typeface="Arial"/>
                </a:rPr>
                <a:t>/text()=“Seattle”],</a:t>
              </a:r>
              <a:br>
                <a:rPr lang="en-US" sz="2200" smtClean="0">
                  <a:latin typeface="Arial"/>
                  <a:cs typeface="Arial"/>
                </a:rPr>
              </a:br>
              <a:r>
                <a:rPr lang="en-US" sz="2200" smtClean="0">
                  <a:latin typeface="Arial"/>
                  <a:cs typeface="Arial"/>
                </a:rPr>
                <a:t>         </a:t>
              </a:r>
              <a:r>
                <a:rPr lang="en-US" sz="2200" smtClean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smtClean="0">
                  <a:latin typeface="Arial"/>
                  <a:cs typeface="Arial"/>
                </a:rPr>
                <a:t> in 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db</a:t>
              </a:r>
              <a:r>
                <a:rPr lang="en-US" sz="2200" smtClean="0">
                  <a:latin typeface="Arial"/>
                  <a:cs typeface="Arial"/>
                </a:rPr>
                <a:t>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Product</a:t>
              </a:r>
              <a:r>
                <a:rPr lang="en-US" sz="2200" smtClean="0">
                  <a:latin typeface="Arial"/>
                  <a:cs typeface="Arial"/>
                </a:rPr>
                <a:t>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row[maker</a:t>
              </a:r>
              <a:r>
                <a:rPr lang="en-US" sz="2200" smtClean="0">
                  <a:latin typeface="Arial"/>
                  <a:cs typeface="Arial"/>
                </a:rPr>
                <a:t>/text()=</a:t>
              </a:r>
              <a:r>
                <a:rPr lang="en-US" sz="2200" smtClean="0">
                  <a:solidFill>
                    <a:schemeClr val="accent2"/>
                  </a:solidFill>
                  <a:latin typeface="Arial"/>
                  <a:cs typeface="Arial"/>
                </a:rPr>
                <a:t>$y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/cid/</a:t>
              </a:r>
              <a:r>
                <a:rPr lang="en-US" sz="2200" smtClean="0">
                  <a:latin typeface="Arial"/>
                  <a:cs typeface="Arial"/>
                </a:rPr>
                <a:t>text()]</a:t>
              </a:r>
              <a:br>
                <a:rPr lang="en-US" sz="2200" smtClean="0">
                  <a:latin typeface="Arial"/>
                  <a:cs typeface="Arial"/>
                </a:rPr>
              </a:br>
              <a:r>
                <a:rPr lang="en-US" sz="2200" u="sng" smtClean="0">
                  <a:latin typeface="Arial"/>
                  <a:cs typeface="Arial"/>
                </a:rPr>
                <a:t>RETURN</a:t>
              </a:r>
              <a:r>
                <a:rPr lang="en-US" sz="2200" smtClean="0">
                  <a:latin typeface="Arial"/>
                  <a:cs typeface="Arial"/>
                </a:rPr>
                <a:t> { </a:t>
              </a:r>
              <a:r>
                <a:rPr lang="en-US" sz="2200" smtClean="0">
                  <a:solidFill>
                    <a:schemeClr val="accent2"/>
                  </a:solidFill>
                  <a:latin typeface="Arial"/>
                  <a:cs typeface="Arial"/>
                </a:rPr>
                <a:t>$x</a:t>
              </a:r>
              <a:r>
                <a:rPr lang="en-US" sz="2200" smtClean="0">
                  <a:latin typeface="Arial"/>
                  <a:cs typeface="Arial"/>
                </a:rPr>
                <a:t>/</a:t>
              </a:r>
              <a:r>
                <a:rPr lang="en-US" sz="2200" smtClean="0">
                  <a:solidFill>
                    <a:srgbClr val="006600"/>
                  </a:solidFill>
                  <a:latin typeface="Arial"/>
                  <a:cs typeface="Arial"/>
                </a:rPr>
                <a:t>name</a:t>
              </a:r>
              <a:r>
                <a:rPr lang="en-US" sz="2200" smtClean="0">
                  <a:latin typeface="Arial"/>
                  <a:cs typeface="Arial"/>
                </a:rPr>
                <a:t> }</a:t>
              </a:r>
              <a:endParaRPr lang="en-US" sz="2200" dirty="0">
                <a:latin typeface="Arial"/>
                <a:cs typeface="Arial"/>
              </a:endParaRPr>
            </a:p>
          </p:txBody>
        </p:sp>
        <p:sp>
          <p:nvSpPr>
            <p:cNvPr id="61450" name="AutoShape 13"/>
            <p:cNvSpPr>
              <a:spLocks noChangeArrowheads="1"/>
            </p:cNvSpPr>
            <p:nvPr/>
          </p:nvSpPr>
          <p:spPr bwMode="auto">
            <a:xfrm>
              <a:off x="109" y="3552"/>
              <a:ext cx="1088" cy="736"/>
            </a:xfrm>
            <a:prstGeom prst="wedgeEllipseCallout">
              <a:avLst>
                <a:gd name="adj1" fmla="val 67417"/>
                <a:gd name="adj2" fmla="val 4750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Arial"/>
                  <a:cs typeface="Arial"/>
                </a:rPr>
                <a:t>Cool</a:t>
              </a:r>
              <a:br>
                <a:rPr lang="en-US" dirty="0">
                  <a:latin typeface="Arial"/>
                  <a:cs typeface="Arial"/>
                </a:rPr>
              </a:br>
              <a:r>
                <a:rPr lang="en-US" dirty="0" err="1">
                  <a:latin typeface="Arial"/>
                  <a:cs typeface="Arial"/>
                </a:rPr>
                <a:t>XQuery</a:t>
              </a:r>
              <a:endParaRPr lang="en-US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F99F68-2EA4-F84E-85DE-1F3F55713A67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431925" y="1260475"/>
            <a:ext cx="5179423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dirty="0">
                <a:latin typeface="Arial"/>
                <a:cs typeface="Arial"/>
              </a:rPr>
              <a:t>&gt; &lt;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pid</a:t>
            </a:r>
            <a:r>
              <a:rPr lang="en-US" dirty="0">
                <a:latin typeface="Arial"/>
                <a:cs typeface="Arial"/>
              </a:rPr>
              <a:t>&gt; 123 &lt;/</a:t>
            </a:r>
            <a:r>
              <a:rPr lang="en-US" dirty="0" err="1">
                <a:solidFill>
                  <a:srgbClr val="006600"/>
                </a:solidFill>
                <a:latin typeface="Arial"/>
                <a:cs typeface="Arial"/>
              </a:rPr>
              <a:t>pid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abc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maker</a:t>
            </a:r>
            <a:r>
              <a:rPr lang="en-US" dirty="0">
                <a:latin typeface="Arial"/>
                <a:cs typeface="Arial"/>
              </a:rPr>
              <a:t>&gt; </a:t>
            </a:r>
            <a:r>
              <a:rPr lang="en-US" dirty="0" err="1">
                <a:latin typeface="Arial"/>
                <a:cs typeface="Arial"/>
              </a:rPr>
              <a:t>efg</a:t>
            </a:r>
            <a:r>
              <a:rPr lang="en-US" dirty="0">
                <a:latin typeface="Arial"/>
                <a:cs typeface="Arial"/>
              </a:rPr>
              <a:t>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maker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dirty="0">
                <a:latin typeface="Arial"/>
                <a:cs typeface="Arial"/>
              </a:rPr>
              <a:t>&gt; …. 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dirty="0">
                <a:latin typeface="Arial"/>
                <a:cs typeface="Arial"/>
              </a:rPr>
              <a:t>&gt;</a:t>
            </a:r>
          </a:p>
          <a:p>
            <a:r>
              <a:rPr lang="en-US" dirty="0">
                <a:latin typeface="Arial"/>
                <a:cs typeface="Arial"/>
              </a:rPr>
              <a:t>           …</a:t>
            </a:r>
          </a:p>
          <a:p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&lt;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. . .</a:t>
            </a:r>
          </a:p>
          <a:p>
            <a:r>
              <a:rPr lang="en-US" dirty="0">
                <a:latin typeface="Arial"/>
                <a:cs typeface="Arial"/>
              </a:rPr>
              <a:t>&lt;/</a:t>
            </a:r>
            <a:r>
              <a:rPr lang="en-US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dirty="0">
                <a:latin typeface="Arial"/>
                <a:cs typeface="Arial"/>
              </a:rPr>
              <a:t>&gt;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. . . 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344 – Winter 2012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2EF0DA-C464-CB45-A276-5F5CE4ED7F69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SQL and XQuery Side-by-side</a:t>
            </a:r>
          </a:p>
        </p:txBody>
      </p:sp>
      <p:sp>
        <p:nvSpPr>
          <p:cNvPr id="65540" name="Text Box 3"/>
          <p:cNvSpPr txBox="1">
            <a:spLocks noChangeArrowheads="1"/>
          </p:cNvSpPr>
          <p:nvPr/>
        </p:nvSpPr>
        <p:spPr bwMode="auto">
          <a:xfrm>
            <a:off x="152400" y="1524000"/>
            <a:ext cx="878655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Arial"/>
                <a:cs typeface="Arial"/>
              </a:rPr>
              <a:t>For each company with revenues &lt; 1M count the products over $100</a:t>
            </a:r>
          </a:p>
        </p:txBody>
      </p:sp>
      <p:sp>
        <p:nvSpPr>
          <p:cNvPr id="273412" name="Rectangle 4"/>
          <p:cNvSpPr>
            <a:spLocks noChangeArrowheads="1"/>
          </p:cNvSpPr>
          <p:nvPr/>
        </p:nvSpPr>
        <p:spPr bwMode="auto">
          <a:xfrm>
            <a:off x="228600" y="2009775"/>
            <a:ext cx="8556499" cy="1446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latin typeface="Arial"/>
                <a:cs typeface="Arial"/>
              </a:rPr>
              <a:t>SELECT </a:t>
            </a:r>
            <a:r>
              <a:rPr lang="en-US" sz="2200" dirty="0" err="1">
                <a:latin typeface="Arial"/>
                <a:cs typeface="Arial"/>
              </a:rPr>
              <a:t>y.name</a:t>
            </a:r>
            <a:r>
              <a:rPr lang="en-US" sz="2200" dirty="0">
                <a:latin typeface="Arial"/>
                <a:cs typeface="Arial"/>
              </a:rPr>
              <a:t>, count(*)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FROM Product </a:t>
            </a:r>
            <a:r>
              <a:rPr lang="en-US" sz="2200" dirty="0" err="1">
                <a:latin typeface="Arial"/>
                <a:cs typeface="Arial"/>
              </a:rPr>
              <a:t>x</a:t>
            </a:r>
            <a:r>
              <a:rPr lang="en-US" sz="2200" dirty="0">
                <a:latin typeface="Arial"/>
                <a:cs typeface="Arial"/>
              </a:rPr>
              <a:t>, Company </a:t>
            </a:r>
            <a:r>
              <a:rPr lang="en-US" sz="2200" dirty="0" err="1">
                <a:latin typeface="Arial"/>
                <a:cs typeface="Arial"/>
              </a:rPr>
              <a:t>y</a:t>
            </a:r>
            <a:r>
              <a:rPr lang="en-US" sz="2200" dirty="0">
                <a:latin typeface="Arial"/>
                <a:cs typeface="Arial"/>
              </a:rPr>
              <a:t/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WHERE </a:t>
            </a:r>
            <a:r>
              <a:rPr lang="en-US" sz="2200" dirty="0" err="1">
                <a:latin typeface="Arial"/>
                <a:cs typeface="Arial"/>
              </a:rPr>
              <a:t>x.price</a:t>
            </a:r>
            <a:r>
              <a:rPr lang="en-US" sz="2200" dirty="0">
                <a:latin typeface="Arial"/>
                <a:cs typeface="Arial"/>
              </a:rPr>
              <a:t> &gt; 100 and </a:t>
            </a:r>
            <a:r>
              <a:rPr lang="en-US" sz="2200" dirty="0" err="1">
                <a:latin typeface="Arial"/>
                <a:cs typeface="Arial"/>
              </a:rPr>
              <a:t>x.maker</a:t>
            </a:r>
            <a:r>
              <a:rPr lang="en-US" sz="2200" dirty="0">
                <a:latin typeface="Arial"/>
                <a:cs typeface="Arial"/>
              </a:rPr>
              <a:t>=</a:t>
            </a:r>
            <a:r>
              <a:rPr lang="en-US" sz="2200" dirty="0" err="1">
                <a:latin typeface="Arial"/>
                <a:cs typeface="Arial"/>
              </a:rPr>
              <a:t>y.cid</a:t>
            </a:r>
            <a:r>
              <a:rPr lang="en-US" sz="2200" dirty="0">
                <a:latin typeface="Arial"/>
                <a:cs typeface="Arial"/>
              </a:rPr>
              <a:t> and </a:t>
            </a:r>
            <a:r>
              <a:rPr lang="en-US" sz="2200" dirty="0" err="1">
                <a:latin typeface="Arial"/>
                <a:cs typeface="Arial"/>
              </a:rPr>
              <a:t>y.revenue</a:t>
            </a:r>
            <a:r>
              <a:rPr lang="en-US" sz="2200" dirty="0">
                <a:latin typeface="Arial"/>
                <a:cs typeface="Arial"/>
              </a:rPr>
              <a:t> &lt; 1000000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>
                <a:latin typeface="Arial"/>
                <a:cs typeface="Arial"/>
              </a:rPr>
              <a:t>GROUP BY </a:t>
            </a:r>
            <a:r>
              <a:rPr lang="en-US" sz="2200" dirty="0" err="1">
                <a:latin typeface="Arial"/>
                <a:cs typeface="Arial"/>
              </a:rPr>
              <a:t>y.cid</a:t>
            </a:r>
            <a:r>
              <a:rPr lang="en-US" sz="2200" dirty="0">
                <a:latin typeface="Arial"/>
                <a:cs typeface="Arial"/>
              </a:rPr>
              <a:t>, </a:t>
            </a:r>
            <a:r>
              <a:rPr lang="en-US" sz="2200" dirty="0" err="1">
                <a:latin typeface="Arial"/>
                <a:cs typeface="Arial"/>
              </a:rPr>
              <a:t>y.name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273413" name="Rectangle 5"/>
          <p:cNvSpPr>
            <a:spLocks noChangeArrowheads="1"/>
          </p:cNvSpPr>
          <p:nvPr/>
        </p:nvSpPr>
        <p:spPr bwMode="auto">
          <a:xfrm>
            <a:off x="228600" y="3810000"/>
            <a:ext cx="8674169" cy="28623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u="sng" dirty="0">
                <a:latin typeface="Arial"/>
                <a:cs typeface="Arial"/>
              </a:rPr>
              <a:t>FOR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dirty="0" smtClean="0">
                <a:latin typeface="Arial"/>
                <a:cs typeface="Arial"/>
              </a:rPr>
              <a:t>doc(“</a:t>
            </a:r>
            <a:r>
              <a:rPr lang="en-US" sz="2000" dirty="0" err="1">
                <a:latin typeface="Arial"/>
                <a:cs typeface="Arial"/>
              </a:rPr>
              <a:t>db.xml</a:t>
            </a:r>
            <a:r>
              <a:rPr lang="en-US" sz="2000" dirty="0">
                <a:latin typeface="Arial"/>
                <a:cs typeface="Arial"/>
              </a:rPr>
              <a:t>”)/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db,</a:t>
            </a:r>
            <a:b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        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Company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row[revenue/text()&lt;1000000]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u="sng" dirty="0">
                <a:latin typeface="Arial"/>
                <a:cs typeface="Arial"/>
              </a:rPr>
              <a:t>RETURN</a:t>
            </a:r>
            <a:r>
              <a:rPr lang="en-US" sz="2000" dirty="0">
                <a:latin typeface="Arial"/>
                <a:cs typeface="Arial"/>
              </a:rPr>
              <a:t>  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proudCompany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companyName</a:t>
            </a:r>
            <a:r>
              <a:rPr lang="en-US" sz="2000" dirty="0">
                <a:latin typeface="Arial"/>
                <a:cs typeface="Arial"/>
              </a:rPr>
              <a:t>&gt; {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/</a:t>
            </a:r>
            <a:r>
              <a:rPr lang="en-US" sz="2000" dirty="0">
                <a:latin typeface="Arial"/>
                <a:cs typeface="Arial"/>
              </a:rPr>
              <a:t>text()  } 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companyName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numberOfExpensiveProducts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</a:t>
            </a:r>
            <a:r>
              <a:rPr lang="en-US" sz="2000" dirty="0" smtClean="0">
                <a:latin typeface="Arial"/>
                <a:cs typeface="Arial"/>
              </a:rPr>
              <a:t>    </a:t>
            </a:r>
            <a:r>
              <a:rPr lang="en-US" sz="2000" dirty="0">
                <a:latin typeface="Arial"/>
                <a:cs typeface="Arial"/>
              </a:rPr>
              <a:t>{ </a:t>
            </a:r>
            <a:r>
              <a:rPr lang="en-US" sz="2000" dirty="0">
                <a:solidFill>
                  <a:srgbClr val="FF33CC"/>
                </a:solidFill>
                <a:latin typeface="Arial"/>
                <a:cs typeface="Arial"/>
              </a:rPr>
              <a:t>count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sz="2000" dirty="0">
                <a:latin typeface="Arial"/>
                <a:cs typeface="Arial"/>
              </a:rPr>
              <a:t>[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maker</a:t>
            </a:r>
            <a:r>
              <a:rPr lang="en-US" sz="2000" dirty="0">
                <a:latin typeface="Arial"/>
                <a:cs typeface="Arial"/>
              </a:rPr>
              <a:t>/text()=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cid</a:t>
            </a:r>
            <a:r>
              <a:rPr lang="en-US" sz="2000" dirty="0">
                <a:latin typeface="Arial"/>
                <a:cs typeface="Arial"/>
              </a:rPr>
              <a:t>/text()][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/text()&gt;100]</a:t>
            </a:r>
            <a:r>
              <a:rPr lang="en-US" sz="2000" dirty="0" smtClean="0">
                <a:latin typeface="Arial"/>
                <a:cs typeface="Arial"/>
              </a:rPr>
              <a:t>)}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numberOfExpensiveProducts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proudCompany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3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SQL and XQuery Side-by-side</a:t>
            </a:r>
          </a:p>
        </p:txBody>
      </p:sp>
      <p:sp>
        <p:nvSpPr>
          <p:cNvPr id="67588" name="Text Box 3"/>
          <p:cNvSpPr txBox="1">
            <a:spLocks noChangeArrowheads="1"/>
          </p:cNvSpPr>
          <p:nvPr/>
        </p:nvSpPr>
        <p:spPr bwMode="auto">
          <a:xfrm>
            <a:off x="152400" y="1524000"/>
            <a:ext cx="90808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companies with at least 30 products, and their average price</a:t>
            </a: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152400" y="2009775"/>
            <a:ext cx="3553352" cy="1631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/>
                <a:cs typeface="Arial"/>
              </a:rPr>
              <a:t>SELECT </a:t>
            </a:r>
            <a:r>
              <a:rPr lang="en-US" sz="2000" dirty="0" err="1">
                <a:latin typeface="Arial"/>
                <a:cs typeface="Arial"/>
              </a:rPr>
              <a:t>y.name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dirty="0" err="1">
                <a:latin typeface="Arial"/>
                <a:cs typeface="Arial"/>
              </a:rPr>
              <a:t>avg(x.price</a:t>
            </a:r>
            <a:r>
              <a:rPr lang="en-US" sz="2000" dirty="0">
                <a:latin typeface="Arial"/>
                <a:cs typeface="Arial"/>
              </a:rPr>
              <a:t>)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FROM Product </a:t>
            </a:r>
            <a:r>
              <a:rPr lang="en-US" sz="2000" dirty="0" err="1">
                <a:latin typeface="Arial"/>
                <a:cs typeface="Arial"/>
              </a:rPr>
              <a:t>x</a:t>
            </a:r>
            <a:r>
              <a:rPr lang="en-US" sz="2000" dirty="0">
                <a:latin typeface="Arial"/>
                <a:cs typeface="Arial"/>
              </a:rPr>
              <a:t>, Company </a:t>
            </a:r>
            <a:r>
              <a:rPr lang="en-US" sz="2000" dirty="0" err="1">
                <a:latin typeface="Arial"/>
                <a:cs typeface="Arial"/>
              </a:rPr>
              <a:t>y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WHERE </a:t>
            </a:r>
            <a:r>
              <a:rPr lang="en-US" sz="2000" dirty="0" err="1">
                <a:latin typeface="Arial"/>
                <a:cs typeface="Arial"/>
              </a:rPr>
              <a:t>x.maker</a:t>
            </a:r>
            <a:r>
              <a:rPr lang="en-US" sz="2000" dirty="0">
                <a:latin typeface="Arial"/>
                <a:cs typeface="Arial"/>
              </a:rPr>
              <a:t>=</a:t>
            </a:r>
            <a:r>
              <a:rPr lang="en-US" sz="2000" dirty="0" err="1">
                <a:latin typeface="Arial"/>
                <a:cs typeface="Arial"/>
              </a:rPr>
              <a:t>y.cid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GROUP BY </a:t>
            </a:r>
            <a:r>
              <a:rPr lang="en-US" sz="2000" dirty="0" err="1">
                <a:latin typeface="Arial"/>
                <a:cs typeface="Arial"/>
              </a:rPr>
              <a:t>y.cid</a:t>
            </a:r>
            <a:r>
              <a:rPr lang="en-US" sz="2000" dirty="0">
                <a:latin typeface="Arial"/>
                <a:cs typeface="Arial"/>
              </a:rPr>
              <a:t>, </a:t>
            </a:r>
            <a:r>
              <a:rPr lang="en-US" sz="2000" dirty="0" err="1">
                <a:latin typeface="Arial"/>
                <a:cs typeface="Arial"/>
              </a:rPr>
              <a:t>y.name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HAVING count(*) &gt; 30</a:t>
            </a: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2971800" y="3459301"/>
            <a:ext cx="6024105" cy="31700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u="sng" dirty="0">
                <a:latin typeface="Arial"/>
                <a:cs typeface="Arial"/>
              </a:rPr>
              <a:t>FOR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dirty="0" smtClean="0">
                <a:latin typeface="Arial"/>
                <a:cs typeface="Arial"/>
              </a:rPr>
              <a:t>doc(“</a:t>
            </a:r>
            <a:r>
              <a:rPr lang="en-US" sz="2000" dirty="0" err="1">
                <a:latin typeface="Arial"/>
                <a:cs typeface="Arial"/>
              </a:rPr>
              <a:t>db.xml</a:t>
            </a:r>
            <a:r>
              <a:rPr lang="en-US" sz="2000" dirty="0">
                <a:latin typeface="Arial"/>
                <a:cs typeface="Arial"/>
              </a:rPr>
              <a:t>”)/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db,</a:t>
            </a:r>
            <a:b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</a:b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        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Company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u="sng" dirty="0">
                <a:latin typeface="Arial"/>
                <a:cs typeface="Arial"/>
              </a:rPr>
              <a:t>LET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$p</a:t>
            </a:r>
            <a:r>
              <a:rPr lang="en-US" sz="2000" dirty="0">
                <a:latin typeface="Arial"/>
                <a:cs typeface="Arial"/>
              </a:rPr>
              <a:t> :=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$r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Product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row</a:t>
            </a:r>
            <a:r>
              <a:rPr lang="en-US" sz="2000" dirty="0">
                <a:latin typeface="Arial"/>
                <a:cs typeface="Arial"/>
              </a:rPr>
              <a:t>[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maker</a:t>
            </a:r>
            <a:r>
              <a:rPr lang="en-US" sz="2000" dirty="0">
                <a:latin typeface="Arial"/>
                <a:cs typeface="Arial"/>
              </a:rPr>
              <a:t>/text()=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cid</a:t>
            </a:r>
            <a:r>
              <a:rPr lang="en-US" sz="2000" dirty="0">
                <a:latin typeface="Arial"/>
                <a:cs typeface="Arial"/>
              </a:rPr>
              <a:t>/text()]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u="sng" dirty="0"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FF33CC"/>
                </a:solidFill>
                <a:latin typeface="Arial"/>
                <a:cs typeface="Arial"/>
              </a:rPr>
              <a:t>count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$p</a:t>
            </a:r>
            <a:r>
              <a:rPr lang="en-US" sz="2000" dirty="0">
                <a:latin typeface="Arial"/>
                <a:cs typeface="Arial"/>
              </a:rPr>
              <a:t>) &gt; 30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u="sng" dirty="0">
                <a:latin typeface="Arial"/>
                <a:cs typeface="Arial"/>
              </a:rPr>
              <a:t>RETURN</a:t>
            </a:r>
            <a:r>
              <a:rPr lang="en-US" sz="2000" dirty="0">
                <a:latin typeface="Arial"/>
                <a:cs typeface="Arial"/>
              </a:rPr>
              <a:t>  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theCompany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companyName</a:t>
            </a:r>
            <a:r>
              <a:rPr lang="en-US" sz="2000" dirty="0">
                <a:latin typeface="Arial"/>
                <a:cs typeface="Arial"/>
              </a:rPr>
              <a:t>&gt; {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$y/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name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/</a:t>
            </a:r>
            <a:r>
              <a:rPr lang="en-US" sz="2000" dirty="0">
                <a:latin typeface="Arial"/>
                <a:cs typeface="Arial"/>
              </a:rPr>
              <a:t>text()  }  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companyName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&lt;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avgPrice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 err="1">
                <a:solidFill>
                  <a:srgbClr val="FF33CC"/>
                </a:solidFill>
                <a:latin typeface="Arial"/>
                <a:cs typeface="Arial"/>
              </a:rPr>
              <a:t>avg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$p</a:t>
            </a:r>
            <a:r>
              <a:rPr lang="en-US" sz="2000" dirty="0">
                <a:latin typeface="Arial"/>
                <a:cs typeface="Arial"/>
              </a:rPr>
              <a:t>/</a:t>
            </a:r>
            <a:r>
              <a:rPr lang="en-US" sz="2000" dirty="0">
                <a:solidFill>
                  <a:srgbClr val="006600"/>
                </a:solidFill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/text())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avgPrice</a:t>
            </a:r>
            <a:r>
              <a:rPr lang="en-US" sz="2000" dirty="0">
                <a:latin typeface="Arial"/>
                <a:cs typeface="Arial"/>
              </a:rPr>
              <a:t>&gt;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&lt;/</a:t>
            </a:r>
            <a:r>
              <a:rPr lang="en-US" sz="2000" dirty="0" err="1">
                <a:solidFill>
                  <a:srgbClr val="006600"/>
                </a:solidFill>
                <a:latin typeface="Arial"/>
                <a:cs typeface="Arial"/>
              </a:rPr>
              <a:t>theCompany</a:t>
            </a:r>
            <a:r>
              <a:rPr lang="en-US" sz="2000" dirty="0">
                <a:latin typeface="Arial"/>
                <a:cs typeface="Arial"/>
              </a:rPr>
              <a:t>&gt;</a:t>
            </a:r>
          </a:p>
        </p:txBody>
      </p:sp>
      <p:sp>
        <p:nvSpPr>
          <p:cNvPr id="274438" name="AutoShape 6"/>
          <p:cNvSpPr>
            <a:spLocks noChangeArrowheads="1"/>
          </p:cNvSpPr>
          <p:nvPr/>
        </p:nvSpPr>
        <p:spPr bwMode="auto">
          <a:xfrm>
            <a:off x="152400" y="4648200"/>
            <a:ext cx="2467028" cy="649188"/>
          </a:xfrm>
          <a:prstGeom prst="wedgeEllipseCallout">
            <a:avLst>
              <a:gd name="adj1" fmla="val 99089"/>
              <a:gd name="adj2" fmla="val -8628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A collection</a:t>
            </a:r>
          </a:p>
        </p:txBody>
      </p:sp>
      <p:sp>
        <p:nvSpPr>
          <p:cNvPr id="274439" name="AutoShape 7"/>
          <p:cNvSpPr>
            <a:spLocks noChangeArrowheads="1"/>
          </p:cNvSpPr>
          <p:nvPr/>
        </p:nvSpPr>
        <p:spPr bwMode="auto">
          <a:xfrm>
            <a:off x="3949700" y="2667000"/>
            <a:ext cx="2477735" cy="649188"/>
          </a:xfrm>
          <a:prstGeom prst="wedgeEllipseCallout">
            <a:avLst>
              <a:gd name="adj1" fmla="val -49298"/>
              <a:gd name="adj2" fmla="val 14058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An element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CDAE77-BA4C-E64E-B922-0280D181355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7" grpId="0" animBg="1" autoUpdateAnimBg="0"/>
      <p:bldP spid="274438" grpId="0" animBg="1" autoUpdateAnimBg="0"/>
      <p:bldP spid="274439" grpId="0" animBg="1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3899</TotalTime>
  <Words>1407</Words>
  <Application>Microsoft Macintosh PowerPoint</Application>
  <PresentationFormat>On-screen Show (4:3)</PresentationFormat>
  <Paragraphs>239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Default Design</vt:lpstr>
      <vt:lpstr>Introduction to Data Management CSE 344</vt:lpstr>
      <vt:lpstr>XQuery</vt:lpstr>
      <vt:lpstr>FLWR (“Flower”) Expressions</vt:lpstr>
      <vt:lpstr>FOR-WHERE-RETURN</vt:lpstr>
      <vt:lpstr>FOR-WHERE-RETURN</vt:lpstr>
      <vt:lpstr>COERCION</vt:lpstr>
      <vt:lpstr>FOR-WHERE-RETURN</vt:lpstr>
      <vt:lpstr>FOR-WHERE-RETURN</vt:lpstr>
      <vt:lpstr>Nesting</vt:lpstr>
      <vt:lpstr>Result</vt:lpstr>
      <vt:lpstr>Aggregates</vt:lpstr>
      <vt:lpstr>Aggregates</vt:lpstr>
      <vt:lpstr>Eliminating Duplicates</vt:lpstr>
      <vt:lpstr>The LET Clause</vt:lpstr>
      <vt:lpstr>Flattening</vt:lpstr>
      <vt:lpstr>Re-grouping</vt:lpstr>
      <vt:lpstr>Re-grouping</vt:lpstr>
      <vt:lpstr>Re-grouping</vt:lpstr>
      <vt:lpstr>SQL and XQuery Side-by-side</vt:lpstr>
      <vt:lpstr>XQuery’s Answer</vt:lpstr>
      <vt:lpstr>Producing a Well-Formed Answer</vt:lpstr>
      <vt:lpstr>XQuery’s Answer</vt:lpstr>
      <vt:lpstr>SQL and XQuery Side-by-side</vt:lpstr>
      <vt:lpstr>PowerPoint Presentation</vt:lpstr>
      <vt:lpstr>SQL and XQuery Side-by-side</vt:lpstr>
      <vt:lpstr>SQL and XQuery Side-by-side</vt:lpstr>
    </vt:vector>
  </TitlesOfParts>
  <Company>cse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09:</dc:title>
  <dc:creator>Dan</dc:creator>
  <cp:lastModifiedBy>Dan Suciu</cp:lastModifiedBy>
  <cp:revision>265</cp:revision>
  <dcterms:created xsi:type="dcterms:W3CDTF">2011-10-26T23:25:59Z</dcterms:created>
  <dcterms:modified xsi:type="dcterms:W3CDTF">2012-02-03T17:03:28Z</dcterms:modified>
</cp:coreProperties>
</file>