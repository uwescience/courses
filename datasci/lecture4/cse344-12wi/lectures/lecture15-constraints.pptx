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66" r:id="rId3"/>
    <p:sldId id="422" r:id="rId4"/>
    <p:sldId id="423" r:id="rId5"/>
    <p:sldId id="448" r:id="rId6"/>
    <p:sldId id="415" r:id="rId7"/>
    <p:sldId id="416" r:id="rId8"/>
    <p:sldId id="417" r:id="rId9"/>
    <p:sldId id="418" r:id="rId10"/>
    <p:sldId id="419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63" r:id="rId21"/>
    <p:sldId id="458" r:id="rId22"/>
    <p:sldId id="461" r:id="rId23"/>
    <p:sldId id="464" r:id="rId24"/>
    <p:sldId id="459" r:id="rId25"/>
    <p:sldId id="460" r:id="rId26"/>
    <p:sldId id="462" r:id="rId27"/>
    <p:sldId id="465" r:id="rId28"/>
  </p:sldIdLst>
  <p:sldSz cx="9144000" cy="6858000" type="screen4x3"/>
  <p:notesSz cx="6934200" cy="9080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26" autoAdjust="0"/>
  </p:normalViewPr>
  <p:slideViewPr>
    <p:cSldViewPr>
      <p:cViewPr varScale="1">
        <p:scale>
          <a:sx n="123" d="100"/>
          <a:sy n="123" d="100"/>
        </p:scale>
        <p:origin x="-203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handoutMaster" Target="handoutMasters/handoutMaster1.xml"/><Relationship Id="rId31" Type="http://schemas.openxmlformats.org/officeDocument/2006/relationships/printerSettings" Target="printerSettings/printerSettings1.bin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8FB38D-7186-5C40-BCF7-467AE57A7EB2}" type="slidenum">
              <a:rPr lang="en-US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77514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13238"/>
            <a:ext cx="50863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7843EFC3-FD60-0C43-869A-FE6512C0FBB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780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D92C3-05F8-A342-A0A6-B1E55E2FEE5C}" type="slidenum">
              <a:rPr lang="en-US"/>
              <a:pPr/>
              <a:t>11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43B37-5AAF-E945-81EB-C87AE0CEF715}" type="slidenum">
              <a:rPr lang="en-US"/>
              <a:pPr/>
              <a:t>12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BACDB3-9931-1D45-99AF-49A738EB585C}" type="slidenum">
              <a:rPr lang="en-US"/>
              <a:pPr/>
              <a:t>13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B22566-6806-7849-A78E-1FBF04FEEBAF}" type="slidenum">
              <a:rPr lang="en-US"/>
              <a:pPr/>
              <a:t>14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973D1-81F1-4846-909A-2CD60E7FFE04}" type="slidenum">
              <a:rPr lang="en-US"/>
              <a:pPr/>
              <a:t>15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F8108E-6A2F-AB41-9140-21000EAF28A1}" type="slidenum">
              <a:rPr lang="en-US"/>
              <a:pPr/>
              <a:t>16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CD9A49-4AA6-2A42-8271-3A08439C8456}" type="slidenum">
              <a:rPr lang="en-US"/>
              <a:pPr/>
              <a:t>17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2AE83C-A6C8-654C-963C-28684EE11C0B}" type="slidenum">
              <a:rPr lang="en-US"/>
              <a:pPr/>
              <a:t>18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701226-2C5B-0647-9A40-D25671E34C99}" type="slidenum">
              <a:rPr lang="en-US"/>
              <a:pPr/>
              <a:t>19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21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22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err="1" smtClean="0"/>
              <a:t>Tuple</a:t>
            </a:r>
            <a:r>
              <a:rPr lang="en-US" dirty="0" smtClean="0"/>
              <a:t>-base</a:t>
            </a:r>
            <a:r>
              <a:rPr lang="en-US" baseline="0" dirty="0" smtClean="0"/>
              <a:t>d constraints are checked more often than attribute-based constraints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23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B87E59-EEF6-F444-82DA-388422BE5224}" type="slidenum">
              <a:rPr lang="en-US"/>
              <a:pPr/>
              <a:t>24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Constraints on attributes are only checked when the value of the attribute changes (so they could potentially be violated by other changes).</a:t>
            </a:r>
          </a:p>
          <a:p>
            <a:r>
              <a:rPr lang="en-US" dirty="0" smtClean="0"/>
              <a:t>So, unlike a FK,</a:t>
            </a:r>
            <a:r>
              <a:rPr lang="en-US" baseline="0" dirty="0" smtClean="0"/>
              <a:t> if Product changes, this check won’t catch </a:t>
            </a:r>
            <a:r>
              <a:rPr lang="en-US" baseline="0" smtClean="0"/>
              <a:t>the problem.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F590DB-0B2B-724D-B68C-7266EF238A9D}" type="slidenum">
              <a:rPr lang="en-US"/>
              <a:pPr/>
              <a:t>25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The DBMS would have to deduce whether a change can affect the truthfulness of an assertion.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60EC9-28B9-724D-B414-483E6C299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8BAC5-3AF5-5B4E-9C58-590DDCBC85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BCB6B-399E-6D43-AFB7-CC584205CB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0CF6A-DC92-854A-AD93-BABF4A5A3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657D9-BF5B-974C-B559-E9CA1D7A6D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A30A0-C220-FB45-8E4F-200311C47D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8E962-9E79-BD46-9431-C926E7798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DA4CB-C2FC-B74C-B2E9-8DA569012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0886-051F-854D-8738-32EF3526E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9BDF0-02DA-DC40-B07D-B7ACEA001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1E888-0934-224C-A567-CB89030EEF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fld id="{DED2216E-FF1B-E640-BC89-F624A89103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Introduction to Data Management</a:t>
            </a:r>
            <a:br>
              <a:rPr lang="en-US" sz="3600" dirty="0" smtClean="0"/>
            </a:br>
            <a:r>
              <a:rPr lang="en-US" sz="3600" dirty="0" smtClean="0"/>
              <a:t>CSE 344</a:t>
            </a:r>
            <a:endParaRPr lang="en-US" sz="3600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/>
          <a:lstStyle/>
          <a:p>
            <a:pPr eaLnBrk="1" hangingPunct="1"/>
            <a:r>
              <a:rPr lang="en-US" dirty="0" smtClean="0"/>
              <a:t>Lecture 15: Constraints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60EC9-28B9-724D-B414-483E6C299A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Webquiz</a:t>
            </a:r>
            <a:r>
              <a:rPr lang="en-US" dirty="0" smtClean="0"/>
              <a:t> due tomorrow!</a:t>
            </a:r>
            <a:br>
              <a:rPr lang="en-US" dirty="0" smtClean="0"/>
            </a:br>
            <a:r>
              <a:rPr lang="en-US" dirty="0" smtClean="0"/>
              <a:t>(Next week: last </a:t>
            </a:r>
            <a:r>
              <a:rPr lang="en-US" dirty="0" err="1" smtClean="0"/>
              <a:t>Webquiz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HW 5 is posted, due in 2 weeks (Friday)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9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We?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8610600" cy="4114800"/>
          </a:xfrm>
        </p:spPr>
        <p:txBody>
          <a:bodyPr/>
          <a:lstStyle/>
          <a:p>
            <a:r>
              <a:rPr lang="en-US" sz="2400" dirty="0" smtClean="0"/>
              <a:t>We know quite a bit about using a DBMS</a:t>
            </a:r>
          </a:p>
          <a:p>
            <a:pPr lvl="1"/>
            <a:r>
              <a:rPr lang="en-US" sz="2000" dirty="0" smtClean="0"/>
              <a:t>Real</a:t>
            </a:r>
            <a:r>
              <a:rPr lang="en-US" sz="2000" dirty="0" smtClean="0"/>
              <a:t>-world </a:t>
            </a:r>
            <a:r>
              <a:rPr lang="en-US" sz="2000" dirty="0" smtClean="0"/>
              <a:t>problem 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dirty="0" smtClean="0"/>
              <a:t>ER </a:t>
            </a:r>
            <a:r>
              <a:rPr lang="en-US" sz="2000" dirty="0" smtClean="0"/>
              <a:t>diagram</a:t>
            </a:r>
          </a:p>
          <a:p>
            <a:pPr lvl="1"/>
            <a:r>
              <a:rPr lang="en-US" sz="2000" dirty="0" smtClean="0"/>
              <a:t>ER </a:t>
            </a:r>
            <a:r>
              <a:rPr lang="en-US" sz="2000" dirty="0" smtClean="0"/>
              <a:t>diagram 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dirty="0" smtClean="0"/>
              <a:t>Relational Schema</a:t>
            </a:r>
            <a:endParaRPr lang="en-US" sz="2000" dirty="0" smtClean="0"/>
          </a:p>
          <a:p>
            <a:pPr lvl="1"/>
            <a:r>
              <a:rPr lang="en-US" sz="2000" dirty="0" smtClean="0"/>
              <a:t>Relational Schema 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dirty="0" smtClean="0"/>
              <a:t>Create tables, insert tuples, query database</a:t>
            </a:r>
          </a:p>
          <a:p>
            <a:pPr lvl="1"/>
            <a:r>
              <a:rPr lang="en-US" sz="2000" dirty="0" smtClean="0"/>
              <a:t>We also know </a:t>
            </a:r>
            <a:r>
              <a:rPr lang="en-US" sz="2000" dirty="0" smtClean="0"/>
              <a:t>a bit about tuning: indexing</a:t>
            </a:r>
          </a:p>
          <a:p>
            <a:r>
              <a:rPr lang="en-US" sz="2400" dirty="0" smtClean="0"/>
              <a:t>We know a bit about internals</a:t>
            </a:r>
          </a:p>
          <a:p>
            <a:pPr lvl="1"/>
            <a:r>
              <a:rPr lang="en-US" sz="2000" dirty="0" smtClean="0"/>
              <a:t>Client/server, relational algebra, query evaluation</a:t>
            </a:r>
          </a:p>
          <a:p>
            <a:pPr lvl="1"/>
            <a:r>
              <a:rPr lang="en-US" sz="2000" dirty="0" smtClean="0"/>
              <a:t>Some database theory: </a:t>
            </a:r>
            <a:r>
              <a:rPr lang="en-US" sz="2000" dirty="0" err="1" smtClean="0"/>
              <a:t>datalog</a:t>
            </a:r>
            <a:r>
              <a:rPr lang="en-US" sz="2000" dirty="0" smtClean="0"/>
              <a:t>, relational calculus</a:t>
            </a:r>
          </a:p>
          <a:p>
            <a:r>
              <a:rPr lang="en-US" sz="2400" dirty="0" smtClean="0"/>
              <a:t>We also learned a bit about XML and </a:t>
            </a:r>
            <a:r>
              <a:rPr lang="en-US" sz="2400" dirty="0" err="1" smtClean="0"/>
              <a:t>XQuery</a:t>
            </a:r>
            <a:endParaRPr lang="en-US" sz="2400" dirty="0" smtClean="0"/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Few Lectures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will learn more about </a:t>
            </a:r>
            <a:r>
              <a:rPr lang="en-US" b="1" dirty="0" smtClean="0"/>
              <a:t>good </a:t>
            </a:r>
            <a:r>
              <a:rPr lang="en-US" dirty="0" smtClean="0"/>
              <a:t>schemas</a:t>
            </a:r>
          </a:p>
          <a:p>
            <a:endParaRPr lang="en-US" dirty="0" smtClean="0"/>
          </a:p>
          <a:p>
            <a:r>
              <a:rPr lang="en-US" dirty="0" smtClean="0"/>
              <a:t>Today</a:t>
            </a:r>
            <a:r>
              <a:rPr lang="en-US" dirty="0" smtClean="0"/>
              <a:t>: Constraints and data integrity</a:t>
            </a:r>
          </a:p>
          <a:p>
            <a:endParaRPr lang="en-US" dirty="0" smtClean="0"/>
          </a:p>
          <a:p>
            <a:r>
              <a:rPr lang="en-US" dirty="0" smtClean="0"/>
              <a:t>Monday: </a:t>
            </a:r>
            <a:r>
              <a:rPr lang="en-US" dirty="0" smtClean="0"/>
              <a:t>Schema normalization</a:t>
            </a:r>
          </a:p>
          <a:p>
            <a:endParaRPr lang="en-US" dirty="0" smtClean="0"/>
          </a:p>
          <a:p>
            <a:r>
              <a:rPr lang="en-US" dirty="0" smtClean="0"/>
              <a:t>Wednesday: </a:t>
            </a:r>
            <a:r>
              <a:rPr lang="en-US" dirty="0" smtClean="0"/>
              <a:t>Views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Integrity Constraints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581400"/>
            <a:ext cx="7772400" cy="2514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Why and how?</a:t>
            </a:r>
          </a:p>
          <a:p>
            <a:r>
              <a:rPr lang="en-US" sz="2400" dirty="0" smtClean="0"/>
              <a:t>Why: ICs </a:t>
            </a:r>
            <a:r>
              <a:rPr lang="en-US" sz="2400" dirty="0" smtClean="0"/>
              <a:t>help prevent entry of incorrect information</a:t>
            </a:r>
          </a:p>
          <a:p>
            <a:r>
              <a:rPr lang="en-US" sz="2400" dirty="0" smtClean="0"/>
              <a:t>How: DBMS </a:t>
            </a:r>
            <a:r>
              <a:rPr lang="en-US" sz="2400" dirty="0" smtClean="0"/>
              <a:t>enforces integrity constraints</a:t>
            </a:r>
          </a:p>
          <a:p>
            <a:pPr lvl="1"/>
            <a:r>
              <a:rPr lang="en-US" sz="2000" dirty="0" smtClean="0"/>
              <a:t>Allows only legal database instances (i.e., those that satisfy all constraints) to exist</a:t>
            </a:r>
          </a:p>
          <a:p>
            <a:pPr lvl="1"/>
            <a:r>
              <a:rPr lang="en-US" sz="2000" dirty="0" smtClean="0"/>
              <a:t>Ensures that all necessary checks are always performed and avoids duplicating the verification logic in each application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6758B8-175C-0241-A47D-6800F688EEB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 flipH="1">
            <a:off x="990600" y="1981200"/>
            <a:ext cx="7315200" cy="120032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An integrity constraint is a condition specified on a database schema that restricts the data that can be stored in an instance of the database.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Constraints in E/R Diagrams</a:t>
            </a: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68789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Finding constraints is part of the modeling process. </a:t>
            </a:r>
          </a:p>
          <a:p>
            <a:pPr eaLnBrk="0" hangingPunct="0"/>
            <a:r>
              <a:rPr lang="en-US" dirty="0">
                <a:latin typeface="Arial"/>
                <a:cs typeface="Arial"/>
              </a:rPr>
              <a:t>Commonly used constraints:</a:t>
            </a:r>
          </a:p>
          <a:p>
            <a:pPr eaLnBrk="0" hangingPunct="0"/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Keys: </a:t>
            </a:r>
            <a:r>
              <a:rPr lang="en-US" dirty="0">
                <a:latin typeface="Arial"/>
                <a:cs typeface="Arial"/>
              </a:rPr>
              <a:t>social security number uniquely identifies a person.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Single-value constraints:  </a:t>
            </a:r>
            <a:r>
              <a:rPr lang="en-US" dirty="0">
                <a:latin typeface="Arial"/>
                <a:cs typeface="Arial"/>
              </a:rPr>
              <a:t>a person can have only one father.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Referential integrity constraints: </a:t>
            </a:r>
            <a:r>
              <a:rPr lang="en-US" dirty="0">
                <a:latin typeface="Arial"/>
                <a:cs typeface="Arial"/>
              </a:rPr>
              <a:t>if you work for a company, it</a:t>
            </a:r>
          </a:p>
          <a:p>
            <a:pPr eaLnBrk="0" hangingPunct="0"/>
            <a:r>
              <a:rPr lang="en-US" dirty="0">
                <a:latin typeface="Arial"/>
                <a:cs typeface="Arial"/>
              </a:rPr>
              <a:t>                                                        must exist in the database.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Other constraints:  </a:t>
            </a:r>
            <a:r>
              <a:rPr lang="en-US" dirty="0">
                <a:latin typeface="Arial"/>
                <a:cs typeface="Arial"/>
              </a:rPr>
              <a:t>peoples’ ages are between 0 and 150.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 Keys in E/R Diagrams</a:t>
            </a:r>
          </a:p>
        </p:txBody>
      </p:sp>
      <p:sp>
        <p:nvSpPr>
          <p:cNvPr id="60420" name="Oval 3"/>
          <p:cNvSpPr>
            <a:spLocks noChangeArrowheads="1"/>
          </p:cNvSpPr>
          <p:nvPr/>
        </p:nvSpPr>
        <p:spPr bwMode="auto">
          <a:xfrm>
            <a:off x="1295400" y="60198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address</a:t>
            </a:r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3886200" y="5943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name</a:t>
            </a:r>
          </a:p>
        </p:txBody>
      </p:sp>
      <p:sp>
        <p:nvSpPr>
          <p:cNvPr id="60422" name="Oval 5"/>
          <p:cNvSpPr>
            <a:spLocks noChangeArrowheads="1"/>
          </p:cNvSpPr>
          <p:nvPr/>
        </p:nvSpPr>
        <p:spPr bwMode="auto">
          <a:xfrm>
            <a:off x="6553200" y="5943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 err="1">
                <a:latin typeface="Arial"/>
                <a:cs typeface="Arial"/>
              </a:rPr>
              <a:t>ssn</a:t>
            </a:r>
            <a:endParaRPr lang="en-US" u="sng" dirty="0">
              <a:latin typeface="Arial"/>
              <a:cs typeface="Arial"/>
            </a:endParaRPr>
          </a:p>
        </p:txBody>
      </p:sp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3124200" y="4724400"/>
            <a:ext cx="2514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Person</a:t>
            </a:r>
          </a:p>
        </p:txBody>
      </p:sp>
      <p:sp>
        <p:nvSpPr>
          <p:cNvPr id="60424" name="Rectangle 7"/>
          <p:cNvSpPr>
            <a:spLocks noChangeArrowheads="1"/>
          </p:cNvSpPr>
          <p:nvPr/>
        </p:nvSpPr>
        <p:spPr bwMode="auto">
          <a:xfrm>
            <a:off x="3429000" y="3429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Product</a:t>
            </a:r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3733800" y="16002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>
                <a:latin typeface="Arial"/>
                <a:cs typeface="Arial"/>
              </a:rPr>
              <a:t>name</a:t>
            </a:r>
          </a:p>
        </p:txBody>
      </p:sp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5334000" y="16002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>
                <a:latin typeface="Arial"/>
                <a:cs typeface="Arial"/>
              </a:rPr>
              <a:t>category</a:t>
            </a:r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2590800" y="2514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price</a:t>
            </a:r>
          </a:p>
        </p:txBody>
      </p:sp>
      <p:sp>
        <p:nvSpPr>
          <p:cNvPr id="60428" name="Line 11"/>
          <p:cNvSpPr>
            <a:spLocks noChangeShapeType="1"/>
          </p:cNvSpPr>
          <p:nvPr/>
        </p:nvSpPr>
        <p:spPr bwMode="auto">
          <a:xfrm flipH="1" flipV="1">
            <a:off x="3733800" y="3124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29" name="Line 12"/>
          <p:cNvSpPr>
            <a:spLocks noChangeShapeType="1"/>
          </p:cNvSpPr>
          <p:nvPr/>
        </p:nvSpPr>
        <p:spPr bwMode="auto">
          <a:xfrm flipV="1">
            <a:off x="4495800" y="2286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0" name="Line 13"/>
          <p:cNvSpPr>
            <a:spLocks noChangeShapeType="1"/>
          </p:cNvSpPr>
          <p:nvPr/>
        </p:nvSpPr>
        <p:spPr bwMode="auto">
          <a:xfrm flipV="1">
            <a:off x="5105400" y="2286000"/>
            <a:ext cx="762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1" name="Line 14"/>
          <p:cNvSpPr>
            <a:spLocks noChangeShapeType="1"/>
          </p:cNvSpPr>
          <p:nvPr/>
        </p:nvSpPr>
        <p:spPr bwMode="auto">
          <a:xfrm flipH="1">
            <a:off x="2590800" y="54864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>
            <a:off x="4267200" y="5486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3" name="Line 16"/>
          <p:cNvSpPr>
            <a:spLocks noChangeShapeType="1"/>
          </p:cNvSpPr>
          <p:nvPr/>
        </p:nvSpPr>
        <p:spPr bwMode="auto">
          <a:xfrm>
            <a:off x="5029200" y="54864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7" name="Text Box 20"/>
          <p:cNvSpPr txBox="1">
            <a:spLocks noChangeArrowheads="1"/>
          </p:cNvSpPr>
          <p:nvPr/>
        </p:nvSpPr>
        <p:spPr bwMode="auto">
          <a:xfrm>
            <a:off x="232406" y="3429000"/>
            <a:ext cx="334899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No formal way 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to specify multiple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keys in E/R diagrams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0438" name="Text Box 21"/>
          <p:cNvSpPr txBox="1">
            <a:spLocks noChangeArrowheads="1"/>
          </p:cNvSpPr>
          <p:nvPr/>
        </p:nvSpPr>
        <p:spPr bwMode="auto">
          <a:xfrm>
            <a:off x="669925" y="1946275"/>
            <a:ext cx="15875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Underline: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 Value Constraints</a:t>
            </a:r>
          </a:p>
        </p:txBody>
      </p:sp>
      <p:sp>
        <p:nvSpPr>
          <p:cNvPr id="61444" name="AutoShape 3"/>
          <p:cNvSpPr>
            <a:spLocks noChangeAspect="1" noChangeArrowheads="1"/>
          </p:cNvSpPr>
          <p:nvPr/>
        </p:nvSpPr>
        <p:spPr bwMode="auto">
          <a:xfrm>
            <a:off x="3659187" y="2590800"/>
            <a:ext cx="1749425" cy="83185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  <a:normAutofit fontScale="92500" lnSpcReduction="10000"/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1445" name="Line 4"/>
          <p:cNvSpPr>
            <a:spLocks noChangeAspect="1" noChangeShapeType="1"/>
          </p:cNvSpPr>
          <p:nvPr/>
        </p:nvSpPr>
        <p:spPr bwMode="auto">
          <a:xfrm flipH="1">
            <a:off x="3113087" y="3006725"/>
            <a:ext cx="552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6" name="Line 5"/>
          <p:cNvSpPr>
            <a:spLocks noChangeAspect="1" noChangeShapeType="1"/>
          </p:cNvSpPr>
          <p:nvPr/>
        </p:nvSpPr>
        <p:spPr bwMode="auto">
          <a:xfrm>
            <a:off x="5418137" y="3006725"/>
            <a:ext cx="50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7" name="AutoShape 6"/>
          <p:cNvSpPr>
            <a:spLocks noChangeAspect="1" noChangeArrowheads="1"/>
          </p:cNvSpPr>
          <p:nvPr/>
        </p:nvSpPr>
        <p:spPr bwMode="auto">
          <a:xfrm>
            <a:off x="3678237" y="4502150"/>
            <a:ext cx="1749425" cy="83185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  <a:normAutofit fontScale="92500" lnSpcReduction="10000"/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makes</a:t>
            </a:r>
          </a:p>
        </p:txBody>
      </p:sp>
      <p:sp>
        <p:nvSpPr>
          <p:cNvPr id="61448" name="Line 7"/>
          <p:cNvSpPr>
            <a:spLocks noChangeAspect="1" noChangeShapeType="1"/>
          </p:cNvSpPr>
          <p:nvPr/>
        </p:nvSpPr>
        <p:spPr bwMode="auto">
          <a:xfrm flipH="1">
            <a:off x="3132137" y="4918075"/>
            <a:ext cx="552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9" name="Line 8"/>
          <p:cNvSpPr>
            <a:spLocks noChangeAspect="1" noChangeShapeType="1"/>
          </p:cNvSpPr>
          <p:nvPr/>
        </p:nvSpPr>
        <p:spPr bwMode="auto">
          <a:xfrm>
            <a:off x="5437187" y="4918075"/>
            <a:ext cx="50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50" name="Text Box 9"/>
          <p:cNvSpPr txBox="1">
            <a:spLocks noChangeArrowheads="1"/>
          </p:cNvSpPr>
          <p:nvPr/>
        </p:nvSpPr>
        <p:spPr bwMode="auto">
          <a:xfrm>
            <a:off x="4124325" y="3733800"/>
            <a:ext cx="684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normAutofit/>
          </a:bodyPr>
          <a:lstStyle/>
          <a:p>
            <a:r>
              <a:rPr lang="en-US">
                <a:latin typeface="Arial"/>
                <a:cs typeface="Arial"/>
              </a:rPr>
              <a:t>v. s.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Referential Integrity Constraints</a:t>
            </a: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6172200" y="2286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762000" y="2286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Product</a:t>
            </a:r>
          </a:p>
        </p:txBody>
      </p:sp>
      <p:sp>
        <p:nvSpPr>
          <p:cNvPr id="62470" name="AutoShape 5"/>
          <p:cNvSpPr>
            <a:spLocks noChangeArrowheads="1"/>
          </p:cNvSpPr>
          <p:nvPr/>
        </p:nvSpPr>
        <p:spPr bwMode="auto">
          <a:xfrm>
            <a:off x="3810000" y="19050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2471" name="Line 6"/>
          <p:cNvSpPr>
            <a:spLocks noChangeShapeType="1"/>
          </p:cNvSpPr>
          <p:nvPr/>
        </p:nvSpPr>
        <p:spPr bwMode="auto">
          <a:xfrm flipH="1">
            <a:off x="2895600" y="2590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2" name="Line 7"/>
          <p:cNvSpPr>
            <a:spLocks noChangeShapeType="1"/>
          </p:cNvSpPr>
          <p:nvPr/>
        </p:nvSpPr>
        <p:spPr bwMode="auto">
          <a:xfrm>
            <a:off x="5334000" y="2590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3" name="Rectangle 8"/>
          <p:cNvSpPr>
            <a:spLocks noChangeArrowheads="1"/>
          </p:cNvSpPr>
          <p:nvPr/>
        </p:nvSpPr>
        <p:spPr bwMode="auto">
          <a:xfrm>
            <a:off x="6172200" y="48006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2474" name="Rectangle 9"/>
          <p:cNvSpPr>
            <a:spLocks noChangeArrowheads="1"/>
          </p:cNvSpPr>
          <p:nvPr/>
        </p:nvSpPr>
        <p:spPr bwMode="auto">
          <a:xfrm>
            <a:off x="762000" y="48006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Product</a:t>
            </a:r>
          </a:p>
        </p:txBody>
      </p:sp>
      <p:sp>
        <p:nvSpPr>
          <p:cNvPr id="62475" name="AutoShape 10"/>
          <p:cNvSpPr>
            <a:spLocks noChangeArrowheads="1"/>
          </p:cNvSpPr>
          <p:nvPr/>
        </p:nvSpPr>
        <p:spPr bwMode="auto">
          <a:xfrm>
            <a:off x="3810000" y="44196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makes</a:t>
            </a:r>
          </a:p>
        </p:txBody>
      </p:sp>
      <p:sp>
        <p:nvSpPr>
          <p:cNvPr id="62476" name="Line 11"/>
          <p:cNvSpPr>
            <a:spLocks noChangeShapeType="1"/>
          </p:cNvSpPr>
          <p:nvPr/>
        </p:nvSpPr>
        <p:spPr bwMode="auto">
          <a:xfrm flipH="1">
            <a:off x="2895600" y="5105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7" name="Line 12"/>
          <p:cNvSpPr>
            <a:spLocks noChangeShapeType="1"/>
          </p:cNvSpPr>
          <p:nvPr/>
        </p:nvSpPr>
        <p:spPr bwMode="auto">
          <a:xfrm>
            <a:off x="5334000" y="5105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8" name="Arc 13"/>
          <p:cNvSpPr>
            <a:spLocks noChangeAspect="1"/>
          </p:cNvSpPr>
          <p:nvPr/>
        </p:nvSpPr>
        <p:spPr bwMode="auto">
          <a:xfrm>
            <a:off x="5867400" y="4800600"/>
            <a:ext cx="304800" cy="533400"/>
          </a:xfrm>
          <a:custGeom>
            <a:avLst/>
            <a:gdLst>
              <a:gd name="T0" fmla="*/ 38556 w 24728"/>
              <a:gd name="T1" fmla="*/ 0 h 43200"/>
              <a:gd name="T2" fmla="*/ 0 w 24728"/>
              <a:gd name="T3" fmla="*/ 530585 h 43200"/>
              <a:gd name="T4" fmla="*/ 38556 w 24728"/>
              <a:gd name="T5" fmla="*/ 266700 h 43200"/>
              <a:gd name="T6" fmla="*/ 0 60000 65536"/>
              <a:gd name="T7" fmla="*/ 0 60000 65536"/>
              <a:gd name="T8" fmla="*/ 0 60000 65536"/>
              <a:gd name="T9" fmla="*/ 0 w 24728"/>
              <a:gd name="T10" fmla="*/ 0 h 43200"/>
              <a:gd name="T11" fmla="*/ 24728 w 247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728" h="43200" fill="none" extrusionOk="0">
                <a:moveTo>
                  <a:pt x="3128" y="-1"/>
                </a:moveTo>
                <a:cubicBezTo>
                  <a:pt x="15057" y="0"/>
                  <a:pt x="24728" y="9670"/>
                  <a:pt x="24728" y="21600"/>
                </a:cubicBezTo>
                <a:cubicBezTo>
                  <a:pt x="24728" y="33529"/>
                  <a:pt x="15057" y="43200"/>
                  <a:pt x="3128" y="43200"/>
                </a:cubicBezTo>
                <a:cubicBezTo>
                  <a:pt x="2081" y="43199"/>
                  <a:pt x="1035" y="43123"/>
                  <a:pt x="-1" y="42972"/>
                </a:cubicBezTo>
              </a:path>
              <a:path w="24728" h="43200" stroke="0" extrusionOk="0">
                <a:moveTo>
                  <a:pt x="3128" y="-1"/>
                </a:moveTo>
                <a:cubicBezTo>
                  <a:pt x="15057" y="0"/>
                  <a:pt x="24728" y="9670"/>
                  <a:pt x="24728" y="21600"/>
                </a:cubicBezTo>
                <a:cubicBezTo>
                  <a:pt x="24728" y="33529"/>
                  <a:pt x="15057" y="43200"/>
                  <a:pt x="3128" y="43200"/>
                </a:cubicBezTo>
                <a:cubicBezTo>
                  <a:pt x="2081" y="43199"/>
                  <a:pt x="1035" y="43123"/>
                  <a:pt x="-1" y="42972"/>
                </a:cubicBezTo>
                <a:lnTo>
                  <a:pt x="3128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9" name="Text Box 14"/>
          <p:cNvSpPr txBox="1">
            <a:spLocks noChangeArrowheads="1"/>
          </p:cNvSpPr>
          <p:nvPr/>
        </p:nvSpPr>
        <p:spPr bwMode="auto">
          <a:xfrm>
            <a:off x="1066800" y="3276600"/>
            <a:ext cx="63549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Each product made by at most one company.</a:t>
            </a:r>
          </a:p>
          <a:p>
            <a:r>
              <a:rPr lang="en-US" dirty="0">
                <a:latin typeface="Arial"/>
                <a:cs typeface="Arial"/>
              </a:rPr>
              <a:t>Some products made by no company</a:t>
            </a:r>
          </a:p>
        </p:txBody>
      </p:sp>
      <p:sp>
        <p:nvSpPr>
          <p:cNvPr id="62480" name="Text Box 15"/>
          <p:cNvSpPr txBox="1">
            <a:spLocks noChangeArrowheads="1"/>
          </p:cNvSpPr>
          <p:nvPr/>
        </p:nvSpPr>
        <p:spPr bwMode="auto">
          <a:xfrm>
            <a:off x="935321" y="5786735"/>
            <a:ext cx="6303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Each product made by </a:t>
            </a:r>
            <a:r>
              <a:rPr lang="en-US" i="1" u="sng" dirty="0">
                <a:latin typeface="Arial"/>
                <a:cs typeface="Arial"/>
              </a:rPr>
              <a:t>exactly</a:t>
            </a:r>
            <a:r>
              <a:rPr lang="en-US" dirty="0">
                <a:latin typeface="Arial"/>
                <a:cs typeface="Arial"/>
              </a:rPr>
              <a:t> one company.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Constraints</a:t>
            </a: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6172200" y="33528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762000" y="33528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Product</a:t>
            </a:r>
          </a:p>
        </p:txBody>
      </p:sp>
      <p:sp>
        <p:nvSpPr>
          <p:cNvPr id="63494" name="AutoShape 5"/>
          <p:cNvSpPr>
            <a:spLocks noChangeArrowheads="1"/>
          </p:cNvSpPr>
          <p:nvPr/>
        </p:nvSpPr>
        <p:spPr bwMode="auto">
          <a:xfrm>
            <a:off x="3810000" y="29718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3495" name="Line 6"/>
          <p:cNvSpPr>
            <a:spLocks noChangeShapeType="1"/>
          </p:cNvSpPr>
          <p:nvPr/>
        </p:nvSpPr>
        <p:spPr bwMode="auto">
          <a:xfrm flipH="1">
            <a:off x="28956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3496" name="Line 7"/>
          <p:cNvSpPr>
            <a:spLocks noChangeShapeType="1"/>
          </p:cNvSpPr>
          <p:nvPr/>
        </p:nvSpPr>
        <p:spPr bwMode="auto">
          <a:xfrm>
            <a:off x="53340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3497" name="Text Box 8"/>
          <p:cNvSpPr txBox="1">
            <a:spLocks noChangeArrowheads="1"/>
          </p:cNvSpPr>
          <p:nvPr/>
        </p:nvSpPr>
        <p:spPr bwMode="auto">
          <a:xfrm>
            <a:off x="2955925" y="3089275"/>
            <a:ext cx="8779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&lt;100</a:t>
            </a:r>
          </a:p>
        </p:txBody>
      </p:sp>
      <p:sp>
        <p:nvSpPr>
          <p:cNvPr id="63498" name="Text Box 9"/>
          <p:cNvSpPr txBox="1">
            <a:spLocks noChangeArrowheads="1"/>
          </p:cNvSpPr>
          <p:nvPr/>
        </p:nvSpPr>
        <p:spPr bwMode="auto">
          <a:xfrm>
            <a:off x="2270125" y="5222875"/>
            <a:ext cx="33324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What does this mean ?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84A997-74E6-E54E-9776-7EA16DBC174C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Types of Constraints </a:t>
            </a:r>
            <a:r>
              <a:rPr lang="en-US" dirty="0"/>
              <a:t>in SQL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Constraints in SQL: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Keys, foreign keys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Attribute-level </a:t>
            </a:r>
            <a:r>
              <a:rPr lang="en-US" sz="2400" dirty="0"/>
              <a:t>constraints</a:t>
            </a:r>
          </a:p>
          <a:p>
            <a:pPr eaLnBrk="1" hangingPunct="1"/>
            <a:r>
              <a:rPr lang="en-US" sz="2400" dirty="0" err="1">
                <a:solidFill>
                  <a:srgbClr val="FF0000"/>
                </a:solidFill>
              </a:rPr>
              <a:t>Tuple</a:t>
            </a:r>
            <a:r>
              <a:rPr lang="en-US" sz="2400" dirty="0">
                <a:solidFill>
                  <a:srgbClr val="FF0000"/>
                </a:solidFill>
              </a:rPr>
              <a:t>-level </a:t>
            </a:r>
            <a:r>
              <a:rPr lang="en-US" sz="2400" dirty="0"/>
              <a:t>constraints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Global</a:t>
            </a:r>
            <a:r>
              <a:rPr lang="en-US" sz="2400" dirty="0"/>
              <a:t> constraints: assertions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The more complex the constraint, the harder it is to check and to enforce</a:t>
            </a:r>
          </a:p>
        </p:txBody>
      </p:sp>
      <p:sp>
        <p:nvSpPr>
          <p:cNvPr id="64517" name="AutoShape 4"/>
          <p:cNvSpPr>
            <a:spLocks noChangeArrowheads="1"/>
          </p:cNvSpPr>
          <p:nvPr/>
        </p:nvSpPr>
        <p:spPr bwMode="auto">
          <a:xfrm>
            <a:off x="6324600" y="2209800"/>
            <a:ext cx="2209800" cy="609600"/>
          </a:xfrm>
          <a:prstGeom prst="wedgeEllipseCallout">
            <a:avLst>
              <a:gd name="adj1" fmla="val -130709"/>
              <a:gd name="adj2" fmla="val 11079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simplest</a:t>
            </a:r>
          </a:p>
        </p:txBody>
      </p:sp>
      <p:sp>
        <p:nvSpPr>
          <p:cNvPr id="64518" name="AutoShape 5"/>
          <p:cNvSpPr>
            <a:spLocks noChangeArrowheads="1"/>
          </p:cNvSpPr>
          <p:nvPr/>
        </p:nvSpPr>
        <p:spPr bwMode="auto">
          <a:xfrm>
            <a:off x="6742113" y="3352800"/>
            <a:ext cx="1871234" cy="1168539"/>
          </a:xfrm>
          <a:prstGeom prst="wedgeEllipseCallout">
            <a:avLst>
              <a:gd name="adj1" fmla="val -129167"/>
              <a:gd name="adj2" fmla="val 51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Most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complex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ABB032-C176-8C49-BF7B-8FA8C8B7E616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4419600"/>
            <a:ext cx="16002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OR:</a:t>
            </a:r>
          </a:p>
        </p:txBody>
      </p:sp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1981200" y="2609672"/>
            <a:ext cx="5606673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Product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name CHAR(30)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</a:t>
            </a:r>
            <a:r>
              <a:rPr lang="en-US" dirty="0">
                <a:latin typeface="Arial"/>
                <a:cs typeface="Arial"/>
              </a:rPr>
              <a:t>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VARCHAR(20))</a:t>
            </a:r>
          </a:p>
        </p:txBody>
      </p:sp>
      <p:sp>
        <p:nvSpPr>
          <p:cNvPr id="387077" name="Rectangle 5"/>
          <p:cNvSpPr>
            <a:spLocks noChangeArrowheads="1"/>
          </p:cNvSpPr>
          <p:nvPr/>
        </p:nvSpPr>
        <p:spPr bwMode="auto">
          <a:xfrm>
            <a:off x="1997431" y="4343400"/>
            <a:ext cx="4403369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Product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name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 </a:t>
            </a:r>
            <a:r>
              <a:rPr lang="en-US" dirty="0">
                <a:latin typeface="Arial"/>
                <a:cs typeface="Arial"/>
              </a:rPr>
              <a:t>(name))</a:t>
            </a:r>
          </a:p>
        </p:txBody>
      </p:sp>
      <p:sp>
        <p:nvSpPr>
          <p:cNvPr id="66567" name="Rectangle 6"/>
          <p:cNvSpPr>
            <a:spLocks noChangeArrowheads="1"/>
          </p:cNvSpPr>
          <p:nvPr/>
        </p:nvSpPr>
        <p:spPr bwMode="auto">
          <a:xfrm>
            <a:off x="990600" y="1905000"/>
            <a:ext cx="35717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Product(</a:t>
            </a:r>
            <a:r>
              <a:rPr lang="en-US" u="sng" dirty="0" err="1"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, category)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92508" y="6248400"/>
            <a:ext cx="1905000" cy="457200"/>
          </a:xfrm>
          <a:noFill/>
        </p:spPr>
        <p:txBody>
          <a:bodyPr/>
          <a:lstStyle/>
          <a:p>
            <a:fld id="{82B54602-0B41-D947-A2F7-D22CC6C9DF8F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Keys with Multiple Attributes</a:t>
            </a:r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18092" y="2556808"/>
            <a:ext cx="5144708" cy="1938992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Product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name CHAR(30),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category VARCHAR(20),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price INT,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PRIMARY KEY </a:t>
            </a:r>
            <a:r>
              <a:rPr lang="en-US" sz="2400" dirty="0">
                <a:ea typeface="+mn-ea"/>
                <a:cs typeface="+mn-cs"/>
              </a:rPr>
              <a:t>(name, category))</a:t>
            </a:r>
          </a:p>
        </p:txBody>
      </p:sp>
      <p:graphicFrame>
        <p:nvGraphicFramePr>
          <p:cNvPr id="3891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750384"/>
              </p:ext>
            </p:extLst>
          </p:nvPr>
        </p:nvGraphicFramePr>
        <p:xfrm>
          <a:off x="2057400" y="4800600"/>
          <a:ext cx="4191000" cy="1701801"/>
        </p:xfrm>
        <a:graphic>
          <a:graphicData uri="http://schemas.openxmlformats.org/drawingml/2006/table">
            <a:tbl>
              <a:tblPr/>
              <a:tblGrid>
                <a:gridCol w="1397000"/>
                <a:gridCol w="1397000"/>
                <a:gridCol w="1397000"/>
              </a:tblGrid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42" name="Rectangle 33"/>
          <p:cNvSpPr>
            <a:spLocks noChangeArrowheads="1"/>
          </p:cNvSpPr>
          <p:nvPr/>
        </p:nvSpPr>
        <p:spPr bwMode="auto">
          <a:xfrm>
            <a:off x="990600" y="1905000"/>
            <a:ext cx="43869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Product(</a:t>
            </a:r>
            <a:r>
              <a:rPr lang="en-US" u="sng" dirty="0" err="1">
                <a:latin typeface="Arial"/>
                <a:cs typeface="Arial"/>
              </a:rPr>
              <a:t>name</a:t>
            </a:r>
            <a:r>
              <a:rPr lang="en-US" u="sng" dirty="0">
                <a:latin typeface="Arial"/>
                <a:cs typeface="Arial"/>
              </a:rPr>
              <a:t>, category</a:t>
            </a:r>
            <a:r>
              <a:rPr lang="en-US" dirty="0">
                <a:latin typeface="Arial"/>
                <a:cs typeface="Arial"/>
              </a:rPr>
              <a:t>, price)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Keys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0D13-47C3-5941-AACE-D4CD0CEF8B21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27150" y="2217738"/>
            <a:ext cx="4921250" cy="2676525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Product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	</a:t>
            </a:r>
            <a:r>
              <a:rPr lang="en-US" sz="2400" dirty="0" err="1">
                <a:ea typeface="+mn-ea"/>
                <a:cs typeface="+mn-cs"/>
              </a:rPr>
              <a:t>productID</a:t>
            </a:r>
            <a:r>
              <a:rPr lang="en-US" sz="2400" dirty="0">
                <a:ea typeface="+mn-ea"/>
                <a:cs typeface="+mn-cs"/>
              </a:rPr>
              <a:t>  CHAR(10),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name CHAR(30),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category VARCHAR(20),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price INT,</a:t>
            </a:r>
            <a:br>
              <a:rPr lang="en-US" sz="2400" dirty="0">
                <a:ea typeface="+mn-ea"/>
                <a:cs typeface="+mn-cs"/>
              </a:rPr>
            </a:br>
            <a:r>
              <a:rPr lang="en-US" sz="2400" dirty="0">
                <a:ea typeface="+mn-ea"/>
                <a:cs typeface="+mn-cs"/>
              </a:rPr>
              <a:t>    	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PRIMARY KEY </a:t>
            </a:r>
            <a:r>
              <a:rPr lang="en-US" sz="2400" dirty="0">
                <a:ea typeface="+mn-ea"/>
                <a:cs typeface="+mn-cs"/>
              </a:rPr>
              <a:t>(</a:t>
            </a:r>
            <a:r>
              <a:rPr lang="en-US" sz="2400" dirty="0" err="1">
                <a:ea typeface="+mn-ea"/>
                <a:cs typeface="+mn-cs"/>
              </a:rPr>
              <a:t>productID</a:t>
            </a:r>
            <a:r>
              <a:rPr lang="en-US" sz="2400" dirty="0">
                <a:ea typeface="+mn-ea"/>
                <a:cs typeface="+mn-cs"/>
              </a:rPr>
              <a:t>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	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UNIQUE </a:t>
            </a:r>
            <a:r>
              <a:rPr lang="en-US" sz="2400" dirty="0">
                <a:ea typeface="+mn-ea"/>
                <a:cs typeface="+mn-cs"/>
              </a:rPr>
              <a:t>(name, category))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1319526" y="5105400"/>
            <a:ext cx="52336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There is at most one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</a:t>
            </a:r>
            <a:r>
              <a:rPr lang="en-US" dirty="0">
                <a:latin typeface="Arial"/>
                <a:cs typeface="Arial"/>
              </a:rPr>
              <a:t>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there can be many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UNIQUE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Foreign Key Constraints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468301-520D-C943-B2EB-72E44EC7E119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7862" y="2330450"/>
            <a:ext cx="5418070" cy="1569660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Purchase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</a:t>
            </a:r>
            <a:r>
              <a:rPr lang="en-US" sz="2400" dirty="0" err="1">
                <a:ea typeface="+mn-ea"/>
                <a:cs typeface="+mn-cs"/>
              </a:rPr>
              <a:t>prodName</a:t>
            </a:r>
            <a:r>
              <a:rPr lang="en-US" sz="2400" dirty="0">
                <a:ea typeface="+mn-ea"/>
                <a:cs typeface="+mn-cs"/>
              </a:rPr>
              <a:t> CHAR(30)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smtClean="0">
                <a:ea typeface="+mn-ea"/>
                <a:cs typeface="+mn-cs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ea typeface="+mn-ea"/>
                <a:cs typeface="+mn-cs"/>
              </a:rPr>
              <a:t>REFERENCES </a:t>
            </a:r>
            <a:r>
              <a:rPr lang="en-US" sz="2400" dirty="0" err="1">
                <a:ea typeface="+mn-ea"/>
                <a:cs typeface="+mn-cs"/>
              </a:rPr>
              <a:t>Product(name</a:t>
            </a:r>
            <a:r>
              <a:rPr lang="en-US" sz="2400" dirty="0">
                <a:ea typeface="+mn-ea"/>
                <a:cs typeface="+mn-cs"/>
              </a:rPr>
              <a:t>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	date DATETIME)</a:t>
            </a:r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304800" y="4724400"/>
            <a:ext cx="637686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is a </a:t>
            </a:r>
            <a:r>
              <a:rPr lang="en-US" b="1" dirty="0">
                <a:latin typeface="Arial"/>
                <a:cs typeface="Arial"/>
              </a:rPr>
              <a:t>foreign key</a:t>
            </a:r>
            <a:r>
              <a:rPr lang="en-US" dirty="0">
                <a:latin typeface="Arial"/>
                <a:cs typeface="Arial"/>
              </a:rPr>
              <a:t> to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name must be a </a:t>
            </a:r>
            <a:r>
              <a:rPr lang="en-US" b="1" dirty="0">
                <a:latin typeface="Arial"/>
                <a:cs typeface="Arial"/>
              </a:rPr>
              <a:t>key</a:t>
            </a:r>
            <a:r>
              <a:rPr lang="en-US" dirty="0">
                <a:latin typeface="Arial"/>
                <a:cs typeface="Arial"/>
              </a:rPr>
              <a:t> in Product</a:t>
            </a:r>
          </a:p>
        </p:txBody>
      </p:sp>
      <p:sp>
        <p:nvSpPr>
          <p:cNvPr id="72710" name="AutoShape 5"/>
          <p:cNvSpPr>
            <a:spLocks noChangeArrowheads="1"/>
          </p:cNvSpPr>
          <p:nvPr/>
        </p:nvSpPr>
        <p:spPr bwMode="auto">
          <a:xfrm>
            <a:off x="6705600" y="1360111"/>
            <a:ext cx="2352631" cy="1687889"/>
          </a:xfrm>
          <a:prstGeom prst="wedgeEllipseCallout">
            <a:avLst>
              <a:gd name="adj1" fmla="val -125233"/>
              <a:gd name="adj2" fmla="val 52358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Referential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integrity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constraints</a:t>
            </a:r>
          </a:p>
        </p:txBody>
      </p:sp>
      <p:sp>
        <p:nvSpPr>
          <p:cNvPr id="72711" name="AutoShape 6"/>
          <p:cNvSpPr>
            <a:spLocks noChangeArrowheads="1"/>
          </p:cNvSpPr>
          <p:nvPr/>
        </p:nvSpPr>
        <p:spPr bwMode="auto">
          <a:xfrm>
            <a:off x="6546201" y="4572000"/>
            <a:ext cx="2567900" cy="1687889"/>
          </a:xfrm>
          <a:prstGeom prst="wedgeEllipseCallout">
            <a:avLst>
              <a:gd name="adj1" fmla="val -92335"/>
              <a:gd name="adj2" fmla="val -10677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May write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just Product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(why ?)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2FB935-9D77-234F-9DD5-FCA478BFD3A6}" type="slidenum">
              <a:rPr lang="en-US" smtClean="0"/>
              <a:pPr/>
              <a:t>16</a:t>
            </a:fld>
            <a:endParaRPr lang="en-US" smtClean="0"/>
          </a:p>
        </p:txBody>
      </p:sp>
      <p:graphicFrame>
        <p:nvGraphicFramePr>
          <p:cNvPr id="39526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86644"/>
              </p:ext>
            </p:extLst>
          </p:nvPr>
        </p:nvGraphicFramePr>
        <p:xfrm>
          <a:off x="457200" y="25400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5283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603844"/>
              </p:ext>
            </p:extLst>
          </p:nvPr>
        </p:nvGraphicFramePr>
        <p:xfrm>
          <a:off x="5029200" y="25400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ProdName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789" name="Rectangle 36"/>
          <p:cNvSpPr>
            <a:spLocks noChangeArrowheads="1"/>
          </p:cNvSpPr>
          <p:nvPr/>
        </p:nvSpPr>
        <p:spPr bwMode="auto">
          <a:xfrm>
            <a:off x="381000" y="2057400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Product</a:t>
            </a:r>
          </a:p>
        </p:txBody>
      </p:sp>
      <p:sp>
        <p:nvSpPr>
          <p:cNvPr id="74790" name="Rectangle 37"/>
          <p:cNvSpPr>
            <a:spLocks noChangeArrowheads="1"/>
          </p:cNvSpPr>
          <p:nvPr/>
        </p:nvSpPr>
        <p:spPr bwMode="auto">
          <a:xfrm>
            <a:off x="6629400" y="2052935"/>
            <a:ext cx="14849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Purchase</a:t>
            </a:r>
          </a:p>
        </p:txBody>
      </p:sp>
      <p:sp>
        <p:nvSpPr>
          <p:cNvPr id="74791" name="Freeform 38"/>
          <p:cNvSpPr>
            <a:spLocks/>
          </p:cNvSpPr>
          <p:nvPr/>
        </p:nvSpPr>
        <p:spPr bwMode="auto">
          <a:xfrm>
            <a:off x="1752600" y="1905000"/>
            <a:ext cx="4038600" cy="461665"/>
          </a:xfrm>
          <a:custGeom>
            <a:avLst/>
            <a:gdLst>
              <a:gd name="T0" fmla="*/ 2147483647 w 2352"/>
              <a:gd name="T1" fmla="*/ 2147483647 h 384"/>
              <a:gd name="T2" fmla="*/ 2147483647 w 2352"/>
              <a:gd name="T3" fmla="*/ 0 h 384"/>
              <a:gd name="T4" fmla="*/ 0 w 2352"/>
              <a:gd name="T5" fmla="*/ 2147483647 h 384"/>
              <a:gd name="T6" fmla="*/ 0 60000 65536"/>
              <a:gd name="T7" fmla="*/ 0 60000 65536"/>
              <a:gd name="T8" fmla="*/ 0 60000 65536"/>
              <a:gd name="T9" fmla="*/ 0 w 2352"/>
              <a:gd name="T10" fmla="*/ 0 h 384"/>
              <a:gd name="T11" fmla="*/ 2352 w 235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2" h="384">
                <a:moveTo>
                  <a:pt x="2352" y="384"/>
                </a:moveTo>
                <a:cubicBezTo>
                  <a:pt x="1924" y="192"/>
                  <a:pt x="1496" y="0"/>
                  <a:pt x="1104" y="0"/>
                </a:cubicBezTo>
                <a:cubicBezTo>
                  <a:pt x="712" y="0"/>
                  <a:pt x="356" y="192"/>
                  <a:pt x="0" y="3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Foreign Key Constraints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Foreign Key Constraints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Example with multi-attribute primary key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(name, category) must be </a:t>
            </a:r>
            <a:r>
              <a:rPr lang="en-US" sz="2400" dirty="0" smtClean="0"/>
              <a:t>a KEY in Product</a:t>
            </a:r>
            <a:endParaRPr lang="en-US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FD5A17-1657-E64E-8295-18D857D0209D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898718" y="2644676"/>
            <a:ext cx="702608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FOREIGN KEY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	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REFERENCES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</p:spPr>
        <p:txBody>
          <a:bodyPr/>
          <a:lstStyle/>
          <a:p>
            <a:fld id="{85AE8EE7-E962-C84D-9D5A-CC2A99D449C7}" type="slidenum">
              <a:rPr lang="en-US" smtClean="0"/>
              <a:pPr/>
              <a:t>18</a:t>
            </a:fld>
            <a:endParaRPr lang="en-US" smtClean="0"/>
          </a:p>
        </p:txBody>
      </p:sp>
      <p:graphicFrame>
        <p:nvGraphicFramePr>
          <p:cNvPr id="39936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275018"/>
              </p:ext>
            </p:extLst>
          </p:nvPr>
        </p:nvGraphicFramePr>
        <p:xfrm>
          <a:off x="533400" y="39624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OneClick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379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00081"/>
              </p:ext>
            </p:extLst>
          </p:nvPr>
        </p:nvGraphicFramePr>
        <p:xfrm>
          <a:off x="5105400" y="39624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ProdName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85" name="Rectangle 36"/>
          <p:cNvSpPr>
            <a:spLocks noChangeArrowheads="1"/>
          </p:cNvSpPr>
          <p:nvPr/>
        </p:nvSpPr>
        <p:spPr bwMode="auto">
          <a:xfrm>
            <a:off x="533400" y="3429000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Product</a:t>
            </a:r>
          </a:p>
        </p:txBody>
      </p:sp>
      <p:sp>
        <p:nvSpPr>
          <p:cNvPr id="78886" name="Rectangle 37"/>
          <p:cNvSpPr>
            <a:spLocks noChangeArrowheads="1"/>
          </p:cNvSpPr>
          <p:nvPr/>
        </p:nvSpPr>
        <p:spPr bwMode="auto">
          <a:xfrm>
            <a:off x="6705600" y="3429000"/>
            <a:ext cx="14849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Purchase</a:t>
            </a:r>
          </a:p>
        </p:txBody>
      </p:sp>
      <p:sp>
        <p:nvSpPr>
          <p:cNvPr id="78887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happens during updates ?</a:t>
            </a:r>
          </a:p>
        </p:txBody>
      </p:sp>
      <p:sp>
        <p:nvSpPr>
          <p:cNvPr id="78888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Types of updates:</a:t>
            </a:r>
          </a:p>
          <a:p>
            <a:pPr eaLnBrk="1" hangingPunct="1"/>
            <a:r>
              <a:rPr lang="en-US" sz="2400" dirty="0"/>
              <a:t>In Purchase: insert/update</a:t>
            </a:r>
          </a:p>
          <a:p>
            <a:pPr eaLnBrk="1" hangingPunct="1"/>
            <a:r>
              <a:rPr lang="en-US" sz="2400" dirty="0"/>
              <a:t>In Product: delete/update</a:t>
            </a:r>
          </a:p>
        </p:txBody>
      </p:sp>
      <p:sp>
        <p:nvSpPr>
          <p:cNvPr id="78889" name="Freeform 40"/>
          <p:cNvSpPr>
            <a:spLocks/>
          </p:cNvSpPr>
          <p:nvPr/>
        </p:nvSpPr>
        <p:spPr bwMode="auto">
          <a:xfrm>
            <a:off x="1752600" y="3479800"/>
            <a:ext cx="3886200" cy="461665"/>
          </a:xfrm>
          <a:custGeom>
            <a:avLst/>
            <a:gdLst>
              <a:gd name="T0" fmla="*/ 2147483647 w 2352"/>
              <a:gd name="T1" fmla="*/ 2147483647 h 384"/>
              <a:gd name="T2" fmla="*/ 2147483647 w 2352"/>
              <a:gd name="T3" fmla="*/ 0 h 384"/>
              <a:gd name="T4" fmla="*/ 0 w 2352"/>
              <a:gd name="T5" fmla="*/ 2147483647 h 384"/>
              <a:gd name="T6" fmla="*/ 0 60000 65536"/>
              <a:gd name="T7" fmla="*/ 0 60000 65536"/>
              <a:gd name="T8" fmla="*/ 0 60000 65536"/>
              <a:gd name="T9" fmla="*/ 0 w 2352"/>
              <a:gd name="T10" fmla="*/ 0 h 384"/>
              <a:gd name="T11" fmla="*/ 2352 w 235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2" h="384">
                <a:moveTo>
                  <a:pt x="2352" y="384"/>
                </a:moveTo>
                <a:cubicBezTo>
                  <a:pt x="1924" y="192"/>
                  <a:pt x="1496" y="0"/>
                  <a:pt x="1104" y="0"/>
                </a:cubicBezTo>
                <a:cubicBezTo>
                  <a:pt x="712" y="0"/>
                  <a:pt x="356" y="192"/>
                  <a:pt x="0" y="3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352800" cy="457200"/>
          </a:xfrm>
        </p:spPr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6CED88-FAA2-0641-8A23-4A506532B479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happens during updates ?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SQL has three policies for maintaining referential integrity: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Reject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violating modifications (default)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Cascade</a:t>
            </a:r>
            <a:r>
              <a:rPr lang="en-US" dirty="0"/>
              <a:t>: after</a:t>
            </a:r>
            <a:r>
              <a:rPr lang="en-US" dirty="0" smtClean="0"/>
              <a:t> delete</a:t>
            </a:r>
            <a:r>
              <a:rPr lang="en-US" dirty="0"/>
              <a:t>/update do</a:t>
            </a:r>
            <a:r>
              <a:rPr lang="en-US" dirty="0" smtClean="0"/>
              <a:t> delete</a:t>
            </a:r>
            <a:r>
              <a:rPr lang="en-US" dirty="0"/>
              <a:t>/update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Set-null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set foreign-key field to NULL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Maintaining Referential Integrity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0600" y="1981200"/>
            <a:ext cx="7026082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FOREIGN KEY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	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REFERENCES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, category</a:t>
            </a:r>
            <a:r>
              <a:rPr lang="en-US" dirty="0" smtClean="0"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	  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ON UPDATE CASCADE</a:t>
            </a:r>
          </a:p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	   ON DELETE SET NULL   </a:t>
            </a:r>
            <a:r>
              <a:rPr lang="en-US" dirty="0" smtClean="0">
                <a:latin typeface="Arial"/>
                <a:cs typeface="Arial"/>
              </a:rPr>
              <a:t> )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657600"/>
          </a:xfrm>
        </p:spPr>
        <p:txBody>
          <a:bodyPr/>
          <a:lstStyle/>
          <a:p>
            <a:r>
              <a:rPr lang="en-US" dirty="0" smtClean="0"/>
              <a:t>Constraints on attributes: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NOT NULL</a:t>
            </a:r>
            <a:r>
              <a:rPr lang="en-US" dirty="0" smtClean="0"/>
              <a:t>		-- obvious meaning...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CHECK</a:t>
            </a:r>
            <a:r>
              <a:rPr lang="en-US" dirty="0" smtClean="0"/>
              <a:t> condition	-- any condition !</a:t>
            </a:r>
          </a:p>
          <a:p>
            <a:r>
              <a:rPr lang="en-US" dirty="0" smtClean="0"/>
              <a:t>Constraints on </a:t>
            </a:r>
            <a:r>
              <a:rPr lang="en-US" dirty="0" err="1" smtClean="0"/>
              <a:t>tuples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CHECK</a:t>
            </a:r>
            <a:r>
              <a:rPr lang="en-US" dirty="0" smtClean="0"/>
              <a:t> condition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371600" y="2743200"/>
            <a:ext cx="6360035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 smtClean="0">
                <a:latin typeface="Arial"/>
                <a:cs typeface="Arial"/>
              </a:rPr>
              <a:t>R (A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NOT NULL</a:t>
            </a:r>
            <a:r>
              <a:rPr lang="en-US" dirty="0" smtClean="0">
                <a:latin typeface="Arial"/>
                <a:cs typeface="Arial"/>
              </a:rPr>
              <a:t>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B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CHECK (B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&gt;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50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B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&lt;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100),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C varchar(20),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	     D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,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CHECK (C &gt;= 'd'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or D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&gt; 0)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05000" y="2362200"/>
            <a:ext cx="5084295" cy="2677656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 TABLE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(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CHAR(10),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name CHAR(30),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category VARCHAR(20),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price INT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 (price &gt; 0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PRIMARY KEY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UNIQUE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(name, category))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AE44CD-4EA1-E347-AD1D-22E5DCC95552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405506" name="Rectangle 2"/>
          <p:cNvSpPr>
            <a:spLocks noChangeArrowheads="1"/>
          </p:cNvSpPr>
          <p:nvPr/>
        </p:nvSpPr>
        <p:spPr bwMode="auto">
          <a:xfrm>
            <a:off x="838200" y="2895600"/>
            <a:ext cx="6387836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 smtClean="0">
                <a:latin typeface="Arial"/>
                <a:cs typeface="Arial"/>
              </a:rPr>
              <a:t>prodName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CHAR(30)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	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CHECK</a:t>
            </a:r>
            <a:r>
              <a:rPr lang="en-US" dirty="0">
                <a:latin typeface="Arial"/>
                <a:cs typeface="Arial"/>
              </a:rPr>
              <a:t> 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IN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</a:t>
            </a:r>
            <a:r>
              <a:rPr lang="en-US" dirty="0" smtClean="0">
                <a:latin typeface="Arial"/>
                <a:cs typeface="Arial"/>
              </a:rPr>
              <a:t> 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</a:t>
            </a:r>
            <a:r>
              <a:rPr lang="en-US" dirty="0" smtClean="0">
                <a:latin typeface="Arial"/>
                <a:cs typeface="Arial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Product),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NOT NULL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Constraints on </a:t>
            </a:r>
            <a:b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</a:b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Attributes and Tuples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84996" name="AutoShape 3"/>
          <p:cNvSpPr>
            <a:spLocks noChangeArrowheads="1"/>
          </p:cNvSpPr>
          <p:nvPr/>
        </p:nvSpPr>
        <p:spPr bwMode="auto">
          <a:xfrm>
            <a:off x="4824585" y="1828800"/>
            <a:ext cx="4293011" cy="1687889"/>
          </a:xfrm>
          <a:prstGeom prst="wedgeEllipseCallout">
            <a:avLst>
              <a:gd name="adj1" fmla="val -43464"/>
              <a:gd name="adj2" fmla="val 615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What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is the difference from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Foreign-Key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209800"/>
            <a:ext cx="4239261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What does this constraint do? 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54186F-907E-AC43-A0A9-9882312662CC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Assertions</a:t>
            </a:r>
          </a:p>
        </p:txBody>
      </p:sp>
      <p:sp>
        <p:nvSpPr>
          <p:cNvPr id="407555" name="Rectangle 3"/>
          <p:cNvSpPr>
            <a:spLocks noChangeArrowheads="1"/>
          </p:cNvSpPr>
          <p:nvPr/>
        </p:nvSpPr>
        <p:spPr bwMode="auto">
          <a:xfrm>
            <a:off x="877114" y="1981200"/>
            <a:ext cx="7428686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ASSERTION </a:t>
            </a:r>
            <a:r>
              <a:rPr lang="en-US" dirty="0" err="1">
                <a:latin typeface="Arial"/>
                <a:cs typeface="Arial"/>
              </a:rPr>
              <a:t>myAssert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CHECK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NOT EXISTS</a:t>
            </a:r>
            <a:r>
              <a:rPr lang="en-US" dirty="0">
                <a:latin typeface="Arial"/>
                <a:cs typeface="Arial"/>
              </a:rPr>
              <a:t>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Product, Purchase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Purchase.prodName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GROUP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count(*) &gt; 200)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2824" y="4876800"/>
            <a:ext cx="661115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But most </a:t>
            </a:r>
            <a:r>
              <a:rPr lang="en-US" dirty="0" err="1" smtClean="0">
                <a:latin typeface="Arial"/>
                <a:cs typeface="Arial"/>
              </a:rPr>
              <a:t>DBMSs</a:t>
            </a:r>
            <a:r>
              <a:rPr lang="en-US" dirty="0" smtClean="0">
                <a:latin typeface="Arial"/>
                <a:cs typeface="Arial"/>
              </a:rPr>
              <a:t> do not implement assertions</a:t>
            </a:r>
          </a:p>
          <a:p>
            <a:r>
              <a:rPr lang="en-US" dirty="0" smtClean="0">
                <a:latin typeface="Arial"/>
                <a:cs typeface="Arial"/>
              </a:rPr>
              <a:t>Because it is hard to support them efficiently</a:t>
            </a:r>
          </a:p>
          <a:p>
            <a:r>
              <a:rPr lang="en-US" dirty="0" smtClean="0">
                <a:latin typeface="Arial"/>
                <a:cs typeface="Arial"/>
              </a:rPr>
              <a:t>Instead, they provide triggers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Triggers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Event-Condition-Action </a:t>
            </a:r>
            <a:r>
              <a:rPr lang="en-US" dirty="0" smtClean="0"/>
              <a:t>rules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Event</a:t>
            </a:r>
            <a:endParaRPr lang="en-US" dirty="0" smtClean="0"/>
          </a:p>
          <a:p>
            <a:pPr lvl="1"/>
            <a:r>
              <a:rPr lang="en-US" dirty="0" smtClean="0"/>
              <a:t>Can be insertion, update, or deletion to a relation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Condition</a:t>
            </a:r>
          </a:p>
          <a:p>
            <a:pPr lvl="1"/>
            <a:r>
              <a:rPr lang="en-US" dirty="0" smtClean="0"/>
              <a:t>Can be expressed on DB state before or after event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Action</a:t>
            </a:r>
          </a:p>
          <a:p>
            <a:pPr lvl="1"/>
            <a:r>
              <a:rPr lang="en-US" dirty="0" smtClean="0"/>
              <a:t>Perform additional DB modifications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Triggers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7114" y="1981200"/>
            <a:ext cx="6694310" cy="37856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TRIGGER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ProductCategories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AFTER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UPDATE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price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Product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REFERENCING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OLD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AS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OldTuple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NEW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AS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NewTuple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EACH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(</a:t>
            </a:r>
            <a:r>
              <a:rPr lang="en-US" dirty="0" err="1" smtClean="0">
                <a:latin typeface="Arial"/>
                <a:cs typeface="Arial"/>
              </a:rPr>
              <a:t>OldTuple.price</a:t>
            </a:r>
            <a:r>
              <a:rPr lang="en-US" dirty="0" smtClean="0">
                <a:latin typeface="Arial"/>
                <a:cs typeface="Arial"/>
              </a:rPr>
              <a:t> &gt; </a:t>
            </a:r>
            <a:r>
              <a:rPr lang="en-US" dirty="0" err="1" smtClean="0">
                <a:latin typeface="Arial"/>
                <a:cs typeface="Arial"/>
              </a:rPr>
              <a:t>NewTuple.price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UPDATE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Product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SET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category = ‘On sale’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productID</a:t>
            </a:r>
            <a:r>
              <a:rPr lang="en-US" dirty="0" smtClean="0">
                <a:latin typeface="Arial"/>
                <a:cs typeface="Arial"/>
              </a:rPr>
              <a:t> = </a:t>
            </a:r>
            <a:r>
              <a:rPr lang="en-US" dirty="0" err="1" smtClean="0">
                <a:latin typeface="Arial"/>
                <a:cs typeface="Arial"/>
              </a:rPr>
              <a:t>OldTuple.productID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</TotalTime>
  <Words>1003</Words>
  <Application>Microsoft Macintosh PowerPoint</Application>
  <PresentationFormat>On-screen Show (4:3)</PresentationFormat>
  <Paragraphs>328</Paragraphs>
  <Slides>27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Default Design</vt:lpstr>
      <vt:lpstr>Introduction to Data Management CSE 344</vt:lpstr>
      <vt:lpstr>Announcements</vt:lpstr>
      <vt:lpstr>Where Are We?</vt:lpstr>
      <vt:lpstr>Next Few Lectures</vt:lpstr>
      <vt:lpstr>Integrity Constraints Motivation</vt:lpstr>
      <vt:lpstr>Constraints in E/R Diagrams</vt:lpstr>
      <vt:lpstr> Keys in E/R Diagrams</vt:lpstr>
      <vt:lpstr>Single Value Constraints</vt:lpstr>
      <vt:lpstr>Referential Integrity Constraints</vt:lpstr>
      <vt:lpstr>Other Constraints</vt:lpstr>
      <vt:lpstr>Types of Constraints in SQL</vt:lpstr>
      <vt:lpstr>Key Constraints</vt:lpstr>
      <vt:lpstr>Keys with Multiple Attributes</vt:lpstr>
      <vt:lpstr>Other Keys</vt:lpstr>
      <vt:lpstr>Foreign Key Constraints</vt:lpstr>
      <vt:lpstr>PowerPoint Presentation</vt:lpstr>
      <vt:lpstr>Foreign Key Constraints</vt:lpstr>
      <vt:lpstr>What happens during updates ?</vt:lpstr>
      <vt:lpstr>What happens during updates ?</vt:lpstr>
      <vt:lpstr>Maintaining Referential Integrity</vt:lpstr>
      <vt:lpstr>Constraints on  Attributes and Tuples</vt:lpstr>
      <vt:lpstr>Constraints on  Attributes and Tuples</vt:lpstr>
      <vt:lpstr>Constraints on  Attributes and Tuples</vt:lpstr>
      <vt:lpstr>PowerPoint Presentation</vt:lpstr>
      <vt:lpstr>General Assertions</vt:lpstr>
      <vt:lpstr>Database Triggers</vt:lpstr>
      <vt:lpstr>Database Triggers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Dan Suciu</cp:lastModifiedBy>
  <cp:revision>536</cp:revision>
  <dcterms:created xsi:type="dcterms:W3CDTF">2011-11-02T05:24:11Z</dcterms:created>
  <dcterms:modified xsi:type="dcterms:W3CDTF">2012-02-10T17:00:28Z</dcterms:modified>
</cp:coreProperties>
</file>