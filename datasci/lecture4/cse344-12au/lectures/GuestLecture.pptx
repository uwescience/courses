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60" r:id="rId4"/>
    <p:sldId id="262" r:id="rId5"/>
    <p:sldId id="263" r:id="rId6"/>
    <p:sldId id="306" r:id="rId7"/>
    <p:sldId id="310" r:id="rId8"/>
    <p:sldId id="265" r:id="rId9"/>
    <p:sldId id="307" r:id="rId10"/>
    <p:sldId id="308" r:id="rId11"/>
    <p:sldId id="309" r:id="rId12"/>
    <p:sldId id="294" r:id="rId13"/>
    <p:sldId id="295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91" r:id="rId23"/>
    <p:sldId id="283" r:id="rId24"/>
    <p:sldId id="284" r:id="rId25"/>
    <p:sldId id="285" r:id="rId26"/>
    <p:sldId id="290" r:id="rId27"/>
    <p:sldId id="286" r:id="rId28"/>
    <p:sldId id="287" r:id="rId29"/>
    <p:sldId id="288" r:id="rId30"/>
    <p:sldId id="289" r:id="rId31"/>
    <p:sldId id="293" r:id="rId32"/>
    <p:sldId id="296" r:id="rId33"/>
    <p:sldId id="297" r:id="rId34"/>
    <p:sldId id="298" r:id="rId35"/>
    <p:sldId id="299" r:id="rId36"/>
    <p:sldId id="300" r:id="rId37"/>
    <p:sldId id="301" r:id="rId38"/>
    <p:sldId id="314" r:id="rId39"/>
    <p:sldId id="302" r:id="rId40"/>
    <p:sldId id="311" r:id="rId41"/>
    <p:sldId id="312" r:id="rId42"/>
    <p:sldId id="313" r:id="rId43"/>
    <p:sldId id="304" r:id="rId44"/>
    <p:sldId id="305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32" autoAdjust="0"/>
  </p:normalViewPr>
  <p:slideViewPr>
    <p:cSldViewPr snapToGrid="0" snapToObjects="1">
      <p:cViewPr varScale="1">
        <p:scale>
          <a:sx n="67" d="100"/>
          <a:sy n="67" d="100"/>
        </p:scale>
        <p:origin x="-209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8D31C-F275-FA4A-99F0-FC1B008C7E04}" type="datetimeFigureOut">
              <a:rPr lang="en-US" smtClean="0"/>
              <a:t>10/7/12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44A0B-F138-A548-945C-D4F2CA07D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4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FAF7A-B91F-D24E-9573-ACCF4528972D}" type="datetimeFigureOut">
              <a:rPr lang="en-US" smtClean="0"/>
              <a:t>10/7/12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FC753-CCD1-1B41-96B5-D18485C53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8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34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Life of a query in a DBMS.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The</a:t>
            </a:r>
            <a:r>
              <a:rPr lang="en-US" baseline="0" dirty="0" smtClean="0"/>
              <a:t> idea of a query plan as a tree of operators that take relations as input and output relations.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The idea that data</a:t>
            </a:r>
            <a:r>
              <a:rPr lang="en-US" baseline="0" dirty="0" smtClean="0"/>
              <a:t> is stored in files on disk. Each file is not a big blob but rather a set of blocks or pages.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 dirty="0" smtClean="0"/>
              <a:t>Then show the three join algorithms and show how each one reads a different number of pages from disk.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 dirty="0" smtClean="0"/>
              <a:t>Then say, wouldn’t it be nice if we could read even fewer pages from disk?</a:t>
            </a:r>
          </a:p>
          <a:p>
            <a:pPr marL="685800" marR="0" lvl="1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 dirty="0" smtClean="0"/>
              <a:t>What if we push the selection down? Can we avoid reading all the pages? We can if we use indexes.</a:t>
            </a:r>
          </a:p>
          <a:p>
            <a:pPr marL="685800" marR="0" lvl="1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 dirty="0" smtClean="0"/>
              <a:t>We can also use an index with joins. 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 dirty="0" smtClean="0"/>
              <a:t>Then show many example queries and possible index selections.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3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74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78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73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14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6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44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FBCE9-E5BC-E341-A45E-19C2A7D7B6F0}" type="slidenum">
              <a:rPr lang="en-US"/>
              <a:pPr/>
              <a:t>13</a:t>
            </a:fld>
            <a:endParaRPr lang="en-US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E8170-054E-654C-8C4A-ADD9689E779D}" type="slidenum">
              <a:rPr lang="en-US"/>
              <a:pPr/>
              <a:t>14</a:t>
            </a:fld>
            <a:endParaRPr lang="en-US"/>
          </a:p>
        </p:txBody>
      </p:sp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A91505-C857-1042-81FD-E82F1C26F7D6}" type="slidenum">
              <a:rPr lang="en-US"/>
              <a:pPr/>
              <a:t>15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663F1-263A-E948-9A17-D2A96253A09A}" type="slidenum">
              <a:rPr lang="en-US"/>
              <a:pPr/>
              <a:t>22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A9515-4463-E247-8690-079A134E75C5}" type="slidenum">
              <a:rPr lang="en-US"/>
              <a:pPr/>
              <a:t>26</a:t>
            </a:fld>
            <a:endParaRPr lang="en-US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73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C907FC-DB1A-C747-AB81-CA99307385F3}" type="slidenum">
              <a:rPr lang="en-US"/>
              <a:pPr/>
              <a:t>32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80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FC753-CCD1-1B41-96B5-D18485C533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57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663F1-263A-E948-9A17-D2A96253A09A}" type="slidenum">
              <a:rPr lang="en-US"/>
              <a:pPr/>
              <a:t>39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3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8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8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4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8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1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0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3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9363F-9870-1741-AEAB-3E1CF8227827}" type="datetimeFigureOut">
              <a:rPr lang="en-US" smtClean="0"/>
              <a:t>10/7/12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565ED-A9C4-E64D-8E6F-57DF70EC3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Data Management</a:t>
            </a:r>
            <a:br>
              <a:rPr lang="en-US" dirty="0" smtClean="0"/>
            </a:br>
            <a:r>
              <a:rPr lang="en-US" dirty="0" smtClean="0"/>
              <a:t>CSE 344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505" y="3886200"/>
            <a:ext cx="7070664" cy="1752600"/>
          </a:xfrm>
        </p:spPr>
        <p:txBody>
          <a:bodyPr/>
          <a:lstStyle/>
          <a:p>
            <a:r>
              <a:rPr lang="en-US" dirty="0" smtClean="0"/>
              <a:t>Extra Lecture: </a:t>
            </a:r>
            <a:r>
              <a:rPr lang="en-US" dirty="0" smtClean="0"/>
              <a:t>Basics of Query Evaluation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Presenter: Prasang Upadhyaya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3839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Life of a query in a DBMS</a:t>
            </a:r>
          </a:p>
          <a:p>
            <a:pPr lvl="1"/>
            <a:r>
              <a:rPr lang="en-US" dirty="0" smtClean="0"/>
              <a:t>Query plans</a:t>
            </a:r>
          </a:p>
          <a:p>
            <a:r>
              <a:rPr lang="en-US" dirty="0" smtClean="0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606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of a Query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584" y="2527523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Admission Control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2788584" y="3528975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Parsing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2788584" y="4564943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Query Optimization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2788584" y="5649230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Query Execution</a:t>
            </a:r>
            <a:endParaRPr lang="en-US" sz="2200" dirty="0"/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>
            <a:off x="4514193" y="3093558"/>
            <a:ext cx="0" cy="4354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>
            <a:off x="4514193" y="4095010"/>
            <a:ext cx="0" cy="4699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>
            <a:off x="4514193" y="5130978"/>
            <a:ext cx="0" cy="5182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4" idx="0"/>
          </p:cNvCxnSpPr>
          <p:nvPr/>
        </p:nvCxnSpPr>
        <p:spPr>
          <a:xfrm>
            <a:off x="4514193" y="2015638"/>
            <a:ext cx="0" cy="511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69199" y="1616712"/>
            <a:ext cx="8899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Query</a:t>
            </a:r>
            <a:endParaRPr lang="en-US" sz="2200" dirty="0"/>
          </a:p>
        </p:txBody>
      </p:sp>
      <p:sp>
        <p:nvSpPr>
          <p:cNvPr id="21" name="Rounded Rectangular Callout 20"/>
          <p:cNvSpPr/>
          <p:nvPr/>
        </p:nvSpPr>
        <p:spPr>
          <a:xfrm>
            <a:off x="217714" y="2077193"/>
            <a:ext cx="1995715" cy="1841664"/>
          </a:xfrm>
          <a:prstGeom prst="wedgeRoundRectCallout">
            <a:avLst>
              <a:gd name="adj1" fmla="val 76236"/>
              <a:gd name="adj2" fmla="val -16730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1F497D"/>
                </a:solidFill>
              </a:rPr>
              <a:t>Authorization</a:t>
            </a:r>
            <a:r>
              <a:rPr lang="en-US" sz="2200" dirty="0" smtClean="0"/>
              <a:t> check</a:t>
            </a:r>
          </a:p>
          <a:p>
            <a:pPr algn="ctr"/>
            <a:endParaRPr lang="en-US" sz="2200" dirty="0"/>
          </a:p>
          <a:p>
            <a:pPr algn="ctr"/>
            <a:r>
              <a:rPr lang="en-US" sz="2200" dirty="0" smtClean="0"/>
              <a:t>Avoiding </a:t>
            </a:r>
            <a:r>
              <a:rPr lang="en-US" sz="2200" b="1" dirty="0" smtClean="0">
                <a:solidFill>
                  <a:srgbClr val="1F497D"/>
                </a:solidFill>
              </a:rPr>
              <a:t>overload</a:t>
            </a:r>
            <a:endParaRPr lang="en-US" sz="2200" b="1" dirty="0">
              <a:solidFill>
                <a:srgbClr val="1F497D"/>
              </a:solidFill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6480771" y="2433387"/>
            <a:ext cx="2480735" cy="2131555"/>
          </a:xfrm>
          <a:prstGeom prst="wedgeRoundRectCallout">
            <a:avLst>
              <a:gd name="adj1" fmla="val -58632"/>
              <a:gd name="adj2" fmla="val 12381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rgbClr val="1F497D"/>
                </a:solidFill>
              </a:rPr>
              <a:t>Syntax</a:t>
            </a:r>
            <a:r>
              <a:rPr lang="en-US" sz="2200" dirty="0" smtClean="0"/>
              <a:t> check</a:t>
            </a:r>
          </a:p>
          <a:p>
            <a:pPr algn="ctr"/>
            <a:endParaRPr lang="en-US" sz="2200" dirty="0"/>
          </a:p>
          <a:p>
            <a:pPr algn="ctr"/>
            <a:r>
              <a:rPr lang="en-US" sz="2200" b="1" dirty="0" smtClean="0">
                <a:solidFill>
                  <a:srgbClr val="1F497D"/>
                </a:solidFill>
              </a:rPr>
              <a:t>Reference</a:t>
            </a:r>
            <a:r>
              <a:rPr lang="en-US" sz="2200" dirty="0" smtClean="0"/>
              <a:t> check</a:t>
            </a:r>
          </a:p>
          <a:p>
            <a:pPr algn="ctr"/>
            <a:endParaRPr lang="en-US" sz="2200" dirty="0"/>
          </a:p>
          <a:p>
            <a:pPr algn="ctr"/>
            <a:r>
              <a:rPr lang="en-US" sz="2200" dirty="0" smtClean="0"/>
              <a:t>Conversion to an </a:t>
            </a:r>
            <a:r>
              <a:rPr lang="en-US" sz="2200" b="1" dirty="0" smtClean="0">
                <a:solidFill>
                  <a:srgbClr val="1F497D"/>
                </a:solidFill>
              </a:rPr>
              <a:t>operator tree</a:t>
            </a:r>
            <a:endParaRPr lang="en-US" sz="2200" b="1" dirty="0">
              <a:solidFill>
                <a:srgbClr val="1F497D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367956" y="4664982"/>
            <a:ext cx="1845473" cy="1816140"/>
          </a:xfrm>
          <a:prstGeom prst="wedgeRoundRectCallout">
            <a:avLst>
              <a:gd name="adj1" fmla="val 77572"/>
              <a:gd name="adj2" fmla="val -37500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Choose the </a:t>
            </a:r>
            <a:r>
              <a:rPr lang="en-US" sz="2200" b="1" dirty="0" smtClean="0">
                <a:solidFill>
                  <a:srgbClr val="1F497D"/>
                </a:solidFill>
              </a:rPr>
              <a:t>best set of algorithms </a:t>
            </a:r>
            <a:r>
              <a:rPr lang="en-US" sz="2200" dirty="0" smtClean="0"/>
              <a:t>to execute the query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04583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Output of parsing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rgbClr val="1F497D"/>
                </a:solidFill>
              </a:rPr>
              <a:t>tree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1F497D"/>
                </a:solidFill>
              </a:rPr>
              <a:t>relational operators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Joins, Aggregates, Selections, Projections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Operators consume relations and produce relations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1F497D"/>
                </a:solidFill>
              </a:rPr>
              <a:t>Leaves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1F497D"/>
                </a:solidFill>
              </a:rPr>
              <a:t>relations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1F497D"/>
                </a:solidFill>
              </a:rPr>
              <a:t>Output</a:t>
            </a:r>
            <a:r>
              <a:rPr lang="en-US" dirty="0" smtClean="0"/>
              <a:t> at the </a:t>
            </a:r>
            <a:r>
              <a:rPr lang="en-US" b="1" dirty="0" smtClean="0">
                <a:solidFill>
                  <a:srgbClr val="1F497D"/>
                </a:solidFill>
              </a:rPr>
              <a:t>root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Every SQL statement is converted to a Query Plan</a:t>
            </a:r>
          </a:p>
          <a:p>
            <a:pPr marL="0" indent="0">
              <a:buNone/>
            </a:pPr>
            <a:endParaRPr lang="en-US" dirty="0" smtClean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325036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63759" y="2880768"/>
            <a:ext cx="4922742" cy="1200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1F497D"/>
                </a:solidFill>
                <a:latin typeface="Consolas"/>
                <a:cs typeface="Consolas"/>
              </a:rPr>
              <a:t>SELECT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b="1" dirty="0" smtClean="0">
                <a:latin typeface="Consolas"/>
                <a:cs typeface="Consolas"/>
              </a:rPr>
              <a:t>sum</a:t>
            </a:r>
            <a:r>
              <a:rPr lang="en-US" sz="2400" dirty="0" smtClean="0">
                <a:latin typeface="Consolas"/>
                <a:cs typeface="Consolas"/>
              </a:rPr>
              <a:t>(price * quantity)</a:t>
            </a:r>
          </a:p>
          <a:p>
            <a:r>
              <a:rPr lang="en-US" sz="2400" dirty="0" smtClean="0">
                <a:solidFill>
                  <a:srgbClr val="1F497D"/>
                </a:solidFill>
                <a:latin typeface="Consolas"/>
                <a:cs typeface="Consolas"/>
              </a:rPr>
              <a:t>FROM</a:t>
            </a:r>
            <a:r>
              <a:rPr lang="en-US" sz="2400" dirty="0" smtClean="0">
                <a:latin typeface="Consolas"/>
                <a:cs typeface="Consolas"/>
              </a:rPr>
              <a:t> Purchase</a:t>
            </a:r>
          </a:p>
          <a:p>
            <a:r>
              <a:rPr lang="en-US" sz="2400" dirty="0" smtClean="0">
                <a:solidFill>
                  <a:srgbClr val="1F497D"/>
                </a:solidFill>
                <a:latin typeface="Consolas"/>
                <a:cs typeface="Consolas"/>
              </a:rPr>
              <a:t>WHERE</a:t>
            </a:r>
            <a:r>
              <a:rPr lang="en-US" sz="2400" dirty="0" smtClean="0">
                <a:latin typeface="Consolas"/>
                <a:cs typeface="Consolas"/>
              </a:rPr>
              <a:t> product </a:t>
            </a:r>
            <a:r>
              <a:rPr lang="en-US" sz="2400" b="1" dirty="0" smtClean="0">
                <a:latin typeface="Consolas"/>
                <a:cs typeface="Consolas"/>
              </a:rPr>
              <a:t>=</a:t>
            </a:r>
            <a:r>
              <a:rPr lang="en-US" sz="2400" dirty="0" smtClean="0">
                <a:latin typeface="Consolas"/>
                <a:cs typeface="Consolas"/>
              </a:rPr>
              <a:t> ‘bagel’;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886" y="4275894"/>
            <a:ext cx="17075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Symbol" charset="2"/>
                <a:cs typeface="Symbol" charset="2"/>
              </a:rPr>
              <a:t>s</a:t>
            </a:r>
            <a:r>
              <a:rPr lang="en-US" baseline="-25000" dirty="0" smtClean="0">
                <a:cs typeface="Symbol" charset="2"/>
              </a:rPr>
              <a:t> product=‘bagel’</a:t>
            </a:r>
            <a:endParaRPr lang="en-US" baseline="-25000" dirty="0">
              <a:latin typeface="Symbol" charset="2"/>
              <a:cs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679" y="5871901"/>
            <a:ext cx="17057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Purchase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643148" y="2588380"/>
            <a:ext cx="153118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Symbol" charset="2"/>
                <a:cs typeface="Symbol" charset="2"/>
              </a:rPr>
              <a:t>P </a:t>
            </a:r>
            <a:r>
              <a:rPr lang="en-US" baseline="-25000" dirty="0" smtClean="0"/>
              <a:t>price</a:t>
            </a:r>
            <a:r>
              <a:rPr lang="en-US" baseline="-25000" dirty="0"/>
              <a:t>,</a:t>
            </a:r>
            <a:r>
              <a:rPr lang="en-US" baseline="-25000" dirty="0" smtClean="0"/>
              <a:t> quantity</a:t>
            </a:r>
            <a:endParaRPr lang="en-US" baseline="-25000" dirty="0"/>
          </a:p>
        </p:txBody>
      </p:sp>
      <p:cxnSp>
        <p:nvCxnSpPr>
          <p:cNvPr id="9" name="Straight Connector 8"/>
          <p:cNvCxnSpPr>
            <a:stCxn id="7" idx="0"/>
            <a:endCxn id="6" idx="2"/>
          </p:cNvCxnSpPr>
          <p:nvPr/>
        </p:nvCxnSpPr>
        <p:spPr>
          <a:xfrm flipH="1" flipV="1">
            <a:off x="1409640" y="4860670"/>
            <a:ext cx="897" cy="101123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0"/>
            <a:endCxn id="8" idx="2"/>
          </p:cNvCxnSpPr>
          <p:nvPr/>
        </p:nvCxnSpPr>
        <p:spPr>
          <a:xfrm flipH="1" flipV="1">
            <a:off x="1408742" y="3173156"/>
            <a:ext cx="898" cy="1102738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0"/>
            <a:endCxn id="12" idx="2"/>
          </p:cNvCxnSpPr>
          <p:nvPr/>
        </p:nvCxnSpPr>
        <p:spPr>
          <a:xfrm flipV="1">
            <a:off x="1408742" y="1417638"/>
            <a:ext cx="0" cy="1170742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9491" y="832862"/>
            <a:ext cx="201850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Sum </a:t>
            </a:r>
            <a:r>
              <a:rPr lang="en-US" baseline="-25000" dirty="0" smtClean="0"/>
              <a:t>price * quantity</a:t>
            </a:r>
            <a:endParaRPr lang="en-US" baseline="-25000" dirty="0"/>
          </a:p>
        </p:txBody>
      </p:sp>
      <p:cxnSp>
        <p:nvCxnSpPr>
          <p:cNvPr id="16" name="Straight Arrow Connector 15"/>
          <p:cNvCxnSpPr>
            <a:endCxn id="7" idx="3"/>
          </p:cNvCxnSpPr>
          <p:nvPr/>
        </p:nvCxnSpPr>
        <p:spPr>
          <a:xfrm flipH="1">
            <a:off x="2263394" y="3603829"/>
            <a:ext cx="2799919" cy="2560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6" idx="3"/>
          </p:cNvCxnSpPr>
          <p:nvPr/>
        </p:nvCxnSpPr>
        <p:spPr>
          <a:xfrm flipH="1">
            <a:off x="2263394" y="3895567"/>
            <a:ext cx="2060978" cy="672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8" idx="3"/>
          </p:cNvCxnSpPr>
          <p:nvPr/>
        </p:nvCxnSpPr>
        <p:spPr>
          <a:xfrm flipH="1" flipV="1">
            <a:off x="2174336" y="2880768"/>
            <a:ext cx="4450880" cy="1223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2417992" y="1417638"/>
            <a:ext cx="2863956" cy="15855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24372" y="1638086"/>
            <a:ext cx="4462129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Purchase</a:t>
            </a:r>
            <a:r>
              <a:rPr lang="en-US" sz="2400" dirty="0" smtClean="0"/>
              <a:t>(product, price, quantity)</a:t>
            </a:r>
          </a:p>
          <a:p>
            <a:r>
              <a:rPr lang="en-US" sz="2400" b="1" dirty="0" smtClean="0"/>
              <a:t>Product</a:t>
            </a:r>
            <a:r>
              <a:rPr lang="en-US" sz="2400" dirty="0" smtClean="0"/>
              <a:t>(</a:t>
            </a:r>
            <a:r>
              <a:rPr lang="en-US" sz="2400" dirty="0" err="1" smtClean="0"/>
              <a:t>pname</a:t>
            </a:r>
            <a:r>
              <a:rPr lang="en-US" sz="2400" dirty="0" smtClean="0"/>
              <a:t>, manufacturer)</a:t>
            </a:r>
            <a:endParaRPr lang="en-US" sz="24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7923"/>
              </p:ext>
            </p:extLst>
          </p:nvPr>
        </p:nvGraphicFramePr>
        <p:xfrm>
          <a:off x="2685424" y="5432902"/>
          <a:ext cx="2654758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4891"/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product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69707"/>
              </p:ext>
            </p:extLst>
          </p:nvPr>
        </p:nvGraphicFramePr>
        <p:xfrm>
          <a:off x="98529" y="3372193"/>
          <a:ext cx="2654758" cy="741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4891"/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product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03068"/>
              </p:ext>
            </p:extLst>
          </p:nvPr>
        </p:nvGraphicFramePr>
        <p:xfrm>
          <a:off x="768125" y="1599611"/>
          <a:ext cx="1649867" cy="741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67366"/>
              </p:ext>
            </p:extLst>
          </p:nvPr>
        </p:nvGraphicFramePr>
        <p:xfrm>
          <a:off x="768125" y="462022"/>
          <a:ext cx="1028483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2848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480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77776" y="2880768"/>
            <a:ext cx="5459991" cy="15696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SELECT</a:t>
            </a:r>
            <a:r>
              <a:rPr lang="en-US" sz="2400" dirty="0" smtClean="0">
                <a:latin typeface="Consolas"/>
                <a:cs typeface="Consolas"/>
              </a:rPr>
              <a:t> * 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FROM</a:t>
            </a:r>
            <a:r>
              <a:rPr lang="en-US" sz="2400" dirty="0" smtClean="0">
                <a:latin typeface="Consolas"/>
                <a:cs typeface="Consolas"/>
              </a:rPr>
              <a:t> Product x, Purchase y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WHERE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x.pname</a:t>
            </a:r>
            <a:r>
              <a:rPr lang="en-US" sz="2400" dirty="0" smtClean="0">
                <a:latin typeface="Consolas"/>
                <a:cs typeface="Consolas"/>
              </a:rPr>
              <a:t> = </a:t>
            </a:r>
            <a:r>
              <a:rPr lang="en-US" sz="2400" dirty="0" err="1" smtClean="0">
                <a:latin typeface="Consolas"/>
                <a:cs typeface="Consolas"/>
              </a:rPr>
              <a:t>y.product</a:t>
            </a:r>
            <a:endParaRPr lang="en-US" sz="2400" dirty="0" smtClean="0">
              <a:latin typeface="Consolas"/>
              <a:cs typeface="Consolas"/>
            </a:endParaRP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GROUP BY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x.manufacturer</a:t>
            </a:r>
            <a:endParaRPr lang="en-US" sz="2400" dirty="0" smtClean="0">
              <a:latin typeface="Consolas"/>
              <a:cs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666" y="3298767"/>
            <a:ext cx="17075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ea typeface="Arial Unicode MS" charset="0"/>
                <a:cs typeface="Arial Unicode MS" charset="0"/>
              </a:rPr>
              <a:t>⋈</a:t>
            </a:r>
            <a:r>
              <a:rPr lang="en-US" baseline="-25000" dirty="0" smtClean="0">
                <a:cs typeface="Symbol" charset="2"/>
              </a:rPr>
              <a:t> </a:t>
            </a:r>
            <a:r>
              <a:rPr lang="en-US" baseline="-25000" dirty="0" err="1" smtClean="0">
                <a:cs typeface="Symbol" charset="2"/>
              </a:rPr>
              <a:t>pname</a:t>
            </a:r>
            <a:r>
              <a:rPr lang="en-US" baseline="-25000" dirty="0" smtClean="0">
                <a:cs typeface="Symbol" charset="2"/>
              </a:rPr>
              <a:t> = product</a:t>
            </a:r>
            <a:endParaRPr lang="en-US" baseline="-25000" dirty="0">
              <a:latin typeface="Symbol" charset="2"/>
              <a:cs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426" y="4492109"/>
            <a:ext cx="14983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Product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405016" y="2176695"/>
            <a:ext cx="29468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cs typeface="Symbol" charset="2"/>
              </a:rPr>
              <a:t>GROUP-BY </a:t>
            </a:r>
            <a:r>
              <a:rPr lang="en-US" baseline="-25000" dirty="0" smtClean="0"/>
              <a:t>manufacturer</a:t>
            </a:r>
            <a:endParaRPr lang="en-US" baseline="-25000" dirty="0"/>
          </a:p>
        </p:txBody>
      </p:sp>
      <p:cxnSp>
        <p:nvCxnSpPr>
          <p:cNvPr id="9" name="Straight Connector 8"/>
          <p:cNvCxnSpPr>
            <a:stCxn id="7" idx="0"/>
            <a:endCxn id="6" idx="2"/>
          </p:cNvCxnSpPr>
          <p:nvPr/>
        </p:nvCxnSpPr>
        <p:spPr>
          <a:xfrm flipV="1">
            <a:off x="1043590" y="3883543"/>
            <a:ext cx="834830" cy="608566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0"/>
            <a:endCxn id="8" idx="2"/>
          </p:cNvCxnSpPr>
          <p:nvPr/>
        </p:nvCxnSpPr>
        <p:spPr>
          <a:xfrm flipV="1">
            <a:off x="1878420" y="2761471"/>
            <a:ext cx="4" cy="537296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24372" y="1638086"/>
            <a:ext cx="4462129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Purchase</a:t>
            </a:r>
            <a:r>
              <a:rPr lang="en-US" sz="2400" dirty="0" smtClean="0"/>
              <a:t>(product, price, quantity)</a:t>
            </a:r>
          </a:p>
          <a:p>
            <a:r>
              <a:rPr lang="en-US" sz="2400" b="1" dirty="0" smtClean="0"/>
              <a:t>Product</a:t>
            </a:r>
            <a:r>
              <a:rPr lang="en-US" sz="2400" dirty="0" smtClean="0"/>
              <a:t>(</a:t>
            </a:r>
            <a:r>
              <a:rPr lang="en-US" sz="2400" dirty="0" err="1" smtClean="0"/>
              <a:t>pname</a:t>
            </a:r>
            <a:r>
              <a:rPr lang="en-US" sz="2400" dirty="0" smtClean="0"/>
              <a:t>, manufacturer)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2265998" y="4516831"/>
            <a:ext cx="17057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Purchase</a:t>
            </a:r>
            <a:endParaRPr lang="en-US" sz="3200" dirty="0"/>
          </a:p>
        </p:txBody>
      </p:sp>
      <p:cxnSp>
        <p:nvCxnSpPr>
          <p:cNvPr id="20" name="Straight Connector 19"/>
          <p:cNvCxnSpPr>
            <a:stCxn id="19" idx="0"/>
            <a:endCxn id="6" idx="2"/>
          </p:cNvCxnSpPr>
          <p:nvPr/>
        </p:nvCxnSpPr>
        <p:spPr>
          <a:xfrm flipH="1" flipV="1">
            <a:off x="1878420" y="3883543"/>
            <a:ext cx="1240436" cy="633288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281911" y="3446210"/>
            <a:ext cx="2195866" cy="10706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6" idx="3"/>
          </p:cNvCxnSpPr>
          <p:nvPr/>
        </p:nvCxnSpPr>
        <p:spPr>
          <a:xfrm flipH="1" flipV="1">
            <a:off x="2732174" y="3591155"/>
            <a:ext cx="1239540" cy="292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2658778" y="3446210"/>
            <a:ext cx="818998" cy="12216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2042490" y="2761472"/>
            <a:ext cx="1802195" cy="14049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28202"/>
              </p:ext>
            </p:extLst>
          </p:nvPr>
        </p:nvGraphicFramePr>
        <p:xfrm>
          <a:off x="197742" y="5135503"/>
          <a:ext cx="1982055" cy="1320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69393"/>
                <a:gridCol w="10126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pname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manufacturer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Nestle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Starbucks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9107"/>
              </p:ext>
            </p:extLst>
          </p:nvPr>
        </p:nvGraphicFramePr>
        <p:xfrm>
          <a:off x="2339587" y="5135503"/>
          <a:ext cx="2654758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4891"/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product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1835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of a Query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584" y="2527523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Admission Control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2788584" y="3528975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Parsing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2788584" y="4564943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Query Optimization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2788584" y="5649230"/>
            <a:ext cx="3451217" cy="5660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Query Execution</a:t>
            </a:r>
            <a:endParaRPr lang="en-US" sz="2200" dirty="0"/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>
            <a:off x="4514193" y="3093558"/>
            <a:ext cx="0" cy="4354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>
            <a:off x="4514193" y="4095010"/>
            <a:ext cx="0" cy="4699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>
            <a:off x="4514193" y="5130978"/>
            <a:ext cx="0" cy="5182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4" idx="0"/>
          </p:cNvCxnSpPr>
          <p:nvPr/>
        </p:nvCxnSpPr>
        <p:spPr>
          <a:xfrm>
            <a:off x="4514193" y="2015638"/>
            <a:ext cx="0" cy="511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69199" y="1616712"/>
            <a:ext cx="8899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Query</a:t>
            </a:r>
            <a:endParaRPr lang="en-US" sz="2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367956" y="4664982"/>
            <a:ext cx="1845473" cy="1816140"/>
          </a:xfrm>
          <a:prstGeom prst="wedgeRoundRectCallout">
            <a:avLst>
              <a:gd name="adj1" fmla="val 77572"/>
              <a:gd name="adj2" fmla="val -37500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Choose the </a:t>
            </a:r>
            <a:r>
              <a:rPr lang="en-US" sz="2200" b="1" dirty="0" smtClean="0">
                <a:solidFill>
                  <a:srgbClr val="1F497D"/>
                </a:solidFill>
              </a:rPr>
              <a:t>best set of algorithms </a:t>
            </a:r>
            <a:r>
              <a:rPr lang="en-US" sz="2200" dirty="0" smtClean="0"/>
              <a:t>to execute the query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23764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Find the </a:t>
            </a:r>
            <a:r>
              <a:rPr lang="en-US" b="1" dirty="0" smtClean="0">
                <a:solidFill>
                  <a:srgbClr val="1F497D"/>
                </a:solidFill>
              </a:rPr>
              <a:t>best way</a:t>
            </a:r>
            <a:r>
              <a:rPr lang="en-US" dirty="0" smtClean="0"/>
              <a:t> to execute a query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Given a query plan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Construct </a:t>
            </a:r>
            <a:r>
              <a:rPr lang="en-US" b="1" dirty="0" smtClean="0">
                <a:solidFill>
                  <a:srgbClr val="1F497D"/>
                </a:solidFill>
              </a:rPr>
              <a:t>alternate, equivalen</a:t>
            </a:r>
            <a:r>
              <a:rPr lang="en-US" dirty="0" smtClean="0"/>
              <a:t>t plans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Determine their </a:t>
            </a:r>
            <a:r>
              <a:rPr lang="en-US" b="1" dirty="0" smtClean="0">
                <a:solidFill>
                  <a:srgbClr val="1F497D"/>
                </a:solidFill>
              </a:rPr>
              <a:t>cost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the </a:t>
            </a:r>
            <a:r>
              <a:rPr lang="en-US" b="1" dirty="0" smtClean="0">
                <a:solidFill>
                  <a:srgbClr val="1F497D"/>
                </a:solidFill>
              </a:rPr>
              <a:t>cheapest</a:t>
            </a:r>
            <a:r>
              <a:rPr lang="en-US" dirty="0" smtClean="0"/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8661634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Plan 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84010" y="2762616"/>
            <a:ext cx="5102492" cy="15696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SELECT</a:t>
            </a:r>
            <a:r>
              <a:rPr lang="en-US" sz="2400" dirty="0" smtClean="0">
                <a:latin typeface="Consolas"/>
                <a:cs typeface="Consolas"/>
              </a:rPr>
              <a:t> * 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FROM</a:t>
            </a:r>
            <a:r>
              <a:rPr lang="en-US" sz="2400" dirty="0" smtClean="0">
                <a:latin typeface="Consolas"/>
                <a:cs typeface="Consolas"/>
              </a:rPr>
              <a:t> Product x, Purchase y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WHERE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x.pname</a:t>
            </a:r>
            <a:r>
              <a:rPr lang="en-US" sz="2400" dirty="0" smtClean="0">
                <a:latin typeface="Consolas"/>
                <a:cs typeface="Consolas"/>
              </a:rPr>
              <a:t> = </a:t>
            </a:r>
            <a:r>
              <a:rPr lang="en-US" sz="2400" dirty="0" err="1" smtClean="0">
                <a:latin typeface="Consolas"/>
                <a:cs typeface="Consolas"/>
              </a:rPr>
              <a:t>y.product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      AND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y.product</a:t>
            </a:r>
            <a:r>
              <a:rPr lang="en-US" sz="2400" dirty="0" smtClean="0">
                <a:latin typeface="Consolas"/>
                <a:cs typeface="Consolas"/>
              </a:rPr>
              <a:t> = ‘bagel’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4080" y="3747500"/>
            <a:ext cx="17075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ea typeface="Arial Unicode MS" charset="0"/>
                <a:cs typeface="Arial Unicode MS" charset="0"/>
              </a:rPr>
              <a:t>⋈</a:t>
            </a:r>
            <a:r>
              <a:rPr lang="en-US" baseline="-25000" dirty="0" smtClean="0">
                <a:cs typeface="Symbol" charset="2"/>
              </a:rPr>
              <a:t> </a:t>
            </a:r>
            <a:r>
              <a:rPr lang="en-US" baseline="-25000" dirty="0" err="1" smtClean="0">
                <a:cs typeface="Symbol" charset="2"/>
              </a:rPr>
              <a:t>pname</a:t>
            </a:r>
            <a:r>
              <a:rPr lang="en-US" baseline="-25000" dirty="0" smtClean="0">
                <a:cs typeface="Symbol" charset="2"/>
              </a:rPr>
              <a:t> = product</a:t>
            </a:r>
            <a:endParaRPr lang="en-US" baseline="-25000" dirty="0">
              <a:latin typeface="Symbol" charset="2"/>
              <a:cs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1405" y="4967011"/>
            <a:ext cx="14983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Product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277435" y="1638086"/>
            <a:ext cx="15953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Symbol" charset="2"/>
                <a:cs typeface="Symbol" charset="2"/>
              </a:rPr>
              <a:t>s</a:t>
            </a:r>
            <a:r>
              <a:rPr lang="en-US" sz="3200" b="1" dirty="0" smtClean="0">
                <a:cs typeface="Symbol" charset="2"/>
              </a:rPr>
              <a:t> </a:t>
            </a:r>
            <a:r>
              <a:rPr lang="en-US" baseline="-25000" dirty="0"/>
              <a:t>p</a:t>
            </a:r>
            <a:r>
              <a:rPr lang="en-US" baseline="-25000" dirty="0" smtClean="0"/>
              <a:t>roduct = ‘bagel’</a:t>
            </a:r>
            <a:endParaRPr lang="en-US" baseline="-25000" dirty="0"/>
          </a:p>
        </p:txBody>
      </p:sp>
      <p:cxnSp>
        <p:nvCxnSpPr>
          <p:cNvPr id="9" name="Straight Connector 8"/>
          <p:cNvCxnSpPr>
            <a:stCxn id="7" idx="0"/>
            <a:endCxn id="6" idx="2"/>
          </p:cNvCxnSpPr>
          <p:nvPr/>
        </p:nvCxnSpPr>
        <p:spPr>
          <a:xfrm flipV="1">
            <a:off x="1060569" y="4332276"/>
            <a:ext cx="977265" cy="634735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0"/>
            <a:endCxn id="8" idx="2"/>
          </p:cNvCxnSpPr>
          <p:nvPr/>
        </p:nvCxnSpPr>
        <p:spPr>
          <a:xfrm flipV="1">
            <a:off x="2037834" y="2222862"/>
            <a:ext cx="37256" cy="1524638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24372" y="1638086"/>
            <a:ext cx="4462129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Purchase</a:t>
            </a:r>
            <a:r>
              <a:rPr lang="en-US" sz="2400" dirty="0" smtClean="0"/>
              <a:t>(product, price, quantity)</a:t>
            </a:r>
          </a:p>
          <a:p>
            <a:r>
              <a:rPr lang="en-US" sz="2400" b="1" dirty="0" smtClean="0"/>
              <a:t>Product</a:t>
            </a:r>
            <a:r>
              <a:rPr lang="en-US" sz="2400" dirty="0" smtClean="0"/>
              <a:t>(</a:t>
            </a:r>
            <a:r>
              <a:rPr lang="en-US" sz="2400" dirty="0" err="1" smtClean="0"/>
              <a:t>pname</a:t>
            </a:r>
            <a:r>
              <a:rPr lang="en-US" sz="2400" dirty="0" smtClean="0"/>
              <a:t>, manufacturer)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2425412" y="4965564"/>
            <a:ext cx="17057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Purchase</a:t>
            </a:r>
            <a:endParaRPr lang="en-US" sz="3200" dirty="0"/>
          </a:p>
        </p:txBody>
      </p:sp>
      <p:cxnSp>
        <p:nvCxnSpPr>
          <p:cNvPr id="20" name="Straight Connector 19"/>
          <p:cNvCxnSpPr>
            <a:stCxn id="19" idx="0"/>
            <a:endCxn id="6" idx="2"/>
          </p:cNvCxnSpPr>
          <p:nvPr/>
        </p:nvCxnSpPr>
        <p:spPr>
          <a:xfrm flipH="1" flipV="1">
            <a:off x="2037834" y="4332276"/>
            <a:ext cx="1240436" cy="633288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13431"/>
              </p:ext>
            </p:extLst>
          </p:nvPr>
        </p:nvGraphicFramePr>
        <p:xfrm>
          <a:off x="283567" y="5499449"/>
          <a:ext cx="1982055" cy="1320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69393"/>
                <a:gridCol w="10126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pname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manufacturer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Nestle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Starbucks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09850"/>
              </p:ext>
            </p:extLst>
          </p:nvPr>
        </p:nvGraphicFramePr>
        <p:xfrm>
          <a:off x="2425412" y="5499449"/>
          <a:ext cx="2654758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4891"/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product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88186"/>
              </p:ext>
            </p:extLst>
          </p:nvPr>
        </p:nvGraphicFramePr>
        <p:xfrm>
          <a:off x="457200" y="2469083"/>
          <a:ext cx="5000880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38572"/>
                <a:gridCol w="1082324"/>
                <a:gridCol w="1287264"/>
                <a:gridCol w="829087"/>
                <a:gridCol w="7636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qty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Nestle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croissant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Starbuck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croissant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46882"/>
              </p:ext>
            </p:extLst>
          </p:nvPr>
        </p:nvGraphicFramePr>
        <p:xfrm>
          <a:off x="79290" y="1070281"/>
          <a:ext cx="5000880" cy="741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38572"/>
                <a:gridCol w="1082324"/>
                <a:gridCol w="1287264"/>
                <a:gridCol w="829087"/>
                <a:gridCol w="7636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qty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Nestle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148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Query Plan 2: Pushing Selections Down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84010" y="2762616"/>
            <a:ext cx="5102492" cy="15696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SELECT</a:t>
            </a:r>
            <a:r>
              <a:rPr lang="en-US" sz="2400" dirty="0" smtClean="0">
                <a:latin typeface="Consolas"/>
                <a:cs typeface="Consolas"/>
              </a:rPr>
              <a:t> * 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FROM</a:t>
            </a:r>
            <a:r>
              <a:rPr lang="en-US" sz="2400" dirty="0" smtClean="0">
                <a:latin typeface="Consolas"/>
                <a:cs typeface="Consolas"/>
              </a:rPr>
              <a:t> Product x, Purchase y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WHERE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x.pname</a:t>
            </a:r>
            <a:r>
              <a:rPr lang="en-US" sz="2400" dirty="0" smtClean="0">
                <a:latin typeface="Consolas"/>
                <a:cs typeface="Consolas"/>
              </a:rPr>
              <a:t> = </a:t>
            </a:r>
            <a:r>
              <a:rPr lang="en-US" sz="2400" dirty="0" err="1" smtClean="0">
                <a:latin typeface="Consolas"/>
                <a:cs typeface="Consolas"/>
              </a:rPr>
              <a:t>y.product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</a:p>
          <a:p>
            <a:r>
              <a:rPr lang="en-US" sz="2400" b="1" dirty="0" smtClean="0">
                <a:solidFill>
                  <a:srgbClr val="1F497D"/>
                </a:solidFill>
                <a:latin typeface="Consolas"/>
                <a:cs typeface="Consolas"/>
              </a:rPr>
              <a:t>      AND</a:t>
            </a:r>
            <a:r>
              <a:rPr lang="en-US" sz="2400" dirty="0" smtClean="0">
                <a:latin typeface="Consolas"/>
                <a:cs typeface="Consolas"/>
              </a:rPr>
              <a:t> </a:t>
            </a:r>
            <a:r>
              <a:rPr lang="en-US" sz="2400" dirty="0" err="1" smtClean="0">
                <a:latin typeface="Consolas"/>
                <a:cs typeface="Consolas"/>
              </a:rPr>
              <a:t>y.product</a:t>
            </a:r>
            <a:r>
              <a:rPr lang="en-US" sz="2400" dirty="0" smtClean="0">
                <a:latin typeface="Consolas"/>
                <a:cs typeface="Consolas"/>
              </a:rPr>
              <a:t> = ‘bagel’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435" y="1506075"/>
            <a:ext cx="17075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ea typeface="Arial Unicode MS" charset="0"/>
                <a:cs typeface="Arial Unicode MS" charset="0"/>
              </a:rPr>
              <a:t>⋈</a:t>
            </a:r>
            <a:r>
              <a:rPr lang="en-US" baseline="-25000" dirty="0" smtClean="0">
                <a:cs typeface="Symbol" charset="2"/>
              </a:rPr>
              <a:t> </a:t>
            </a:r>
            <a:r>
              <a:rPr lang="en-US" baseline="-25000" dirty="0" err="1" smtClean="0">
                <a:cs typeface="Symbol" charset="2"/>
              </a:rPr>
              <a:t>pname</a:t>
            </a:r>
            <a:r>
              <a:rPr lang="en-US" baseline="-25000" dirty="0" smtClean="0">
                <a:cs typeface="Symbol" charset="2"/>
              </a:rPr>
              <a:t> = product</a:t>
            </a:r>
            <a:endParaRPr lang="en-US" baseline="-25000" dirty="0">
              <a:latin typeface="Symbol" charset="2"/>
              <a:cs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1400" y="4431455"/>
            <a:ext cx="14983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Product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62909" y="3371066"/>
            <a:ext cx="15953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Symbol" charset="2"/>
                <a:cs typeface="Symbol" charset="2"/>
              </a:rPr>
              <a:t>s</a:t>
            </a:r>
            <a:r>
              <a:rPr lang="en-US" sz="3200" b="1" dirty="0" smtClean="0">
                <a:cs typeface="Symbol" charset="2"/>
              </a:rPr>
              <a:t> </a:t>
            </a:r>
            <a:r>
              <a:rPr lang="en-US" baseline="-25000" dirty="0"/>
              <a:t>p</a:t>
            </a:r>
            <a:r>
              <a:rPr lang="en-US" baseline="-25000" dirty="0" smtClean="0"/>
              <a:t>roduct = ‘bagel’</a:t>
            </a:r>
            <a:endParaRPr lang="en-US" baseline="-25000" dirty="0"/>
          </a:p>
        </p:txBody>
      </p:sp>
      <p:cxnSp>
        <p:nvCxnSpPr>
          <p:cNvPr id="9" name="Straight Connector 8"/>
          <p:cNvCxnSpPr>
            <a:stCxn id="8" idx="0"/>
            <a:endCxn id="6" idx="2"/>
          </p:cNvCxnSpPr>
          <p:nvPr/>
        </p:nvCxnSpPr>
        <p:spPr>
          <a:xfrm flipV="1">
            <a:off x="1060564" y="2090851"/>
            <a:ext cx="1040625" cy="1280215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0"/>
            <a:endCxn id="8" idx="2"/>
          </p:cNvCxnSpPr>
          <p:nvPr/>
        </p:nvCxnSpPr>
        <p:spPr>
          <a:xfrm flipV="1">
            <a:off x="1060564" y="3955842"/>
            <a:ext cx="0" cy="475613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24372" y="1638086"/>
            <a:ext cx="4462129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Purchase</a:t>
            </a:r>
            <a:r>
              <a:rPr lang="en-US" sz="2400" dirty="0" smtClean="0"/>
              <a:t>(product, price, quantity)</a:t>
            </a:r>
          </a:p>
          <a:p>
            <a:r>
              <a:rPr lang="en-US" sz="2400" b="1" dirty="0" smtClean="0"/>
              <a:t>Product</a:t>
            </a:r>
            <a:r>
              <a:rPr lang="en-US" sz="2400" dirty="0" smtClean="0"/>
              <a:t>(</a:t>
            </a:r>
            <a:r>
              <a:rPr lang="en-US" sz="2400" dirty="0" err="1" smtClean="0"/>
              <a:t>pname</a:t>
            </a:r>
            <a:r>
              <a:rPr lang="en-US" sz="2400" dirty="0" smtClean="0"/>
              <a:t>, manufacturer)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2425407" y="4430008"/>
            <a:ext cx="17057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Purchase</a:t>
            </a:r>
            <a:endParaRPr lang="en-US" sz="3200" dirty="0"/>
          </a:p>
        </p:txBody>
      </p:sp>
      <p:cxnSp>
        <p:nvCxnSpPr>
          <p:cNvPr id="20" name="Straight Connector 19"/>
          <p:cNvCxnSpPr>
            <a:stCxn id="19" idx="0"/>
            <a:endCxn id="6" idx="2"/>
          </p:cNvCxnSpPr>
          <p:nvPr/>
        </p:nvCxnSpPr>
        <p:spPr>
          <a:xfrm flipH="1" flipV="1">
            <a:off x="2101189" y="2090851"/>
            <a:ext cx="1177076" cy="2339157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73795"/>
              </p:ext>
            </p:extLst>
          </p:nvPr>
        </p:nvGraphicFramePr>
        <p:xfrm>
          <a:off x="283562" y="4963893"/>
          <a:ext cx="1982055" cy="1320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52230"/>
                <a:gridCol w="10298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pname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manufacturer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Nestle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Starbucks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37747"/>
              </p:ext>
            </p:extLst>
          </p:nvPr>
        </p:nvGraphicFramePr>
        <p:xfrm>
          <a:off x="2425407" y="4963893"/>
          <a:ext cx="2654758" cy="11125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4891"/>
                <a:gridCol w="621384"/>
                <a:gridCol w="1028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product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quantity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croissant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76444" y="5256281"/>
            <a:ext cx="2686152" cy="5847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More efficient!</a:t>
            </a:r>
            <a:endParaRPr lang="en-US" sz="32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602999"/>
              </p:ext>
            </p:extLst>
          </p:nvPr>
        </p:nvGraphicFramePr>
        <p:xfrm>
          <a:off x="262909" y="2421106"/>
          <a:ext cx="1754266" cy="9499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79671"/>
                <a:gridCol w="9745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pname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manufacturer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bagel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Nestle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379099"/>
              </p:ext>
            </p:extLst>
          </p:nvPr>
        </p:nvGraphicFramePr>
        <p:xfrm>
          <a:off x="454503" y="675958"/>
          <a:ext cx="5000880" cy="741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38572"/>
                <a:gridCol w="1082324"/>
                <a:gridCol w="1287264"/>
                <a:gridCol w="829087"/>
                <a:gridCol w="7636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qty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Nestle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bagel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595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of Query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decide </a:t>
            </a:r>
            <a:r>
              <a:rPr lang="en-US" b="1" dirty="0" smtClean="0">
                <a:solidFill>
                  <a:schemeClr val="tx2"/>
                </a:solidFill>
              </a:rPr>
              <a:t>which plan to pick</a:t>
            </a:r>
          </a:p>
          <a:p>
            <a:r>
              <a:rPr lang="en-US" dirty="0" smtClean="0"/>
              <a:t>Cost approximates </a:t>
            </a:r>
            <a:r>
              <a:rPr lang="en-US" b="1" dirty="0" smtClean="0">
                <a:solidFill>
                  <a:srgbClr val="1F497D"/>
                </a:solidFill>
              </a:rPr>
              <a:t>how much time</a:t>
            </a:r>
            <a:r>
              <a:rPr lang="en-US" dirty="0" smtClean="0"/>
              <a:t> the query would take</a:t>
            </a:r>
          </a:p>
          <a:p>
            <a:r>
              <a:rPr lang="en-US" dirty="0" smtClean="0"/>
              <a:t>Depends on:</a:t>
            </a:r>
          </a:p>
          <a:p>
            <a:pPr lvl="1"/>
            <a:r>
              <a:rPr lang="en-US" dirty="0" smtClean="0"/>
              <a:t>How relations are </a:t>
            </a:r>
            <a:r>
              <a:rPr lang="en-US" b="1" dirty="0" smtClean="0">
                <a:solidFill>
                  <a:srgbClr val="1F497D"/>
                </a:solidFill>
              </a:rPr>
              <a:t>stored on disk</a:t>
            </a:r>
          </a:p>
          <a:p>
            <a:pPr lvl="1"/>
            <a:r>
              <a:rPr lang="en-US" dirty="0" smtClean="0"/>
              <a:t>How the </a:t>
            </a:r>
            <a:r>
              <a:rPr lang="en-US" b="1" dirty="0" smtClean="0">
                <a:solidFill>
                  <a:srgbClr val="1F497D"/>
                </a:solidFill>
              </a:rPr>
              <a:t>operator is implemented</a:t>
            </a:r>
            <a:endParaRPr lang="en-US" b="1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533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077200" cy="43434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DBMSs</a:t>
            </a:r>
            <a:r>
              <a:rPr lang="en-US" dirty="0" smtClean="0"/>
              <a:t> store data in </a:t>
            </a:r>
            <a:r>
              <a:rPr lang="en-US" b="1" dirty="0" smtClean="0"/>
              <a:t>files</a:t>
            </a:r>
          </a:p>
          <a:p>
            <a:r>
              <a:rPr lang="en-US" dirty="0" smtClean="0"/>
              <a:t>Most common organization is row-wise storage</a:t>
            </a:r>
          </a:p>
          <a:p>
            <a:r>
              <a:rPr lang="en-US" dirty="0" smtClean="0"/>
              <a:t>On disk, a file is split into </a:t>
            </a:r>
          </a:p>
          <a:p>
            <a:pPr>
              <a:buNone/>
            </a:pPr>
            <a:r>
              <a:rPr lang="en-US" dirty="0" smtClean="0"/>
              <a:t>	blocks</a:t>
            </a:r>
          </a:p>
          <a:p>
            <a:r>
              <a:rPr lang="en-US" dirty="0" smtClean="0"/>
              <a:t>Each block contains </a:t>
            </a:r>
          </a:p>
          <a:p>
            <a:pPr>
              <a:buNone/>
            </a:pPr>
            <a:r>
              <a:rPr lang="en-US" dirty="0" smtClean="0"/>
              <a:t>	a set of </a:t>
            </a:r>
            <a:r>
              <a:rPr lang="en-US" dirty="0" err="1" smtClean="0"/>
              <a:t>tuples</a:t>
            </a:r>
            <a:endParaRPr lang="en-US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In the example, we have 4 blocks with 2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each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F1BD2E-BDAA-724E-B585-BE7A394C2B1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6" name="Group 38"/>
          <p:cNvGraphicFramePr>
            <a:graphicFrameLocks noGrp="1"/>
          </p:cNvGraphicFramePr>
          <p:nvPr/>
        </p:nvGraphicFramePr>
        <p:xfrm>
          <a:off x="5638800" y="3048000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…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49"/>
          <p:cNvGraphicFramePr>
            <a:graphicFrameLocks noGrp="1"/>
          </p:cNvGraphicFramePr>
          <p:nvPr/>
        </p:nvGraphicFramePr>
        <p:xfrm>
          <a:off x="5638800" y="3733799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60"/>
          <p:cNvGraphicFramePr>
            <a:graphicFrameLocks noGrp="1"/>
          </p:cNvGraphicFramePr>
          <p:nvPr/>
        </p:nvGraphicFramePr>
        <p:xfrm>
          <a:off x="5638800" y="4419599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71"/>
          <p:cNvGraphicFramePr>
            <a:graphicFrameLocks noGrp="1"/>
          </p:cNvGraphicFramePr>
          <p:nvPr/>
        </p:nvGraphicFramePr>
        <p:xfrm>
          <a:off x="5638800" y="5105399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6951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408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Parameters</a:t>
            </a:r>
          </a:p>
        </p:txBody>
      </p:sp>
      <p:sp>
        <p:nvSpPr>
          <p:cNvPr id="408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database systems the data is on disk</a:t>
            </a:r>
          </a:p>
          <a:p>
            <a:r>
              <a:rPr lang="en-US" b="1" dirty="0">
                <a:solidFill>
                  <a:srgbClr val="FF0000"/>
                </a:solidFill>
              </a:rPr>
              <a:t>Cost = total number of I/</a:t>
            </a:r>
            <a:r>
              <a:rPr lang="en-US" b="1" dirty="0" err="1" smtClean="0">
                <a:solidFill>
                  <a:srgbClr val="FF0000"/>
                </a:solidFill>
              </a:rPr>
              <a:t>Os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This is a simplification</a:t>
            </a:r>
          </a:p>
          <a:p>
            <a:pPr lvl="1"/>
            <a:r>
              <a:rPr lang="en-US" dirty="0" smtClean="0"/>
              <a:t>Normally, need to consider IO, CPU, and network</a:t>
            </a:r>
          </a:p>
          <a:p>
            <a:r>
              <a:rPr lang="en-US" dirty="0" smtClean="0"/>
              <a:t>Cost of an operation = number of disk I/</a:t>
            </a:r>
            <a:r>
              <a:rPr lang="en-US" dirty="0" err="1" smtClean="0"/>
              <a:t>Os</a:t>
            </a:r>
            <a:r>
              <a:rPr lang="en-US" dirty="0" smtClean="0"/>
              <a:t> to</a:t>
            </a:r>
          </a:p>
          <a:p>
            <a:pPr lvl="1"/>
            <a:r>
              <a:rPr lang="en-US" dirty="0" smtClean="0"/>
              <a:t>Read the operands</a:t>
            </a:r>
          </a:p>
          <a:p>
            <a:pPr lvl="1"/>
            <a:r>
              <a:rPr lang="en-US" dirty="0" smtClean="0"/>
              <a:t>Compute the result</a:t>
            </a:r>
            <a:endParaRPr lang="en-US" dirty="0"/>
          </a:p>
          <a:p>
            <a:r>
              <a:rPr lang="en-US" dirty="0"/>
              <a:t>Parameters: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B(R) = # of blocks (i.e., pages) for relation R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T(R) = # of tuples in relation </a:t>
            </a:r>
            <a:r>
              <a:rPr lang="en-US" b="1" dirty="0" smtClean="0">
                <a:solidFill>
                  <a:srgbClr val="0000FF"/>
                </a:solidFill>
              </a:rPr>
              <a:t>R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60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406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Join </a:t>
            </a:r>
            <a:r>
              <a:rPr lang="en-US" dirty="0"/>
              <a:t>Algorithms</a:t>
            </a:r>
          </a:p>
        </p:txBody>
      </p:sp>
      <p:sp>
        <p:nvSpPr>
          <p:cNvPr id="4065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Operator</a:t>
            </a:r>
            <a:r>
              <a:rPr lang="en-US" dirty="0"/>
              <a:t>:</a:t>
            </a:r>
          </a:p>
          <a:p>
            <a:pPr lvl="1"/>
            <a:r>
              <a:rPr lang="en-US" dirty="0" smtClean="0">
                <a:latin typeface="Consolas"/>
                <a:cs typeface="Consolas"/>
              </a:rPr>
              <a:t>Product</a:t>
            </a:r>
            <a:r>
              <a:rPr lang="en-US" dirty="0" smtClean="0"/>
              <a:t> </a:t>
            </a:r>
            <a:r>
              <a:rPr lang="en-US" dirty="0">
                <a:ea typeface="Arial Unicode MS" charset="0"/>
                <a:cs typeface="Arial Unicode MS" charset="0"/>
              </a:rPr>
              <a:t>⋈</a:t>
            </a:r>
            <a:r>
              <a:rPr lang="en-US" dirty="0"/>
              <a:t> </a:t>
            </a:r>
            <a:r>
              <a:rPr lang="en-US" dirty="0" smtClean="0">
                <a:latin typeface="Consolas"/>
                <a:cs typeface="Consolas"/>
              </a:rPr>
              <a:t>Company</a:t>
            </a:r>
            <a:endParaRPr lang="en-US" dirty="0">
              <a:latin typeface="Consolas"/>
              <a:cs typeface="Consolas"/>
            </a:endParaRPr>
          </a:p>
          <a:p>
            <a:endParaRPr lang="en-US" dirty="0"/>
          </a:p>
          <a:p>
            <a:r>
              <a:rPr lang="en-US" dirty="0"/>
              <a:t>Propose three </a:t>
            </a:r>
            <a:r>
              <a:rPr lang="en-US" dirty="0" smtClean="0"/>
              <a:t>algorithms for </a:t>
            </a:r>
            <a:r>
              <a:rPr lang="en-US" dirty="0"/>
              <a:t>the join, assuming the </a:t>
            </a:r>
            <a:r>
              <a:rPr lang="en-US" dirty="0">
                <a:solidFill>
                  <a:srgbClr val="1F497D"/>
                </a:solidFill>
              </a:rPr>
              <a:t>tables </a:t>
            </a:r>
            <a:r>
              <a:rPr lang="en-US" dirty="0" smtClean="0">
                <a:solidFill>
                  <a:srgbClr val="1F497D"/>
                </a:solidFill>
              </a:rPr>
              <a:t>fit </a:t>
            </a:r>
            <a:r>
              <a:rPr lang="en-US" dirty="0">
                <a:solidFill>
                  <a:srgbClr val="1F497D"/>
                </a:solidFill>
              </a:rPr>
              <a:t>in main memory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1F497D"/>
                </a:solidFill>
              </a:rPr>
              <a:t>Hash join</a:t>
            </a:r>
          </a:p>
          <a:p>
            <a:pPr lvl="1"/>
            <a:r>
              <a:rPr lang="en-US" b="1" dirty="0">
                <a:solidFill>
                  <a:srgbClr val="1F497D"/>
                </a:solidFill>
              </a:rPr>
              <a:t>Nested loop join</a:t>
            </a:r>
            <a:endParaRPr lang="en-US" dirty="0">
              <a:solidFill>
                <a:srgbClr val="1F497D"/>
              </a:solidFill>
            </a:endParaRPr>
          </a:p>
          <a:p>
            <a:pPr lvl="1"/>
            <a:r>
              <a:rPr lang="en-US" b="1" dirty="0">
                <a:solidFill>
                  <a:srgbClr val="1F497D"/>
                </a:solidFill>
              </a:rPr>
              <a:t>Sort-merge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69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Hash Join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Hash join:  R </a:t>
            </a:r>
            <a:r>
              <a:rPr lang="en-US" dirty="0">
                <a:ea typeface="Arial Unicode MS" charset="0"/>
                <a:cs typeface="Arial Unicode MS" charset="0"/>
              </a:rPr>
              <a:t>⋈</a:t>
            </a:r>
            <a:r>
              <a:rPr lang="en-US" dirty="0"/>
              <a:t> S</a:t>
            </a:r>
          </a:p>
          <a:p>
            <a:r>
              <a:rPr lang="en-US" dirty="0"/>
              <a:t>Scan R, build buckets in main memory</a:t>
            </a:r>
          </a:p>
          <a:p>
            <a:r>
              <a:rPr lang="en-US" dirty="0"/>
              <a:t>Then scan S and </a:t>
            </a:r>
            <a:r>
              <a:rPr lang="en-US" dirty="0" smtClean="0"/>
              <a:t>join</a:t>
            </a:r>
          </a:p>
          <a:p>
            <a:r>
              <a:rPr lang="en-US" dirty="0"/>
              <a:t>Cost: B(R) + B(S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54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16</a:t>
            </a:fld>
            <a:endParaRPr lang="en-US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0073" y="2935315"/>
            <a:ext cx="393564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latin typeface="Consolas"/>
                <a:cs typeface="Consolas"/>
              </a:rPr>
              <a:t>Patient   Insurance </a:t>
            </a:r>
            <a:endParaRPr lang="en-US" sz="2800" dirty="0">
              <a:latin typeface="Consolas"/>
              <a:cs typeface="Consolas"/>
            </a:endParaRPr>
          </a:p>
        </p:txBody>
      </p:sp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2504595" y="3162603"/>
            <a:ext cx="228600" cy="152400"/>
            <a:chOff x="480" y="4080"/>
            <a:chExt cx="96" cy="48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838200" y="1767712"/>
            <a:ext cx="5515002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800" b="1" dirty="0" err="1" smtClean="0">
                <a:solidFill>
                  <a:srgbClr val="1F497D"/>
                </a:solidFill>
                <a:latin typeface="Consolas"/>
                <a:cs typeface="Consolas"/>
              </a:rPr>
              <a:t>Patient</a:t>
            </a:r>
            <a:r>
              <a:rPr lang="en-US" sz="2800" dirty="0" err="1" smtClean="0">
                <a:latin typeface="Consolas"/>
                <a:cs typeface="Consolas"/>
              </a:rPr>
              <a:t>(pid</a:t>
            </a:r>
            <a:r>
              <a:rPr lang="en-US" sz="2800" dirty="0" smtClean="0">
                <a:latin typeface="Consolas"/>
                <a:cs typeface="Consolas"/>
              </a:rPr>
              <a:t>, name, address)</a:t>
            </a:r>
            <a:endParaRPr lang="en-US" sz="2800" dirty="0">
              <a:latin typeface="Consolas"/>
              <a:cs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8200" y="2290785"/>
            <a:ext cx="7094360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800" b="1" dirty="0" err="1" smtClean="0">
                <a:solidFill>
                  <a:srgbClr val="1F497D"/>
                </a:solidFill>
                <a:latin typeface="Consolas"/>
                <a:cs typeface="Consolas"/>
              </a:rPr>
              <a:t>Insurance</a:t>
            </a:r>
            <a:r>
              <a:rPr lang="en-US" sz="2800" dirty="0" err="1" smtClean="0">
                <a:latin typeface="Consolas"/>
                <a:cs typeface="Consolas"/>
              </a:rPr>
              <a:t>(pid</a:t>
            </a:r>
            <a:r>
              <a:rPr lang="en-US" sz="2800" dirty="0" smtClean="0">
                <a:latin typeface="Consolas"/>
                <a:cs typeface="Consolas"/>
              </a:rPr>
              <a:t>, provider, </a:t>
            </a:r>
            <a:r>
              <a:rPr lang="en-US" sz="2800" dirty="0" err="1" smtClean="0">
                <a:latin typeface="Consolas"/>
                <a:cs typeface="Consolas"/>
              </a:rPr>
              <a:t>policy_nb</a:t>
            </a:r>
            <a:r>
              <a:rPr lang="en-US" sz="2800" dirty="0" smtClean="0">
                <a:latin typeface="Consolas"/>
                <a:cs typeface="Consolas"/>
              </a:rPr>
              <a:t>)</a:t>
            </a:r>
            <a:endParaRPr lang="en-US" sz="2800" dirty="0">
              <a:latin typeface="Consolas"/>
              <a:cs typeface="Consolas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685800" y="3505200"/>
            <a:ext cx="73914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9511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371600" y="4606617"/>
            <a:ext cx="9144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‘Bob’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286000" y="4606617"/>
            <a:ext cx="14478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‘Seattle’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51199" y="501902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371600" y="5019020"/>
            <a:ext cx="9144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</a:t>
            </a:r>
            <a:r>
              <a:rPr lang="en-US" dirty="0" err="1" smtClean="0">
                <a:cs typeface="Arial"/>
              </a:rPr>
              <a:t>Ela</a:t>
            </a:r>
            <a:r>
              <a:rPr lang="en-US" dirty="0" smtClean="0">
                <a:cs typeface="Arial"/>
              </a:rPr>
              <a:t>’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286000" y="5019020"/>
            <a:ext cx="14478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‘Everett’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951199" y="5642014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371600" y="5642014"/>
            <a:ext cx="9144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‘Jill’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286000" y="5642014"/>
            <a:ext cx="14478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‘Kent’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51199" y="60544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371600" y="6054417"/>
            <a:ext cx="9144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‘Joe’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286000" y="6054417"/>
            <a:ext cx="1447800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‘Seattle’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82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800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257800" y="4616797"/>
            <a:ext cx="1219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‘Blue’</a:t>
            </a:r>
            <a:endParaRPr lang="en-US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6477000" y="4616797"/>
            <a:ext cx="9906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123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5257800" y="5029200"/>
            <a:ext cx="1219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</a:t>
            </a:r>
            <a:r>
              <a:rPr lang="en-US" dirty="0" err="1" smtClean="0">
                <a:cs typeface="Arial"/>
              </a:rPr>
              <a:t>Prem</a:t>
            </a:r>
            <a:r>
              <a:rPr lang="en-US" dirty="0" smtClean="0">
                <a:cs typeface="Arial"/>
              </a:rPr>
              <a:t>’</a:t>
            </a:r>
            <a:endParaRPr lang="en-US" dirty="0">
              <a:cs typeface="Arial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6477000" y="5029200"/>
            <a:ext cx="9906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432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0060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4800600" y="5652194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5257800" y="5652194"/>
            <a:ext cx="1219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</a:t>
            </a:r>
            <a:r>
              <a:rPr lang="en-US" dirty="0" err="1" smtClean="0">
                <a:cs typeface="Arial"/>
              </a:rPr>
              <a:t>Prem</a:t>
            </a:r>
            <a:r>
              <a:rPr lang="en-US" dirty="0" smtClean="0">
                <a:cs typeface="Arial"/>
              </a:rPr>
              <a:t>’</a:t>
            </a:r>
            <a:endParaRPr lang="en-US" dirty="0">
              <a:cs typeface="Arial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6477000" y="5652194"/>
            <a:ext cx="9906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343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4800600" y="6064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5257800" y="6064597"/>
            <a:ext cx="1219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‘</a:t>
            </a:r>
            <a:r>
              <a:rPr lang="en-US" dirty="0" err="1" smtClean="0">
                <a:cs typeface="Arial"/>
              </a:rPr>
              <a:t>GrpH</a:t>
            </a:r>
            <a:r>
              <a:rPr lang="en-US" dirty="0" smtClean="0">
                <a:cs typeface="Arial"/>
              </a:rPr>
              <a:t>’</a:t>
            </a:r>
            <a:endParaRPr lang="en-US" dirty="0">
              <a:cs typeface="Arial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6477000" y="6064597"/>
            <a:ext cx="9906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554</a:t>
            </a:r>
            <a:endParaRPr lang="en-US" dirty="0">
              <a:cs typeface="Arial"/>
            </a:endParaRPr>
          </a:p>
        </p:txBody>
      </p:sp>
      <p:sp>
        <p:nvSpPr>
          <p:cNvPr id="41" name="Oval Callout 40"/>
          <p:cNvSpPr/>
          <p:nvPr/>
        </p:nvSpPr>
        <p:spPr bwMode="auto">
          <a:xfrm>
            <a:off x="6629400" y="2971800"/>
            <a:ext cx="2057400" cy="1009060"/>
          </a:xfrm>
          <a:prstGeom prst="wedgeEllipseCallout">
            <a:avLst>
              <a:gd name="adj1" fmla="val -32316"/>
              <a:gd name="adj2" fmla="val 113725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000" dirty="0" smtClean="0">
                <a:cs typeface="Arial"/>
              </a:rPr>
              <a:t>Two </a:t>
            </a:r>
            <a:r>
              <a:rPr lang="en-US" sz="2000" dirty="0" err="1" smtClean="0">
                <a:cs typeface="Arial"/>
              </a:rPr>
              <a:t>tuples</a:t>
            </a:r>
            <a:r>
              <a:rPr lang="en-US" sz="2000" dirty="0" smtClean="0">
                <a:cs typeface="Arial"/>
              </a:rPr>
              <a:t> per page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008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17</a:t>
            </a:fld>
            <a:endParaRPr lang="en-US" dirty="0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2965" y="1524000"/>
            <a:ext cx="4264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latin typeface="Consolas"/>
                <a:cs typeface="Consolas"/>
              </a:rPr>
              <a:t>Patient    Insurance </a:t>
            </a:r>
            <a:endParaRPr lang="en-US" sz="2800" dirty="0">
              <a:latin typeface="Consolas"/>
              <a:cs typeface="Consolas"/>
            </a:endParaRP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399303" y="1752600"/>
            <a:ext cx="228600" cy="152400"/>
            <a:chOff x="480" y="4080"/>
            <a:chExt cx="96" cy="48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buNone/>
              </a:pPr>
              <a:endParaRPr lang="en-US" sz="2800">
                <a:latin typeface="Arial"/>
                <a:cs typeface="Arial"/>
              </a:endParaRPr>
            </a:p>
          </p:txBody>
        </p:sp>
      </p:grpSp>
      <p:sp>
        <p:nvSpPr>
          <p:cNvPr id="14" name="Can 13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1" name="Oval Callout 40"/>
          <p:cNvSpPr/>
          <p:nvPr/>
        </p:nvSpPr>
        <p:spPr bwMode="auto">
          <a:xfrm>
            <a:off x="76200" y="2438400"/>
            <a:ext cx="2209800" cy="1009060"/>
          </a:xfrm>
          <a:prstGeom prst="wedgeEllipseCallout">
            <a:avLst>
              <a:gd name="adj1" fmla="val 25151"/>
              <a:gd name="adj2" fmla="val 163486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r>
              <a:rPr lang="en-US" sz="2000" dirty="0" smtClean="0">
                <a:cs typeface="Arial"/>
              </a:rPr>
              <a:t>Showing </a:t>
            </a:r>
            <a:r>
              <a:rPr lang="en-US" sz="2000" dirty="0" err="1" smtClean="0">
                <a:cs typeface="Arial"/>
              </a:rPr>
              <a:t>pid</a:t>
            </a:r>
            <a:r>
              <a:rPr lang="en-US" sz="2000" dirty="0" smtClean="0">
                <a:cs typeface="Arial"/>
              </a:rPr>
              <a:t> only</a:t>
            </a:r>
            <a:endParaRPr lang="en-US" sz="2000" dirty="0">
              <a:cs typeface="Arial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0" name="Rectangle 59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sp>
        <p:nvSpPr>
          <p:cNvPr id="39" name="Oval Callout 38"/>
          <p:cNvSpPr/>
          <p:nvPr/>
        </p:nvSpPr>
        <p:spPr bwMode="auto">
          <a:xfrm>
            <a:off x="6781800" y="1066800"/>
            <a:ext cx="2209800" cy="1009060"/>
          </a:xfrm>
          <a:prstGeom prst="wedgeEllipseCallout">
            <a:avLst>
              <a:gd name="adj1" fmla="val -94867"/>
              <a:gd name="adj2" fmla="val 5242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r>
              <a:rPr lang="en-US" sz="2000" dirty="0" smtClean="0">
                <a:latin typeface="Arial"/>
                <a:cs typeface="Arial"/>
              </a:rPr>
              <a:t>Some large-enough </a:t>
            </a:r>
            <a:r>
              <a:rPr lang="en-US" sz="2000" dirty="0" err="1" smtClean="0">
                <a:latin typeface="Arial"/>
                <a:cs typeface="Arial"/>
              </a:rPr>
              <a:t>nb</a:t>
            </a: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15670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18</a:t>
            </a:fld>
            <a:endParaRPr lang="en-US" dirty="0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4093" y="1524000"/>
            <a:ext cx="7981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1: Scan Patient and create hash table in memory</a:t>
            </a:r>
            <a:endParaRPr lang="en-US" sz="2800" dirty="0">
              <a:cs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" name="Rectangle 56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0" y="2438400"/>
            <a:ext cx="1808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Hash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h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: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pid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 % 5</a:t>
            </a:r>
            <a:endParaRPr lang="en-US" sz="2000" b="1" dirty="0">
              <a:solidFill>
                <a:srgbClr val="1F497D"/>
              </a:solidFill>
              <a:cs typeface="Arial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95800" y="4648200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</a:t>
            </a:r>
            <a:endParaRPr lang="en-US" sz="2000" dirty="0">
              <a:cs typeface="Arial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4191000" y="3048000"/>
            <a:ext cx="4501896" cy="412403"/>
            <a:chOff x="4191000" y="3048000"/>
            <a:chExt cx="4501896" cy="412403"/>
          </a:xfrm>
        </p:grpSpPr>
        <p:sp>
          <p:nvSpPr>
            <p:cNvPr id="43" name="Rectangle 42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8516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105400" y="3048000"/>
            <a:ext cx="1334801" cy="412403"/>
            <a:chOff x="5105400" y="3048000"/>
            <a:chExt cx="1334801" cy="412403"/>
          </a:xfrm>
        </p:grpSpPr>
        <p:sp>
          <p:nvSpPr>
            <p:cNvPr id="63" name="Rectangle 62"/>
            <p:cNvSpPr/>
            <p:nvPr/>
          </p:nvSpPr>
          <p:spPr bwMode="auto">
            <a:xfrm>
              <a:off x="51054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0198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4191000" y="3048000"/>
            <a:ext cx="4495800" cy="412403"/>
            <a:chOff x="4191000" y="3048000"/>
            <a:chExt cx="4495800" cy="412403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8486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9342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82663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9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55231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6</a:t>
              </a:r>
              <a:endParaRPr lang="en-US" dirty="0"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73519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1910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5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572000" y="4191000"/>
            <a:ext cx="840802" cy="414362"/>
            <a:chOff x="4572000" y="4191000"/>
            <a:chExt cx="840802" cy="414362"/>
          </a:xfrm>
        </p:grpSpPr>
        <p:sp>
          <p:nvSpPr>
            <p:cNvPr id="72" name="Rectangle 7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6" name="Rectangle 75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86" name="Freeform 59"/>
          <p:cNvSpPr>
            <a:spLocks/>
          </p:cNvSpPr>
          <p:nvPr/>
        </p:nvSpPr>
        <p:spPr bwMode="auto">
          <a:xfrm>
            <a:off x="5029200" y="3656012"/>
            <a:ext cx="306387" cy="458788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92" y="173"/>
              </a:cxn>
              <a:cxn ang="0">
                <a:pos x="188" y="145"/>
              </a:cxn>
              <a:cxn ang="0">
                <a:pos x="0" y="115"/>
              </a:cxn>
              <a:cxn ang="0">
                <a:pos x="192" y="0"/>
              </a:cxn>
            </a:cxnLst>
            <a:rect l="0" t="0" r="r" b="b"/>
            <a:pathLst>
              <a:path w="193" h="289">
                <a:moveTo>
                  <a:pt x="0" y="288"/>
                </a:moveTo>
                <a:lnTo>
                  <a:pt x="192" y="173"/>
                </a:lnTo>
                <a:lnTo>
                  <a:pt x="188" y="145"/>
                </a:lnTo>
                <a:lnTo>
                  <a:pt x="0" y="115"/>
                </a:lnTo>
                <a:lnTo>
                  <a:pt x="192" y="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>
              <a:buNone/>
            </a:pPr>
            <a:endParaRPr lang="en-US">
              <a:cs typeface="Arial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4114800" y="2971800"/>
            <a:ext cx="4648200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6220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19</a:t>
            </a:fld>
            <a:endParaRPr lang="en-US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4093" y="1524000"/>
            <a:ext cx="7298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2: Scan Insurance and probe into hash table</a:t>
            </a:r>
            <a:endParaRPr lang="en-US" sz="2800" dirty="0">
              <a:cs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" name="Rectangle 56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0" y="2438400"/>
            <a:ext cx="1808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Hash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h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: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pid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 % 5</a:t>
            </a:r>
            <a:endParaRPr lang="en-US" sz="2000" b="1" dirty="0">
              <a:solidFill>
                <a:srgbClr val="1F497D"/>
              </a:solidFill>
              <a:cs typeface="Arial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95800" y="4648200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191000" y="3048000"/>
            <a:ext cx="4501896" cy="412403"/>
            <a:chOff x="4191000" y="3048000"/>
            <a:chExt cx="4501896" cy="412403"/>
          </a:xfrm>
        </p:grpSpPr>
        <p:sp>
          <p:nvSpPr>
            <p:cNvPr id="43" name="Rectangle 42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8516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grpSp>
        <p:nvGrpSpPr>
          <p:cNvPr id="4" name="Group 74"/>
          <p:cNvGrpSpPr/>
          <p:nvPr/>
        </p:nvGrpSpPr>
        <p:grpSpPr>
          <a:xfrm>
            <a:off x="5105400" y="3048000"/>
            <a:ext cx="1334801" cy="412403"/>
            <a:chOff x="5105400" y="3048000"/>
            <a:chExt cx="1334801" cy="412403"/>
          </a:xfrm>
        </p:grpSpPr>
        <p:sp>
          <p:nvSpPr>
            <p:cNvPr id="63" name="Rectangle 62"/>
            <p:cNvSpPr/>
            <p:nvPr/>
          </p:nvSpPr>
          <p:spPr bwMode="auto">
            <a:xfrm>
              <a:off x="51054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0198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7" name="Group 76"/>
          <p:cNvGrpSpPr/>
          <p:nvPr/>
        </p:nvGrpSpPr>
        <p:grpSpPr>
          <a:xfrm>
            <a:off x="4191000" y="3048000"/>
            <a:ext cx="4495800" cy="412403"/>
            <a:chOff x="4191000" y="3048000"/>
            <a:chExt cx="4495800" cy="412403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8486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9342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82663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9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55231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6</a:t>
              </a:r>
              <a:endParaRPr lang="en-US" dirty="0"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73519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1910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5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8" name="Group 73"/>
          <p:cNvGrpSpPr/>
          <p:nvPr/>
        </p:nvGrpSpPr>
        <p:grpSpPr>
          <a:xfrm>
            <a:off x="4572000" y="4191000"/>
            <a:ext cx="840802" cy="414362"/>
            <a:chOff x="4572000" y="4191000"/>
            <a:chExt cx="840802" cy="414362"/>
          </a:xfrm>
        </p:grpSpPr>
        <p:sp>
          <p:nvSpPr>
            <p:cNvPr id="72" name="Rectangle 7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6" name="Rectangle 75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4495800" y="4191000"/>
            <a:ext cx="914400" cy="412403"/>
            <a:chOff x="4495800" y="4191000"/>
            <a:chExt cx="914400" cy="412403"/>
          </a:xfrm>
        </p:grpSpPr>
        <p:sp>
          <p:nvSpPr>
            <p:cNvPr id="74" name="Rectangle 73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7" name="Rectangle 76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80" name="Rectangle 79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82" name="Oval Callout 81"/>
          <p:cNvSpPr/>
          <p:nvPr/>
        </p:nvSpPr>
        <p:spPr bwMode="auto">
          <a:xfrm>
            <a:off x="5486400" y="5334000"/>
            <a:ext cx="2743200" cy="1219200"/>
          </a:xfrm>
          <a:prstGeom prst="wedgeEllipseCallout">
            <a:avLst>
              <a:gd name="adj1" fmla="val 16237"/>
              <a:gd name="adj2" fmla="val -11111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>
              <a:buNone/>
            </a:pPr>
            <a:r>
              <a:rPr lang="en-US" sz="2000" dirty="0" smtClean="0">
                <a:cs typeface="Arial"/>
              </a:rPr>
              <a:t>Write to disk or pass to next operator</a:t>
            </a:r>
            <a:endParaRPr lang="en-US" sz="2000" dirty="0">
              <a:cs typeface="Arial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4114800" y="2971800"/>
            <a:ext cx="4648200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2977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20</a:t>
            </a:fld>
            <a:endParaRPr lang="en-US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4093" y="1524000"/>
            <a:ext cx="7298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2: Scan Insurance and probe into hash table</a:t>
            </a:r>
            <a:endParaRPr lang="en-US" sz="2800" dirty="0">
              <a:cs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" name="Rectangle 56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0" y="2438400"/>
            <a:ext cx="1808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Hash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h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: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pid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 % 5</a:t>
            </a:r>
            <a:endParaRPr lang="en-US" sz="2000" b="1" dirty="0">
              <a:solidFill>
                <a:srgbClr val="1F497D"/>
              </a:solidFill>
              <a:cs typeface="Arial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95800" y="4648200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191000" y="3048000"/>
            <a:ext cx="4501896" cy="412403"/>
            <a:chOff x="4191000" y="3048000"/>
            <a:chExt cx="4501896" cy="412403"/>
          </a:xfrm>
        </p:grpSpPr>
        <p:sp>
          <p:nvSpPr>
            <p:cNvPr id="43" name="Rectangle 42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8516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grpSp>
        <p:nvGrpSpPr>
          <p:cNvPr id="4" name="Group 74"/>
          <p:cNvGrpSpPr/>
          <p:nvPr/>
        </p:nvGrpSpPr>
        <p:grpSpPr>
          <a:xfrm>
            <a:off x="5105400" y="3048000"/>
            <a:ext cx="1334801" cy="412403"/>
            <a:chOff x="5105400" y="3048000"/>
            <a:chExt cx="1334801" cy="412403"/>
          </a:xfrm>
        </p:grpSpPr>
        <p:sp>
          <p:nvSpPr>
            <p:cNvPr id="63" name="Rectangle 62"/>
            <p:cNvSpPr/>
            <p:nvPr/>
          </p:nvSpPr>
          <p:spPr bwMode="auto">
            <a:xfrm>
              <a:off x="51054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0198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7" name="Group 76"/>
          <p:cNvGrpSpPr/>
          <p:nvPr/>
        </p:nvGrpSpPr>
        <p:grpSpPr>
          <a:xfrm>
            <a:off x="4191000" y="3048000"/>
            <a:ext cx="4495800" cy="412403"/>
            <a:chOff x="4191000" y="3048000"/>
            <a:chExt cx="4495800" cy="412403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8486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9342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82663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9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55231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6</a:t>
              </a:r>
              <a:endParaRPr lang="en-US" dirty="0"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73519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1910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5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8" name="Group 73"/>
          <p:cNvGrpSpPr/>
          <p:nvPr/>
        </p:nvGrpSpPr>
        <p:grpSpPr>
          <a:xfrm>
            <a:off x="4572000" y="4191000"/>
            <a:ext cx="840802" cy="414362"/>
            <a:chOff x="4572000" y="4191000"/>
            <a:chExt cx="840802" cy="414362"/>
          </a:xfrm>
        </p:grpSpPr>
        <p:sp>
          <p:nvSpPr>
            <p:cNvPr id="72" name="Rectangle 7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6" name="Rectangle 75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4495800" y="4191000"/>
            <a:ext cx="914400" cy="412403"/>
            <a:chOff x="4495800" y="4191000"/>
            <a:chExt cx="914400" cy="412403"/>
          </a:xfrm>
        </p:grpSpPr>
        <p:sp>
          <p:nvSpPr>
            <p:cNvPr id="74" name="Rectangle 73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7" name="Rectangle 76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10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80" name="Rectangle 79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1" name="Rectangle 70"/>
          <p:cNvSpPr/>
          <p:nvPr/>
        </p:nvSpPr>
        <p:spPr bwMode="auto">
          <a:xfrm>
            <a:off x="4114800" y="2971800"/>
            <a:ext cx="4648200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6396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21</a:t>
            </a:fld>
            <a:endParaRPr lang="en-US" dirty="0"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4093" y="1524000"/>
            <a:ext cx="7298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2: Scan Insurance and probe into hash table</a:t>
            </a:r>
            <a:endParaRPr lang="en-US" sz="2800" dirty="0">
              <a:cs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" name="Rectangle 56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0" y="2438400"/>
            <a:ext cx="1808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Hash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h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: </a:t>
            </a:r>
            <a:r>
              <a:rPr lang="en-US" sz="2000" b="1" dirty="0" err="1" smtClean="0">
                <a:solidFill>
                  <a:srgbClr val="1F497D"/>
                </a:solidFill>
                <a:cs typeface="Arial"/>
              </a:rPr>
              <a:t>pid</a:t>
            </a:r>
            <a:r>
              <a:rPr lang="en-US" sz="2000" b="1" dirty="0" smtClean="0">
                <a:solidFill>
                  <a:srgbClr val="1F497D"/>
                </a:solidFill>
                <a:cs typeface="Arial"/>
              </a:rPr>
              <a:t> % 5</a:t>
            </a:r>
            <a:endParaRPr lang="en-US" sz="2000" b="1" dirty="0">
              <a:solidFill>
                <a:srgbClr val="1F497D"/>
              </a:solidFill>
              <a:cs typeface="Arial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95800" y="4648200"/>
            <a:ext cx="1479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191000" y="3048000"/>
            <a:ext cx="4501896" cy="412403"/>
            <a:chOff x="4191000" y="3048000"/>
            <a:chExt cx="4501896" cy="412403"/>
          </a:xfrm>
        </p:grpSpPr>
        <p:sp>
          <p:nvSpPr>
            <p:cNvPr id="43" name="Rectangle 42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8516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grpSp>
        <p:nvGrpSpPr>
          <p:cNvPr id="4" name="Group 74"/>
          <p:cNvGrpSpPr/>
          <p:nvPr/>
        </p:nvGrpSpPr>
        <p:grpSpPr>
          <a:xfrm>
            <a:off x="5105400" y="3048000"/>
            <a:ext cx="1334801" cy="412403"/>
            <a:chOff x="5105400" y="3048000"/>
            <a:chExt cx="1334801" cy="412403"/>
          </a:xfrm>
        </p:grpSpPr>
        <p:sp>
          <p:nvSpPr>
            <p:cNvPr id="63" name="Rectangle 62"/>
            <p:cNvSpPr/>
            <p:nvPr/>
          </p:nvSpPr>
          <p:spPr bwMode="auto">
            <a:xfrm>
              <a:off x="51054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0198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7" name="Group 76"/>
          <p:cNvGrpSpPr/>
          <p:nvPr/>
        </p:nvGrpSpPr>
        <p:grpSpPr>
          <a:xfrm>
            <a:off x="4191000" y="3048000"/>
            <a:ext cx="4495800" cy="412403"/>
            <a:chOff x="4191000" y="3048000"/>
            <a:chExt cx="4495800" cy="412403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8486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9342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82663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9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55231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6</a:t>
              </a:r>
              <a:endParaRPr lang="en-US" dirty="0"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7351999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191000" y="3048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5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8" name="Group 73"/>
          <p:cNvGrpSpPr/>
          <p:nvPr/>
        </p:nvGrpSpPr>
        <p:grpSpPr>
          <a:xfrm>
            <a:off x="4572000" y="4191000"/>
            <a:ext cx="840802" cy="414362"/>
            <a:chOff x="4572000" y="4191000"/>
            <a:chExt cx="840802" cy="414362"/>
          </a:xfrm>
        </p:grpSpPr>
        <p:sp>
          <p:nvSpPr>
            <p:cNvPr id="72" name="Rectangle 7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6" name="Rectangle 75"/>
          <p:cNvSpPr/>
          <p:nvPr/>
        </p:nvSpPr>
        <p:spPr bwMode="auto">
          <a:xfrm>
            <a:off x="4572000" y="4191000"/>
            <a:ext cx="8412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4495800" y="4191000"/>
            <a:ext cx="914400" cy="412403"/>
            <a:chOff x="4495800" y="4191000"/>
            <a:chExt cx="914400" cy="412403"/>
          </a:xfrm>
        </p:grpSpPr>
        <p:sp>
          <p:nvSpPr>
            <p:cNvPr id="74" name="Rectangle 73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7" name="Rectangle 76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10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80" name="Rectangle 79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1" name="Rectangle 70"/>
          <p:cNvSpPr/>
          <p:nvPr/>
        </p:nvSpPr>
        <p:spPr bwMode="auto">
          <a:xfrm>
            <a:off x="4114800" y="2971800"/>
            <a:ext cx="4648200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343400" y="5162490"/>
            <a:ext cx="4043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Keep going until read all of Insurance</a:t>
            </a:r>
            <a:endParaRPr lang="en-US" sz="2000" dirty="0">
              <a:cs typeface="Aria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267200" y="6019800"/>
            <a:ext cx="1692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dirty="0" smtClean="0">
                <a:cs typeface="Arial"/>
              </a:rPr>
              <a:t>Cost: B(R) + B(S)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310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Loop Joins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4419600"/>
          </a:xfrm>
        </p:spPr>
        <p:txBody>
          <a:bodyPr>
            <a:normAutofit/>
          </a:bodyPr>
          <a:lstStyle/>
          <a:p>
            <a:r>
              <a:rPr lang="en-US" dirty="0" err="1"/>
              <a:t>Tuple</a:t>
            </a:r>
            <a:r>
              <a:rPr lang="en-US" dirty="0"/>
              <a:t>-based nested loop R </a:t>
            </a:r>
            <a:r>
              <a:rPr lang="en-US" dirty="0">
                <a:ea typeface="Arial Unicode MS" charset="0"/>
                <a:cs typeface="Arial Unicode MS" charset="0"/>
              </a:rPr>
              <a:t>⋈</a:t>
            </a:r>
            <a:r>
              <a:rPr lang="en-US" dirty="0"/>
              <a:t> S</a:t>
            </a:r>
          </a:p>
          <a:p>
            <a:r>
              <a:rPr lang="en-US" dirty="0"/>
              <a:t>R is the outer relation, S is the inner relation</a:t>
            </a:r>
          </a:p>
          <a:p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/>
              <a:t>Cost: B(R) + </a:t>
            </a:r>
            <a:r>
              <a:rPr lang="en-US" dirty="0" smtClean="0"/>
              <a:t>B(</a:t>
            </a:r>
            <a:r>
              <a:rPr lang="en-US" dirty="0"/>
              <a:t>R) B(S</a:t>
            </a:r>
            <a:r>
              <a:rPr lang="en-US" dirty="0" smtClean="0"/>
              <a:t>)</a:t>
            </a: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1649413" y="3003410"/>
            <a:ext cx="4865434" cy="13480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for</a:t>
            </a:r>
            <a:r>
              <a:rPr lang="en-US" sz="2400" dirty="0">
                <a:latin typeface="Arial"/>
                <a:cs typeface="Arial"/>
              </a:rPr>
              <a:t> each </a:t>
            </a:r>
            <a:r>
              <a:rPr lang="en-US" sz="2400" dirty="0" err="1">
                <a:latin typeface="Arial"/>
                <a:cs typeface="Arial"/>
              </a:rPr>
              <a:t>tuple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r</a:t>
            </a:r>
            <a:r>
              <a:rPr lang="en-US" sz="2400" dirty="0">
                <a:latin typeface="Arial"/>
                <a:cs typeface="Arial"/>
              </a:rPr>
              <a:t> in R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do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sz="2400" dirty="0">
                <a:latin typeface="Arial"/>
                <a:cs typeface="Arial"/>
              </a:rPr>
              <a:t>  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for</a:t>
            </a:r>
            <a:r>
              <a:rPr lang="en-US" sz="2400" dirty="0">
                <a:latin typeface="Arial"/>
                <a:cs typeface="Arial"/>
              </a:rPr>
              <a:t> each </a:t>
            </a:r>
            <a:r>
              <a:rPr lang="en-US" sz="2400" dirty="0" err="1">
                <a:latin typeface="Arial"/>
                <a:cs typeface="Arial"/>
              </a:rPr>
              <a:t>tuple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s</a:t>
            </a:r>
            <a:r>
              <a:rPr lang="en-US" sz="2400" dirty="0">
                <a:latin typeface="Arial"/>
                <a:cs typeface="Arial"/>
              </a:rPr>
              <a:t> in S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do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sz="2400" dirty="0">
                <a:latin typeface="Arial"/>
                <a:cs typeface="Arial"/>
              </a:rPr>
              <a:t>      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if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r</a:t>
            </a:r>
            <a:r>
              <a:rPr lang="en-US" sz="2400" dirty="0">
                <a:latin typeface="Arial"/>
                <a:cs typeface="Arial"/>
              </a:rPr>
              <a:t> and </a:t>
            </a:r>
            <a:r>
              <a:rPr lang="en-US" sz="2400" dirty="0" err="1">
                <a:latin typeface="Arial"/>
                <a:cs typeface="Arial"/>
              </a:rPr>
              <a:t>s</a:t>
            </a:r>
            <a:r>
              <a:rPr lang="en-US" sz="2400" dirty="0">
                <a:latin typeface="Arial"/>
                <a:cs typeface="Arial"/>
              </a:rPr>
              <a:t> join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then</a:t>
            </a:r>
            <a:r>
              <a:rPr lang="en-US" sz="2400" dirty="0">
                <a:latin typeface="Arial"/>
                <a:cs typeface="Arial"/>
              </a:rPr>
              <a:t> output (</a:t>
            </a:r>
            <a:r>
              <a:rPr lang="en-US" sz="2400" dirty="0" err="1">
                <a:latin typeface="Arial"/>
                <a:cs typeface="Arial"/>
              </a:rPr>
              <a:t>r,s</a:t>
            </a:r>
            <a:r>
              <a:rPr lang="en-US" sz="2400" dirty="0">
                <a:latin typeface="Arial"/>
                <a:cs typeface="Arial"/>
              </a:rPr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203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/>
      <p:bldP spid="4239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4498848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3" name="Rectangle 72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23</a:t>
            </a:fld>
            <a:endParaRPr lang="en-US" dirty="0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60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61" name="Rectangle 60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66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5693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3" name="Rectangle 32"/>
          <p:cNvSpPr/>
          <p:nvPr/>
        </p:nvSpPr>
        <p:spPr bwMode="auto">
          <a:xfrm>
            <a:off x="4572000" y="28194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3"/>
          <p:cNvGrpSpPr/>
          <p:nvPr/>
        </p:nvGrpSpPr>
        <p:grpSpPr>
          <a:xfrm>
            <a:off x="4572000" y="2819400"/>
            <a:ext cx="840802" cy="414362"/>
            <a:chOff x="4572000" y="4191000"/>
            <a:chExt cx="840802" cy="414362"/>
          </a:xfrm>
        </p:grpSpPr>
        <p:sp>
          <p:nvSpPr>
            <p:cNvPr id="52" name="Rectangle 5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32" name="Group 70"/>
          <p:cNvGrpSpPr/>
          <p:nvPr/>
        </p:nvGrpSpPr>
        <p:grpSpPr>
          <a:xfrm>
            <a:off x="4495800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2405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25</a:t>
            </a:fld>
            <a:endParaRPr lang="en-US" dirty="0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3" name="Rectangle 32"/>
          <p:cNvSpPr/>
          <p:nvPr/>
        </p:nvSpPr>
        <p:spPr bwMode="auto">
          <a:xfrm>
            <a:off x="4572000" y="28194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3"/>
          <p:cNvGrpSpPr/>
          <p:nvPr/>
        </p:nvGrpSpPr>
        <p:grpSpPr>
          <a:xfrm>
            <a:off x="4572000" y="2819400"/>
            <a:ext cx="840802" cy="414362"/>
            <a:chOff x="4572000" y="4191000"/>
            <a:chExt cx="840802" cy="414362"/>
          </a:xfrm>
        </p:grpSpPr>
        <p:sp>
          <p:nvSpPr>
            <p:cNvPr id="52" name="Rectangle 5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31" name="Group 70"/>
          <p:cNvGrpSpPr/>
          <p:nvPr/>
        </p:nvGrpSpPr>
        <p:grpSpPr>
          <a:xfrm>
            <a:off x="4495800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44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45" name="Rectangle 44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4267200" y="6019800"/>
            <a:ext cx="2083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dirty="0" smtClean="0">
                <a:cs typeface="Arial"/>
              </a:rPr>
              <a:t>Cost: B(R) + B(R)B(S)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343400" y="4038600"/>
            <a:ext cx="23980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Keep going until read </a:t>
            </a:r>
          </a:p>
          <a:p>
            <a:pPr>
              <a:buNone/>
            </a:pPr>
            <a:r>
              <a:rPr lang="en-US" sz="2000" dirty="0" smtClean="0">
                <a:cs typeface="Arial"/>
              </a:rPr>
              <a:t>all of Insurance</a:t>
            </a:r>
            <a:endParaRPr lang="en-US" sz="2000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343400" y="4778514"/>
            <a:ext cx="40040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Then repeat for next </a:t>
            </a:r>
          </a:p>
          <a:p>
            <a:pPr>
              <a:buNone/>
            </a:pPr>
            <a:r>
              <a:rPr lang="en-US" sz="2000" dirty="0" smtClean="0">
                <a:cs typeface="Arial"/>
              </a:rPr>
              <a:t>page of Patient… until end of Patient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8436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  <p:bldP spid="49" grpId="0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Sort-Merge Join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Sort-merge join:  R </a:t>
            </a:r>
            <a:r>
              <a:rPr lang="en-US" dirty="0">
                <a:ea typeface="Arial Unicode MS" charset="0"/>
                <a:cs typeface="Arial Unicode MS" charset="0"/>
              </a:rPr>
              <a:t>⋈</a:t>
            </a:r>
            <a:r>
              <a:rPr lang="en-US" dirty="0"/>
              <a:t> S</a:t>
            </a:r>
          </a:p>
          <a:p>
            <a:r>
              <a:rPr lang="en-US" dirty="0"/>
              <a:t>Scan R and sort in main memory</a:t>
            </a:r>
          </a:p>
          <a:p>
            <a:r>
              <a:rPr lang="en-US" dirty="0"/>
              <a:t>Scan S and sort in main memory</a:t>
            </a:r>
          </a:p>
          <a:p>
            <a:r>
              <a:rPr lang="en-US" dirty="0"/>
              <a:t>Merge R and S</a:t>
            </a:r>
          </a:p>
          <a:p>
            <a:endParaRPr lang="en-US" dirty="0"/>
          </a:p>
          <a:p>
            <a:r>
              <a:rPr lang="en-US" dirty="0"/>
              <a:t>Cost: B(R) + B(S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859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Sort-Merge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27</a:t>
            </a:fld>
            <a:endParaRPr lang="en-US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261104" y="2635597"/>
            <a:ext cx="3587496" cy="412403"/>
            <a:chOff x="4261104" y="2635597"/>
            <a:chExt cx="3587496" cy="412403"/>
          </a:xfrm>
        </p:grpSpPr>
        <p:grpSp>
          <p:nvGrpSpPr>
            <p:cNvPr id="35" name="Group 70"/>
            <p:cNvGrpSpPr/>
            <p:nvPr/>
          </p:nvGrpSpPr>
          <p:grpSpPr>
            <a:xfrm>
              <a:off x="4261104" y="2635597"/>
              <a:ext cx="3587496" cy="412403"/>
              <a:chOff x="4191000" y="3048000"/>
              <a:chExt cx="3587496" cy="412403"/>
            </a:xfrm>
          </p:grpSpPr>
          <p:sp>
            <p:nvSpPr>
              <p:cNvPr id="36" name="Rectangle 35"/>
              <p:cNvSpPr/>
              <p:nvPr/>
            </p:nvSpPr>
            <p:spPr bwMode="auto">
              <a:xfrm>
                <a:off x="4191000" y="3048000"/>
                <a:ext cx="841248" cy="41240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buNone/>
                </a:pPr>
                <a:endParaRPr lang="en-US" dirty="0">
                  <a:cs typeface="Arial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 bwMode="auto">
              <a:xfrm>
                <a:off x="5105400" y="3048000"/>
                <a:ext cx="841248" cy="41240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buNone/>
                </a:pPr>
                <a:endParaRPr lang="en-US" dirty="0">
                  <a:cs typeface="Arial"/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 bwMode="auto">
              <a:xfrm>
                <a:off x="6022848" y="3048000"/>
                <a:ext cx="841248" cy="41240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buNone/>
                </a:pPr>
                <a:endParaRPr lang="en-US" dirty="0">
                  <a:cs typeface="Arial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 bwMode="auto">
              <a:xfrm>
                <a:off x="6937248" y="3048000"/>
                <a:ext cx="841248" cy="41240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buNone/>
                </a:pPr>
                <a:endParaRPr lang="en-US" dirty="0">
                  <a:cs typeface="Arial"/>
                </a:endParaRPr>
              </a:p>
            </p:txBody>
          </p:sp>
        </p:grpSp>
        <p:sp>
          <p:nvSpPr>
            <p:cNvPr id="42" name="Rectangle 41"/>
            <p:cNvSpPr/>
            <p:nvPr/>
          </p:nvSpPr>
          <p:spPr bwMode="auto">
            <a:xfrm>
              <a:off x="4261104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4678903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5593303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4</a:t>
              </a:r>
              <a:endParaRPr lang="en-US" dirty="0">
                <a:cs typeface="Arial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5175504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3</a:t>
              </a:r>
              <a:endParaRPr lang="en-US" dirty="0">
                <a:cs typeface="Arial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7422103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9</a:t>
              </a:r>
              <a:endParaRPr lang="en-US" dirty="0">
                <a:cs typeface="Arial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6507703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6</a:t>
              </a:r>
              <a:endParaRPr lang="en-US" dirty="0">
                <a:cs typeface="Arial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004304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8</a:t>
              </a:r>
              <a:endParaRPr lang="en-US" dirty="0">
                <a:cs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6089904" y="2635597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5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204093" y="1524000"/>
            <a:ext cx="6032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1: Scan Patient and sort in memory</a:t>
            </a:r>
            <a:endParaRPr lang="en-US" sz="2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9348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Sort-Merge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28</a:t>
            </a:fld>
            <a:endParaRPr lang="en-US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261104" y="2635597"/>
            <a:ext cx="3587496" cy="412403"/>
            <a:chOff x="4191000" y="3048000"/>
            <a:chExt cx="3587496" cy="412403"/>
          </a:xfrm>
        </p:grpSpPr>
        <p:sp>
          <p:nvSpPr>
            <p:cNvPr id="36" name="Rectangle 35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 bwMode="auto">
          <a:xfrm>
            <a:off x="42611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46789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55933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51755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74221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65077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70043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0899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04093" y="1524000"/>
            <a:ext cx="64171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2: Scan Insurance and sort in memory</a:t>
            </a:r>
            <a:endParaRPr lang="en-US" sz="2800" dirty="0">
              <a:cs typeface="Arial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4267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4724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6248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056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42672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7244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52578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57150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52578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5715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7239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7696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68556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Sort-Merge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29</a:t>
            </a:fld>
            <a:endParaRPr lang="en-US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261104" y="2635597"/>
            <a:ext cx="3587496" cy="412403"/>
            <a:chOff x="4191000" y="3048000"/>
            <a:chExt cx="3587496" cy="412403"/>
          </a:xfrm>
        </p:grpSpPr>
        <p:sp>
          <p:nvSpPr>
            <p:cNvPr id="36" name="Rectangle 35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 bwMode="auto">
          <a:xfrm>
            <a:off x="42611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46789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55933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51755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74221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65077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70043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0899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04093" y="1524000"/>
            <a:ext cx="54986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3: Merge Patient and Insurance</a:t>
            </a:r>
            <a:endParaRPr lang="en-US" sz="2800" dirty="0">
              <a:cs typeface="Arial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4267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4724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6248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056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42672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7244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52578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57150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52578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5715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7239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7696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58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59" name="Rectangle 58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8356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Sort-Merge Join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30</a:t>
            </a:fld>
            <a:endParaRPr lang="en-US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8600" y="2038290"/>
            <a:ext cx="2522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Memory M = 21 pages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4261104" y="2635597"/>
            <a:ext cx="3587496" cy="412403"/>
            <a:chOff x="4191000" y="3048000"/>
            <a:chExt cx="3587496" cy="412403"/>
          </a:xfrm>
        </p:grpSpPr>
        <p:sp>
          <p:nvSpPr>
            <p:cNvPr id="36" name="Rectangle 35"/>
            <p:cNvSpPr/>
            <p:nvPr/>
          </p:nvSpPr>
          <p:spPr bwMode="auto">
            <a:xfrm>
              <a:off x="41910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105400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60228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6937248" y="3048000"/>
              <a:ext cx="841248" cy="41240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endParaRPr lang="en-US" dirty="0">
                <a:cs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 bwMode="auto">
          <a:xfrm>
            <a:off x="42611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46789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55933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51755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74221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6507703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70043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089904" y="263559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04093" y="1524000"/>
            <a:ext cx="54986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Step 3: Merge Patient and Insurance</a:t>
            </a:r>
            <a:endParaRPr lang="en-US" sz="2800" dirty="0">
              <a:cs typeface="Arial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4267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4724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62484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056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42672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7244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52578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5715000" y="39624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52578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5715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72390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7696200" y="3397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4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59" name="Rectangle 58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62" name="Rectangle 61"/>
          <p:cNvSpPr/>
          <p:nvPr/>
        </p:nvSpPr>
        <p:spPr>
          <a:xfrm>
            <a:off x="4343400" y="5162490"/>
            <a:ext cx="39310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Keep going until end of first relation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4995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Special data structure for fast tuple look ups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394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B1BF9-D67B-9542-81C7-FF23D88596A1}" type="slidenum">
              <a:rPr lang="en-US"/>
              <a:pPr/>
              <a:t>32</a:t>
            </a:fld>
            <a:endParaRPr lang="en-US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381000" y="1447800"/>
            <a:ext cx="9542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b="1" dirty="0" smtClean="0">
                <a:latin typeface="Arial"/>
                <a:cs typeface="Arial"/>
              </a:rPr>
              <a:t>Patient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5370342" y="1447800"/>
            <a:ext cx="1275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b="1" dirty="0" smtClean="0">
                <a:latin typeface="Arial"/>
                <a:cs typeface="Arial"/>
              </a:rPr>
              <a:t>Insurance</a:t>
            </a:r>
            <a:endParaRPr lang="en-US" b="1" dirty="0">
              <a:latin typeface="Arial"/>
              <a:cs typeface="Arial"/>
            </a:endParaRPr>
          </a:p>
        </p:txBody>
      </p:sp>
      <p:graphicFrame>
        <p:nvGraphicFramePr>
          <p:cNvPr id="164990" name="Group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275817"/>
              </p:ext>
            </p:extLst>
          </p:nvPr>
        </p:nvGraphicFramePr>
        <p:xfrm>
          <a:off x="533400" y="1905000"/>
          <a:ext cx="3429000" cy="1789113"/>
        </p:xfrm>
        <a:graphic>
          <a:graphicData uri="http://schemas.openxmlformats.org/drawingml/2006/table">
            <a:tbl>
              <a:tblPr/>
              <a:tblGrid>
                <a:gridCol w="685228"/>
                <a:gridCol w="926844"/>
                <a:gridCol w="1816928"/>
              </a:tblGrid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address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Bob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Seattle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Ela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Everett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. . 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69" name="Footer Placeholder 68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352800" cy="457200"/>
          </a:xfrm>
        </p:spPr>
        <p:txBody>
          <a:bodyPr/>
          <a:lstStyle/>
          <a:p>
            <a:r>
              <a:rPr lang="en-US" smtClean="0"/>
              <a:t>Dan Suciu - CSE 344, Winter 2012</a:t>
            </a:r>
            <a:endParaRPr lang="en-US" dirty="0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33400" y="4029233"/>
            <a:ext cx="8278879" cy="164352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/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30000"/>
              </a:spcBef>
              <a:buFontTx/>
              <a:buNone/>
            </a:pPr>
            <a:r>
              <a:rPr sz="2800" noProof="1">
                <a:latin typeface="Consolas"/>
                <a:cs typeface="Consolas"/>
              </a:rPr>
              <a:t>SELECT *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sz="2800" noProof="1">
                <a:latin typeface="Consolas"/>
                <a:cs typeface="Consolas"/>
              </a:rPr>
              <a:t>FROM </a:t>
            </a:r>
            <a:r>
              <a:rPr sz="2800" noProof="1" smtClean="0">
                <a:latin typeface="Consolas"/>
                <a:cs typeface="Consolas"/>
              </a:rPr>
              <a:t> </a:t>
            </a:r>
            <a:r>
              <a:rPr lang="en-US" sz="2800" noProof="1" smtClean="0">
                <a:latin typeface="Consolas"/>
                <a:cs typeface="Consolas"/>
              </a:rPr>
              <a:t>Patient </a:t>
            </a:r>
            <a:r>
              <a:rPr lang="en-US" sz="2800" noProof="1">
                <a:latin typeface="Consolas"/>
                <a:cs typeface="Consolas"/>
              </a:rPr>
              <a:t>p</a:t>
            </a:r>
            <a:r>
              <a:rPr lang="en-US" sz="2800" noProof="1" smtClean="0">
                <a:latin typeface="Consolas"/>
                <a:cs typeface="Consolas"/>
              </a:rPr>
              <a:t>, Insurance </a:t>
            </a:r>
            <a:r>
              <a:rPr lang="en-US" sz="2800" noProof="1">
                <a:latin typeface="Consolas"/>
                <a:cs typeface="Consolas"/>
              </a:rPr>
              <a:t>i</a:t>
            </a:r>
            <a:endParaRPr sz="2800" noProof="1" smtClean="0">
              <a:latin typeface="Consolas"/>
              <a:cs typeface="Consolas"/>
            </a:endParaRPr>
          </a:p>
          <a:p>
            <a:pPr>
              <a:spcBef>
                <a:spcPct val="30000"/>
              </a:spcBef>
              <a:buFontTx/>
              <a:buNone/>
            </a:pPr>
            <a:r>
              <a:rPr sz="2800" noProof="1">
                <a:latin typeface="Consolas"/>
                <a:cs typeface="Consolas"/>
              </a:rPr>
              <a:t>WHERE</a:t>
            </a:r>
            <a:r>
              <a:rPr sz="2800" noProof="1" smtClean="0">
                <a:latin typeface="Consolas"/>
                <a:cs typeface="Consolas"/>
              </a:rPr>
              <a:t> </a:t>
            </a:r>
            <a:r>
              <a:rPr lang="en-US" sz="2800" noProof="1">
                <a:latin typeface="Consolas"/>
                <a:cs typeface="Consolas"/>
              </a:rPr>
              <a:t>p</a:t>
            </a:r>
            <a:r>
              <a:rPr lang="en-US" sz="2800" noProof="1" smtClean="0">
                <a:latin typeface="Consolas"/>
                <a:cs typeface="Consolas"/>
              </a:rPr>
              <a:t>.pid=i.pid AND i.provider = ‘Blue’</a:t>
            </a:r>
            <a:endParaRPr lang="en-US" sz="2800" dirty="0">
              <a:latin typeface="Consolas"/>
              <a:cs typeface="Consolas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572000" y="3505200"/>
            <a:ext cx="4529756" cy="8309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FontTx/>
              <a:buNone/>
            </a:pPr>
            <a:r>
              <a:rPr lang="en-US" dirty="0" smtClean="0">
                <a:latin typeface="Arial"/>
                <a:cs typeface="Arial"/>
              </a:rPr>
              <a:t>Both tables are on disk</a:t>
            </a:r>
          </a:p>
          <a:p>
            <a:pPr algn="ctr">
              <a:buFontTx/>
              <a:buNone/>
            </a:pPr>
            <a:r>
              <a:rPr lang="en-US" dirty="0" smtClean="0">
                <a:latin typeface="Arial"/>
                <a:cs typeface="Arial"/>
              </a:rPr>
              <a:t>How can we answer this query?</a:t>
            </a:r>
            <a:endParaRPr lang="en-US" dirty="0">
              <a:latin typeface="Arial"/>
              <a:cs typeface="Arial"/>
            </a:endParaRPr>
          </a:p>
        </p:txBody>
      </p:sp>
      <p:graphicFrame>
        <p:nvGraphicFramePr>
          <p:cNvPr id="11" name="Group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91244"/>
              </p:ext>
            </p:extLst>
          </p:nvPr>
        </p:nvGraphicFramePr>
        <p:xfrm>
          <a:off x="5062562" y="1853636"/>
          <a:ext cx="3429000" cy="1280160"/>
        </p:xfrm>
        <a:graphic>
          <a:graphicData uri="http://schemas.openxmlformats.org/drawingml/2006/table">
            <a:tbl>
              <a:tblPr/>
              <a:tblGrid>
                <a:gridCol w="652974"/>
                <a:gridCol w="1064154"/>
                <a:gridCol w="1711872"/>
              </a:tblGrid>
              <a:tr h="30030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provider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Policy_nb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288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Blue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123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288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. . 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067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Query Plan 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6DE92-0E6F-BD4D-A48E-BF10490F5D8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2590800"/>
            <a:ext cx="3914077" cy="18158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/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onsolas"/>
                <a:cs typeface="Consolas"/>
              </a:rPr>
              <a:t>For all</a:t>
            </a:r>
            <a:r>
              <a:rPr lang="en-US" sz="2800" noProof="1" smtClean="0">
                <a:latin typeface="Calibri"/>
                <a:cs typeface="Calibri"/>
              </a:rPr>
              <a:t> </a:t>
            </a:r>
            <a:r>
              <a:rPr lang="en-US" sz="2800" b="1" noProof="1" smtClean="0">
                <a:solidFill>
                  <a:schemeClr val="tx2"/>
                </a:solidFill>
                <a:latin typeface="Calibri"/>
                <a:cs typeface="Calibri"/>
              </a:rPr>
              <a:t>patients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    </a:t>
            </a:r>
            <a:r>
              <a:rPr lang="en-US" sz="2800" noProof="1" smtClean="0">
                <a:latin typeface="Consolas"/>
                <a:cs typeface="Consolas"/>
              </a:rPr>
              <a:t>For all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insuranc</a:t>
            </a:r>
            <a:r>
              <a:rPr lang="en-US" sz="2800" noProof="1" smtClean="0">
                <a:latin typeface="Calibri"/>
                <a:cs typeface="Calibri"/>
              </a:rPr>
              <a:t>e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           </a:t>
            </a:r>
            <a:r>
              <a:rPr lang="en-US" sz="2800" noProof="1" smtClean="0">
                <a:latin typeface="Consolas"/>
                <a:cs typeface="Consolas"/>
              </a:rPr>
              <a:t>If</a:t>
            </a:r>
            <a:r>
              <a:rPr lang="en-US" sz="2800" noProof="1" smtClean="0">
                <a:latin typeface="Calibri"/>
                <a:cs typeface="Calibri"/>
              </a:rPr>
              <a:t>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conditions=true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               </a:t>
            </a:r>
            <a:r>
              <a:rPr lang="en-US" sz="2800" noProof="1" smtClean="0">
                <a:latin typeface="Consolas"/>
                <a:cs typeface="Consolas"/>
              </a:rPr>
              <a:t>Return</a:t>
            </a:r>
            <a:r>
              <a:rPr lang="en-US" sz="2800" noProof="1" smtClean="0">
                <a:latin typeface="Calibri"/>
                <a:cs typeface="Calibri"/>
              </a:rPr>
              <a:t>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result</a:t>
            </a:r>
            <a:endParaRPr lang="en-US" sz="2800" b="1" dirty="0">
              <a:solidFill>
                <a:srgbClr val="1F497D"/>
              </a:solidFill>
              <a:latin typeface="Calibri"/>
              <a:cs typeface="Calibri"/>
            </a:endParaRPr>
          </a:p>
        </p:txBody>
      </p:sp>
      <p:sp>
        <p:nvSpPr>
          <p:cNvPr id="8" name="Oval Callout 7"/>
          <p:cNvSpPr/>
          <p:nvPr/>
        </p:nvSpPr>
        <p:spPr bwMode="auto">
          <a:xfrm>
            <a:off x="5105400" y="2057400"/>
            <a:ext cx="1828800" cy="990600"/>
          </a:xfrm>
          <a:prstGeom prst="wedgeEllipseCallout">
            <a:avLst>
              <a:gd name="adj1" fmla="val -112253"/>
              <a:gd name="adj2" fmla="val 45425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Nested-loop join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4267200" y="3962400"/>
            <a:ext cx="4572000" cy="1752600"/>
          </a:xfrm>
          <a:prstGeom prst="wedgeEllipseCallout">
            <a:avLst>
              <a:gd name="adj1" fmla="val -58316"/>
              <a:gd name="adj2" fmla="val -42190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Relations may not fit in memory. So may need to read courses many times from disk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8737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Query Plan 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6DE92-0E6F-BD4D-A48E-BF10490F5D8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7200" y="2057400"/>
            <a:ext cx="5638608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/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Sort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patients</a:t>
            </a:r>
            <a:r>
              <a:rPr lang="en-US" sz="2800" noProof="1" smtClean="0">
                <a:latin typeface="Calibri"/>
                <a:cs typeface="Calibri"/>
              </a:rPr>
              <a:t> on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pid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Sort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insurance</a:t>
            </a:r>
            <a:r>
              <a:rPr lang="en-US" sz="2800" noProof="1" smtClean="0">
                <a:latin typeface="Calibri"/>
                <a:cs typeface="Calibri"/>
              </a:rPr>
              <a:t> on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 pid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Merge join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Check additional conditions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Return </a:t>
            </a:r>
            <a:r>
              <a:rPr lang="en-US" sz="2800" b="1" noProof="1" smtClean="0">
                <a:solidFill>
                  <a:schemeClr val="tx2"/>
                </a:solidFill>
                <a:latin typeface="Calibri"/>
                <a:cs typeface="Calibri"/>
              </a:rPr>
              <a:t>results that satisfy conditions</a:t>
            </a:r>
            <a:endParaRPr lang="en-US" sz="2800" b="1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9" name="Oval Callout 8"/>
          <p:cNvSpPr/>
          <p:nvPr/>
        </p:nvSpPr>
        <p:spPr bwMode="auto">
          <a:xfrm>
            <a:off x="6553200" y="1676400"/>
            <a:ext cx="2057400" cy="990600"/>
          </a:xfrm>
          <a:prstGeom prst="wedgeEllipseCallout">
            <a:avLst>
              <a:gd name="adj1" fmla="val -93682"/>
              <a:gd name="adj2" fmla="val 67788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Sort-merge join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6477000" y="4495800"/>
            <a:ext cx="2362200" cy="1219200"/>
          </a:xfrm>
          <a:prstGeom prst="wedgeEllipseCallout">
            <a:avLst>
              <a:gd name="adj1" fmla="val -90811"/>
              <a:gd name="adj2" fmla="val -69369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Sorting can take a long time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5825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Query Plan 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F1BD2E-BDAA-724E-B585-BE7A394C2B1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2400" y="1752600"/>
            <a:ext cx="8839200" cy="18158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/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Find and </a:t>
            </a:r>
            <a:r>
              <a:rPr lang="en-US" sz="2800" b="1" u="sng" noProof="1" smtClean="0">
                <a:solidFill>
                  <a:srgbClr val="1F497D"/>
                </a:solidFill>
                <a:latin typeface="Calibri"/>
                <a:cs typeface="Calibri"/>
              </a:rPr>
              <a:t>only read</a:t>
            </a:r>
            <a:r>
              <a:rPr lang="en-US" sz="2800" noProof="1" smtClean="0">
                <a:latin typeface="Calibri"/>
                <a:cs typeface="Calibri"/>
              </a:rPr>
              <a:t> from disk insurance from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provider ‘Blue’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For each such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policy</a:t>
            </a:r>
            <a:r>
              <a:rPr lang="en-US" sz="2800" noProof="1" smtClean="0">
                <a:latin typeface="Calibri"/>
                <a:cs typeface="Calibri"/>
              </a:rPr>
              <a:t>, find matching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patients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800" noProof="1" smtClean="0">
                <a:latin typeface="Calibri"/>
                <a:cs typeface="Calibri"/>
              </a:rPr>
              <a:t>Return </a:t>
            </a:r>
            <a:r>
              <a:rPr lang="en-US" sz="2800" b="1" noProof="1" smtClean="0">
                <a:solidFill>
                  <a:srgbClr val="1F497D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7" name="Oval Callout 6"/>
          <p:cNvSpPr/>
          <p:nvPr/>
        </p:nvSpPr>
        <p:spPr bwMode="auto">
          <a:xfrm>
            <a:off x="1371600" y="4191000"/>
            <a:ext cx="1905000" cy="914400"/>
          </a:xfrm>
          <a:prstGeom prst="wedgeEllipseCallout">
            <a:avLst>
              <a:gd name="adj1" fmla="val 10199"/>
              <a:gd name="adj2" fmla="val -178796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Can we do this?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8" name="Oval Callout 7"/>
          <p:cNvSpPr/>
          <p:nvPr/>
        </p:nvSpPr>
        <p:spPr bwMode="auto">
          <a:xfrm>
            <a:off x="4419600" y="4038600"/>
            <a:ext cx="2667000" cy="1066800"/>
          </a:xfrm>
          <a:prstGeom prst="wedgeEllipseCallout">
            <a:avLst>
              <a:gd name="adj1" fmla="val -26343"/>
              <a:gd name="adj2" fmla="val -155262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Yes! But we need</a:t>
            </a:r>
            <a:r>
              <a:rPr lang="en-US" b="1" dirty="0" smtClean="0">
                <a:latin typeface="Calibri"/>
                <a:cs typeface="Calibri"/>
              </a:rPr>
              <a:t> indexes</a:t>
            </a:r>
            <a:endParaRPr lang="en-US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474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Index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636485"/>
            <a:ext cx="8458200" cy="4114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>
                <a:solidFill>
                  <a:srgbClr val="0000FF"/>
                </a:solidFill>
              </a:rPr>
              <a:t>An </a:t>
            </a:r>
            <a:r>
              <a:rPr lang="en-US" b="1" dirty="0" smtClean="0">
                <a:solidFill>
                  <a:srgbClr val="0000FF"/>
                </a:solidFill>
              </a:rPr>
              <a:t>additional </a:t>
            </a:r>
            <a:r>
              <a:rPr lang="en-US" dirty="0" smtClean="0">
                <a:solidFill>
                  <a:srgbClr val="0000FF"/>
                </a:solidFill>
              </a:rPr>
              <a:t>file, that allows fast access to records in the data file given a search key</a:t>
            </a:r>
          </a:p>
          <a:p>
            <a:pPr eaLnBrk="1" hangingPunct="1"/>
            <a:r>
              <a:rPr lang="en-US" dirty="0" smtClean="0"/>
              <a:t>The index contains (key, value) pairs:</a:t>
            </a:r>
          </a:p>
          <a:p>
            <a:pPr lvl="1" eaLnBrk="1" hangingPunct="1"/>
            <a:r>
              <a:rPr lang="en-US" dirty="0" smtClean="0"/>
              <a:t>The key = an attribute value (e.g., </a:t>
            </a:r>
            <a:r>
              <a:rPr lang="en-US" dirty="0" err="1" smtClean="0"/>
              <a:t>pid</a:t>
            </a:r>
            <a:r>
              <a:rPr lang="en-US" dirty="0" smtClean="0"/>
              <a:t> or name)</a:t>
            </a:r>
          </a:p>
          <a:p>
            <a:pPr lvl="1" eaLnBrk="1" hangingPunct="1"/>
            <a:r>
              <a:rPr lang="en-US" dirty="0" smtClean="0"/>
              <a:t>The value = a pointer to the record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r>
              <a:rPr lang="en-US" dirty="0" smtClean="0"/>
              <a:t>SQL statement to create index:</a:t>
            </a:r>
          </a:p>
          <a:p>
            <a:pPr lvl="1"/>
            <a:r>
              <a:rPr lang="en-US" dirty="0" smtClean="0">
                <a:latin typeface="Consolas"/>
                <a:cs typeface="Consolas"/>
              </a:rPr>
              <a:t>CREATE INDEX</a:t>
            </a:r>
            <a:r>
              <a:rPr lang="en-US" dirty="0" smtClean="0"/>
              <a:t> </a:t>
            </a:r>
            <a:r>
              <a:rPr lang="en-US" b="1" dirty="0" err="1">
                <a:solidFill>
                  <a:srgbClr val="1F497D"/>
                </a:solidFill>
              </a:rPr>
              <a:t>p</a:t>
            </a:r>
            <a:r>
              <a:rPr lang="en-US" b="1" dirty="0" err="1" smtClean="0">
                <a:solidFill>
                  <a:srgbClr val="1F497D"/>
                </a:solidFill>
              </a:rPr>
              <a:t>id_index</a:t>
            </a:r>
            <a:r>
              <a:rPr lang="en-US" dirty="0" smtClean="0"/>
              <a:t> </a:t>
            </a:r>
            <a:r>
              <a:rPr lang="en-US" dirty="0" smtClean="0">
                <a:latin typeface="Consolas"/>
                <a:cs typeface="Consolas"/>
              </a:rPr>
              <a:t>ON</a:t>
            </a:r>
            <a:r>
              <a:rPr lang="en-US" dirty="0" smtClean="0"/>
              <a:t> </a:t>
            </a:r>
            <a:r>
              <a:rPr lang="en-US" b="1" u="sng" dirty="0" smtClean="0">
                <a:solidFill>
                  <a:srgbClr val="1F497D"/>
                </a:solidFill>
              </a:rPr>
              <a:t>patient(</a:t>
            </a:r>
            <a:r>
              <a:rPr lang="en-US" b="1" u="sng" dirty="0" err="1">
                <a:solidFill>
                  <a:srgbClr val="1F497D"/>
                </a:solidFill>
              </a:rPr>
              <a:t>p</a:t>
            </a:r>
            <a:r>
              <a:rPr lang="en-US" b="1" u="sng" dirty="0" err="1" smtClean="0">
                <a:solidFill>
                  <a:srgbClr val="1F497D"/>
                </a:solidFill>
              </a:rPr>
              <a:t>id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5AE1ED-616F-D84D-B4AB-014FBA93B530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20485" name="Rounded Rectangle 5"/>
          <p:cNvSpPr>
            <a:spLocks noChangeArrowheads="1"/>
          </p:cNvSpPr>
          <p:nvPr/>
        </p:nvSpPr>
        <p:spPr bwMode="auto">
          <a:xfrm>
            <a:off x="1672367" y="3994427"/>
            <a:ext cx="3520523" cy="578882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“</a:t>
            </a:r>
            <a:r>
              <a:rPr lang="en-US" sz="2800" dirty="0">
                <a:latin typeface="Arial"/>
                <a:cs typeface="Arial"/>
              </a:rPr>
              <a:t>key”</a:t>
            </a:r>
            <a:r>
              <a:rPr lang="en-US" sz="2800" dirty="0" smtClean="0">
                <a:latin typeface="Arial"/>
                <a:cs typeface="Arial"/>
              </a:rPr>
              <a:t> = </a:t>
            </a:r>
            <a:r>
              <a:rPr lang="en-US" sz="2800" dirty="0">
                <a:latin typeface="Arial"/>
                <a:cs typeface="Arial"/>
              </a:rPr>
              <a:t>“search key</a:t>
            </a:r>
            <a:r>
              <a:rPr lang="en-US" sz="2800" dirty="0" smtClean="0">
                <a:latin typeface="Arial"/>
                <a:cs typeface="Arial"/>
              </a:rPr>
              <a:t>”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429000" cy="457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Dan </a:t>
            </a:r>
            <a:r>
              <a:rPr lang="en-US" dirty="0" err="1" smtClean="0"/>
              <a:t>Suciu</a:t>
            </a:r>
            <a:r>
              <a:rPr lang="en-US" dirty="0" smtClean="0"/>
              <a:t> - CSE 344, Winter 2012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095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3D4AC-2DC3-8745-A747-24093421C4AE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 of Index</a:t>
            </a:r>
            <a:endParaRPr lang="en-US" dirty="0"/>
          </a:p>
        </p:txBody>
      </p:sp>
      <p:graphicFrame>
        <p:nvGraphicFramePr>
          <p:cNvPr id="399364" name="Group 4"/>
          <p:cNvGraphicFramePr>
            <a:graphicFrameLocks noGrp="1"/>
          </p:cNvGraphicFramePr>
          <p:nvPr/>
        </p:nvGraphicFramePr>
        <p:xfrm>
          <a:off x="1828800" y="2819400"/>
          <a:ext cx="914400" cy="9906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381" name="Group 21"/>
          <p:cNvGraphicFramePr>
            <a:graphicFrameLocks noGrp="1"/>
          </p:cNvGraphicFramePr>
          <p:nvPr/>
        </p:nvGraphicFramePr>
        <p:xfrm>
          <a:off x="1828800" y="4038600"/>
          <a:ext cx="914400" cy="9906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35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45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398" name="Group 38"/>
          <p:cNvGraphicFramePr>
            <a:graphicFrameLocks noGrp="1"/>
          </p:cNvGraphicFramePr>
          <p:nvPr/>
        </p:nvGraphicFramePr>
        <p:xfrm>
          <a:off x="4343400" y="2743200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409" name="Group 49"/>
          <p:cNvGraphicFramePr>
            <a:graphicFrameLocks noGrp="1"/>
          </p:cNvGraphicFramePr>
          <p:nvPr/>
        </p:nvGraphicFramePr>
        <p:xfrm>
          <a:off x="4343400" y="3505200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420" name="Group 60"/>
          <p:cNvGraphicFramePr>
            <a:graphicFrameLocks noGrp="1"/>
          </p:cNvGraphicFramePr>
          <p:nvPr/>
        </p:nvGraphicFramePr>
        <p:xfrm>
          <a:off x="4343400" y="4343400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431" name="Group 71"/>
          <p:cNvGraphicFramePr>
            <a:graphicFrameLocks noGrp="1"/>
          </p:cNvGraphicFramePr>
          <p:nvPr/>
        </p:nvGraphicFramePr>
        <p:xfrm>
          <a:off x="4343400" y="5181600"/>
          <a:ext cx="2819400" cy="609599"/>
        </p:xfrm>
        <a:graphic>
          <a:graphicData uri="http://schemas.openxmlformats.org/drawingml/2006/table">
            <a:tbl>
              <a:tblPr/>
              <a:tblGrid>
                <a:gridCol w="381000"/>
                <a:gridCol w="2438400"/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635" name="Line 82"/>
          <p:cNvSpPr>
            <a:spLocks noChangeShapeType="1"/>
          </p:cNvSpPr>
          <p:nvPr/>
        </p:nvSpPr>
        <p:spPr bwMode="auto">
          <a:xfrm>
            <a:off x="2514600" y="2971800"/>
            <a:ext cx="1828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36" name="Line 83"/>
          <p:cNvSpPr>
            <a:spLocks noChangeShapeType="1"/>
          </p:cNvSpPr>
          <p:nvPr/>
        </p:nvSpPr>
        <p:spPr bwMode="auto">
          <a:xfrm>
            <a:off x="2514600" y="3200400"/>
            <a:ext cx="1828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37" name="Line 84"/>
          <p:cNvSpPr>
            <a:spLocks noChangeShapeType="1"/>
          </p:cNvSpPr>
          <p:nvPr/>
        </p:nvSpPr>
        <p:spPr bwMode="auto">
          <a:xfrm flipV="1">
            <a:off x="2514600" y="2895600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38" name="Line 85"/>
          <p:cNvSpPr>
            <a:spLocks noChangeShapeType="1"/>
          </p:cNvSpPr>
          <p:nvPr/>
        </p:nvSpPr>
        <p:spPr bwMode="auto">
          <a:xfrm>
            <a:off x="2514600" y="3657600"/>
            <a:ext cx="1828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39" name="Line 86"/>
          <p:cNvSpPr>
            <a:spLocks noChangeShapeType="1"/>
          </p:cNvSpPr>
          <p:nvPr/>
        </p:nvSpPr>
        <p:spPr bwMode="auto">
          <a:xfrm>
            <a:off x="2514600" y="4191000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40" name="Line 87"/>
          <p:cNvSpPr>
            <a:spLocks noChangeShapeType="1"/>
          </p:cNvSpPr>
          <p:nvPr/>
        </p:nvSpPr>
        <p:spPr bwMode="auto">
          <a:xfrm flipV="1">
            <a:off x="2514600" y="3200400"/>
            <a:ext cx="1828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41" name="Line 88"/>
          <p:cNvSpPr>
            <a:spLocks noChangeShapeType="1"/>
          </p:cNvSpPr>
          <p:nvPr/>
        </p:nvSpPr>
        <p:spPr bwMode="auto">
          <a:xfrm flipV="1">
            <a:off x="2514600" y="3657600"/>
            <a:ext cx="1828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42" name="Line 89"/>
          <p:cNvSpPr>
            <a:spLocks noChangeShapeType="1"/>
          </p:cNvSpPr>
          <p:nvPr/>
        </p:nvSpPr>
        <p:spPr bwMode="auto">
          <a:xfrm>
            <a:off x="2514600" y="4876800"/>
            <a:ext cx="1828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20" name="AutoShape 95"/>
          <p:cNvSpPr>
            <a:spLocks/>
          </p:cNvSpPr>
          <p:nvPr/>
        </p:nvSpPr>
        <p:spPr bwMode="auto">
          <a:xfrm rot="5399890" flipH="1">
            <a:off x="2171697" y="2019284"/>
            <a:ext cx="152400" cy="990600"/>
          </a:xfrm>
          <a:prstGeom prst="rightBrace">
            <a:avLst>
              <a:gd name="adj1" fmla="val 54167"/>
              <a:gd name="adj2" fmla="val 5015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96"/>
          <p:cNvSpPr>
            <a:spLocks noChangeArrowheads="1"/>
          </p:cNvSpPr>
          <p:nvPr/>
        </p:nvSpPr>
        <p:spPr bwMode="auto">
          <a:xfrm flipH="1">
            <a:off x="1600200" y="2057400"/>
            <a:ext cx="1295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342900" indent="-342900" algn="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Arial"/>
                <a:ea typeface="Osaka" charset="-128"/>
                <a:cs typeface="Arial"/>
              </a:rPr>
              <a:t>Index File</a:t>
            </a:r>
          </a:p>
        </p:txBody>
      </p:sp>
      <p:sp>
        <p:nvSpPr>
          <p:cNvPr id="22" name="AutoShape 97"/>
          <p:cNvSpPr>
            <a:spLocks/>
          </p:cNvSpPr>
          <p:nvPr/>
        </p:nvSpPr>
        <p:spPr bwMode="auto">
          <a:xfrm rot="5399890" flipH="1">
            <a:off x="5638003" y="913653"/>
            <a:ext cx="152400" cy="2897188"/>
          </a:xfrm>
          <a:prstGeom prst="rightBrace">
            <a:avLst>
              <a:gd name="adj1" fmla="val 158420"/>
              <a:gd name="adj2" fmla="val 5015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98"/>
          <p:cNvSpPr>
            <a:spLocks noChangeArrowheads="1"/>
          </p:cNvSpPr>
          <p:nvPr/>
        </p:nvSpPr>
        <p:spPr bwMode="auto">
          <a:xfrm flipH="1">
            <a:off x="4876800" y="1905000"/>
            <a:ext cx="1371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342900" indent="-342900" algn="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Arial"/>
                <a:ea typeface="Osaka" charset="-128"/>
                <a:cs typeface="Arial"/>
              </a:rPr>
              <a:t>Data File</a:t>
            </a:r>
          </a:p>
        </p:txBody>
      </p:sp>
    </p:spTree>
    <p:extLst>
      <p:ext uri="{BB962C8B-B14F-4D97-AF65-F5344CB8AC3E}">
        <p14:creationId xmlns:p14="http://schemas.microsoft.com/office/powerpoint/2010/main" val="2164168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Selections with 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1F497D"/>
                </a:solidFill>
                <a:latin typeface="Consolas"/>
                <a:cs typeface="Consolas"/>
              </a:rPr>
              <a:t>SELECT</a:t>
            </a:r>
            <a:r>
              <a:rPr lang="en-US" dirty="0" smtClean="0">
                <a:latin typeface="Consolas"/>
                <a:cs typeface="Consolas"/>
              </a:rPr>
              <a:t> *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F497D"/>
                </a:solidFill>
                <a:latin typeface="Consolas"/>
                <a:cs typeface="Consolas"/>
              </a:rPr>
              <a:t>FROM</a:t>
            </a:r>
            <a:r>
              <a:rPr lang="en-US" dirty="0" smtClean="0">
                <a:latin typeface="Consolas"/>
                <a:cs typeface="Consolas"/>
              </a:rPr>
              <a:t> Insurance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F497D"/>
                </a:solidFill>
                <a:latin typeface="Consolas"/>
                <a:cs typeface="Consolas"/>
              </a:rPr>
              <a:t>WHERE</a:t>
            </a:r>
            <a:r>
              <a:rPr lang="en-US" dirty="0" smtClean="0">
                <a:latin typeface="Consolas"/>
                <a:cs typeface="Consolas"/>
              </a:rPr>
              <a:t> provider = ‘Blue’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Without index: Read the </a:t>
            </a:r>
            <a:r>
              <a:rPr lang="en-US" b="1" u="sng" dirty="0" smtClean="0">
                <a:solidFill>
                  <a:srgbClr val="1F497D"/>
                </a:solidFill>
              </a:rPr>
              <a:t>whole</a:t>
            </a:r>
            <a:r>
              <a:rPr lang="en-US" dirty="0" smtClean="0"/>
              <a:t> of Insurance.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With index: Read only those tuples that have ‘Blue’ as the insurance provider, </a:t>
            </a:r>
            <a:r>
              <a:rPr lang="en-US" u="sng" dirty="0" smtClean="0"/>
              <a:t>if index on </a:t>
            </a:r>
            <a:r>
              <a:rPr lang="en-US" b="1" u="sng" dirty="0" smtClean="0">
                <a:solidFill>
                  <a:srgbClr val="1F497D"/>
                </a:solidFill>
              </a:rPr>
              <a:t>provider</a:t>
            </a:r>
            <a:r>
              <a:rPr lang="en-US" u="sng" dirty="0" smtClean="0"/>
              <a:t> exists.</a:t>
            </a:r>
          </a:p>
        </p:txBody>
      </p:sp>
    </p:spTree>
    <p:extLst>
      <p:ext uri="{BB962C8B-B14F-4D97-AF65-F5344CB8AC3E}">
        <p14:creationId xmlns:p14="http://schemas.microsoft.com/office/powerpoint/2010/main" val="345590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444, Spring 2012</a:t>
            </a:r>
            <a:endParaRPr 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Loop Joins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14286"/>
            <a:ext cx="8305800" cy="4281714"/>
          </a:xfrm>
        </p:spPr>
        <p:txBody>
          <a:bodyPr>
            <a:normAutofit/>
          </a:bodyPr>
          <a:lstStyle/>
          <a:p>
            <a:r>
              <a:rPr lang="en-US" dirty="0" err="1"/>
              <a:t>Tuple</a:t>
            </a:r>
            <a:r>
              <a:rPr lang="en-US" dirty="0"/>
              <a:t>-based nested loop R </a:t>
            </a:r>
            <a:r>
              <a:rPr lang="en-US" dirty="0">
                <a:ea typeface="Arial Unicode MS" charset="0"/>
                <a:cs typeface="Arial Unicode MS" charset="0"/>
              </a:rPr>
              <a:t>⋈</a:t>
            </a:r>
            <a:r>
              <a:rPr lang="en-US" dirty="0"/>
              <a:t> S</a:t>
            </a:r>
          </a:p>
          <a:p>
            <a:r>
              <a:rPr lang="en-US" dirty="0"/>
              <a:t>R is the outer relation, S is the inner relation</a:t>
            </a:r>
          </a:p>
          <a:p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/>
              <a:t>Cost: B(R) + B</a:t>
            </a:r>
            <a:r>
              <a:rPr lang="en-US" dirty="0" smtClean="0"/>
              <a:t>(R) * constant</a:t>
            </a:r>
            <a:endParaRPr lang="en-US" dirty="0"/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1649413" y="3213781"/>
            <a:ext cx="4865434" cy="13480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for</a:t>
            </a:r>
            <a:r>
              <a:rPr lang="en-US" sz="2400" dirty="0">
                <a:latin typeface="Arial"/>
                <a:cs typeface="Arial"/>
              </a:rPr>
              <a:t> each </a:t>
            </a:r>
            <a:r>
              <a:rPr lang="en-US" sz="2400" dirty="0" err="1">
                <a:latin typeface="Arial"/>
                <a:cs typeface="Arial"/>
              </a:rPr>
              <a:t>tuple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r</a:t>
            </a:r>
            <a:r>
              <a:rPr lang="en-US" sz="2400" dirty="0">
                <a:latin typeface="Arial"/>
                <a:cs typeface="Arial"/>
              </a:rPr>
              <a:t> in R </a:t>
            </a:r>
            <a:r>
              <a:rPr lang="en-US" sz="2400" u="sng" dirty="0">
                <a:solidFill>
                  <a:schemeClr val="accent2"/>
                </a:solidFill>
                <a:latin typeface="Arial"/>
                <a:cs typeface="Arial"/>
              </a:rPr>
              <a:t>do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sz="2400" dirty="0">
                <a:latin typeface="Arial"/>
                <a:cs typeface="Arial"/>
              </a:rPr>
              <a:t>   </a:t>
            </a:r>
            <a:r>
              <a:rPr lang="en-US" sz="2400" u="sng" dirty="0" smtClean="0">
                <a:solidFill>
                  <a:schemeClr val="accent2"/>
                </a:solidFill>
                <a:latin typeface="Arial"/>
                <a:cs typeface="Arial"/>
              </a:rPr>
              <a:t>use index </a:t>
            </a:r>
            <a:r>
              <a:rPr lang="en-US" sz="2400" dirty="0" smtClean="0">
                <a:latin typeface="Arial"/>
                <a:cs typeface="Arial"/>
              </a:rPr>
              <a:t>on S to search </a:t>
            </a:r>
            <a:r>
              <a:rPr lang="en-US" sz="2400" dirty="0" smtClean="0">
                <a:solidFill>
                  <a:srgbClr val="000000"/>
                </a:solidFill>
                <a:latin typeface="Arial"/>
                <a:cs typeface="Arial"/>
              </a:rPr>
              <a:t>for key</a:t>
            </a:r>
            <a:endParaRPr 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eaLnBrk="1" hangingPunct="1">
              <a:spcBef>
                <a:spcPct val="20000"/>
              </a:spcBef>
              <a:buNone/>
            </a:pPr>
            <a:r>
              <a:rPr lang="en-US" sz="2400" dirty="0">
                <a:latin typeface="Arial"/>
                <a:cs typeface="Arial"/>
              </a:rPr>
              <a:t>   </a:t>
            </a:r>
            <a:r>
              <a:rPr lang="en-US" sz="2400" u="sng" dirty="0" smtClean="0">
                <a:solidFill>
                  <a:schemeClr val="accent2"/>
                </a:solidFill>
                <a:latin typeface="Arial"/>
                <a:cs typeface="Arial"/>
              </a:rPr>
              <a:t>then</a:t>
            </a:r>
            <a:r>
              <a:rPr lang="en-US" sz="2400" dirty="0" smtClean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output (</a:t>
            </a:r>
            <a:r>
              <a:rPr lang="en-US" sz="2400" dirty="0" err="1">
                <a:latin typeface="Arial"/>
                <a:cs typeface="Arial"/>
              </a:rPr>
              <a:t>r,s</a:t>
            </a:r>
            <a:r>
              <a:rPr lang="en-US" sz="2400" dirty="0">
                <a:latin typeface="Arial"/>
                <a:cs typeface="Arial"/>
              </a:rPr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92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/>
      <p:bldP spid="42394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4498848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73" name="Rectangle 72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40</a:t>
            </a:fld>
            <a:endParaRPr lang="en-US" dirty="0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grpSp>
        <p:nvGrpSpPr>
          <p:cNvPr id="60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61" name="Rectangle 60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>
                  <a:cs typeface="Arial"/>
                </a:rPr>
                <a:t>1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>
                  <a:cs typeface="Arial"/>
                </a:rPr>
                <a:t>1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66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b="1" dirty="0">
                  <a:cs typeface="Arial"/>
                </a:rPr>
                <a:t>1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cs typeface="Arial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026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3" name="Rectangle 32"/>
          <p:cNvSpPr/>
          <p:nvPr/>
        </p:nvSpPr>
        <p:spPr bwMode="auto">
          <a:xfrm>
            <a:off x="4572000" y="28194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3"/>
          <p:cNvGrpSpPr/>
          <p:nvPr/>
        </p:nvGrpSpPr>
        <p:grpSpPr>
          <a:xfrm>
            <a:off x="4572000" y="2819400"/>
            <a:ext cx="840802" cy="414362"/>
            <a:chOff x="4572000" y="4191000"/>
            <a:chExt cx="840802" cy="414362"/>
          </a:xfrm>
        </p:grpSpPr>
        <p:sp>
          <p:nvSpPr>
            <p:cNvPr id="52" name="Rectangle 5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31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b="1" dirty="0">
                  <a:cs typeface="Arial"/>
                </a:rPr>
                <a:t>2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>
                  <a:solidFill>
                    <a:srgbClr val="7F7F7F"/>
                  </a:solidFill>
                  <a:cs typeface="Arial"/>
                </a:rPr>
                <a:t>4</a:t>
              </a:r>
            </a:p>
          </p:txBody>
        </p:sp>
      </p:grpSp>
      <p:grpSp>
        <p:nvGrpSpPr>
          <p:cNvPr id="32" name="Group 70"/>
          <p:cNvGrpSpPr/>
          <p:nvPr/>
        </p:nvGrpSpPr>
        <p:grpSpPr>
          <a:xfrm>
            <a:off x="4495800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46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49" name="Rectangle 48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0404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 bwMode="auto">
          <a:xfrm>
            <a:off x="4495800" y="3429000"/>
            <a:ext cx="914400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 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>
                <a:cs typeface="Arial"/>
              </a:rPr>
              <a:pPr>
                <a:defRPr/>
              </a:pPr>
              <a:t>42</a:t>
            </a:fld>
            <a:endParaRPr lang="en-US" dirty="0">
              <a:cs typeface="Arial"/>
            </a:endParaRPr>
          </a:p>
        </p:txBody>
      </p:sp>
      <p:sp>
        <p:nvSpPr>
          <p:cNvPr id="6" name="Can 5"/>
          <p:cNvSpPr/>
          <p:nvPr/>
        </p:nvSpPr>
        <p:spPr bwMode="auto">
          <a:xfrm>
            <a:off x="304800" y="3581400"/>
            <a:ext cx="3657600" cy="3276600"/>
          </a:xfrm>
          <a:prstGeom prst="can">
            <a:avLst>
              <a:gd name="adj" fmla="val 153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ectangle 6"/>
          <p:cNvSpPr/>
          <p:nvPr/>
        </p:nvSpPr>
        <p:spPr bwMode="auto">
          <a:xfrm>
            <a:off x="493999" y="4606617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14400" y="4608576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999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4400" y="51054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4038600"/>
            <a:ext cx="1229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Patient</a:t>
            </a:r>
            <a:endParaRPr lang="en-US" sz="2800" dirty="0"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7526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09800" y="46167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67430" y="4041648"/>
            <a:ext cx="1609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 smtClean="0">
                <a:cs typeface="Arial"/>
              </a:rPr>
              <a:t>Insurance</a:t>
            </a:r>
            <a:endParaRPr lang="en-US" sz="2800" dirty="0">
              <a:cs typeface="Arial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7526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4</a:t>
            </a:r>
            <a:endParaRPr lang="en-US" dirty="0">
              <a:cs typeface="Arial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09800" y="51501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93999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14400" y="61741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5</a:t>
            </a:r>
            <a:endParaRPr lang="en-US" dirty="0">
              <a:cs typeface="Arial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93776" y="5638800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  <a:endParaRPr lang="en-US" dirty="0">
              <a:cs typeface="Arial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14400" y="5640759"/>
            <a:ext cx="420401" cy="41240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7526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2</a:t>
            </a:r>
            <a:endParaRPr lang="en-US" dirty="0"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209800" y="56835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7526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8</a:t>
            </a:r>
            <a:endParaRPr lang="en-US" dirty="0"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209800" y="6216997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28194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276600" y="46482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6</a:t>
            </a:r>
            <a:endParaRPr lang="en-US" dirty="0">
              <a:cs typeface="Arial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28194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1</a:t>
            </a:r>
            <a:endParaRPr lang="en-US" dirty="0">
              <a:cs typeface="Arial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276600" y="5181600"/>
            <a:ext cx="457200" cy="412403"/>
          </a:xfrm>
          <a:prstGeom prst="rect">
            <a:avLst/>
          </a:prstGeom>
          <a:solidFill>
            <a:srgbClr val="FFF0A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r>
              <a:rPr lang="en-US" dirty="0" smtClean="0">
                <a:cs typeface="Arial"/>
              </a:rPr>
              <a:t>3</a:t>
            </a:r>
            <a:endParaRPr lang="en-US" dirty="0">
              <a:cs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28800" y="3581400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Disk</a:t>
            </a:r>
            <a:endParaRPr lang="en-US" sz="2000" dirty="0">
              <a:cs typeface="Arial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4114800" y="2424020"/>
            <a:ext cx="4800600" cy="3214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3" name="Rectangle 32"/>
          <p:cNvSpPr/>
          <p:nvPr/>
        </p:nvSpPr>
        <p:spPr bwMode="auto">
          <a:xfrm>
            <a:off x="4572000" y="28194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62600" y="2819400"/>
            <a:ext cx="2599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Patient</a:t>
            </a:r>
            <a:endParaRPr lang="en-US" sz="2000" dirty="0">
              <a:cs typeface="Arial"/>
            </a:endParaRPr>
          </a:p>
        </p:txBody>
      </p:sp>
      <p:grpSp>
        <p:nvGrpSpPr>
          <p:cNvPr id="3" name="Group 73"/>
          <p:cNvGrpSpPr/>
          <p:nvPr/>
        </p:nvGrpSpPr>
        <p:grpSpPr>
          <a:xfrm>
            <a:off x="4572000" y="2819400"/>
            <a:ext cx="840802" cy="414362"/>
            <a:chOff x="4572000" y="4191000"/>
            <a:chExt cx="840802" cy="414362"/>
          </a:xfrm>
        </p:grpSpPr>
        <p:sp>
          <p:nvSpPr>
            <p:cNvPr id="52" name="Rectangle 51"/>
            <p:cNvSpPr/>
            <p:nvPr/>
          </p:nvSpPr>
          <p:spPr bwMode="auto">
            <a:xfrm>
              <a:off x="4572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992401" y="41929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54" name="Rectangle 53"/>
          <p:cNvSpPr/>
          <p:nvPr/>
        </p:nvSpPr>
        <p:spPr bwMode="auto">
          <a:xfrm>
            <a:off x="4495800" y="2819400"/>
            <a:ext cx="917448" cy="41240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239000" y="4191000"/>
            <a:ext cx="841248" cy="4124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buNone/>
            </a:pPr>
            <a:endParaRPr lang="en-US" dirty="0">
              <a:cs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6908" y="4648200"/>
            <a:ext cx="1685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Output buffer</a:t>
            </a:r>
            <a:endParaRPr lang="en-US" sz="2000" dirty="0">
              <a:cs typeface="Aria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62600" y="3429000"/>
            <a:ext cx="28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Input buffer for Insurance</a:t>
            </a:r>
            <a:endParaRPr lang="en-US" sz="2000" dirty="0">
              <a:cs typeface="Arial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4495800" y="3429000"/>
            <a:ext cx="914400" cy="412403"/>
            <a:chOff x="4495800" y="4191000"/>
            <a:chExt cx="914400" cy="412403"/>
          </a:xfrm>
        </p:grpSpPr>
        <p:sp>
          <p:nvSpPr>
            <p:cNvPr id="67" name="Rectangle 66"/>
            <p:cNvSpPr/>
            <p:nvPr/>
          </p:nvSpPr>
          <p:spPr bwMode="auto">
            <a:xfrm>
              <a:off x="44958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b="1" dirty="0" smtClean="0">
                  <a:cs typeface="Arial"/>
                </a:rPr>
                <a:t>2</a:t>
              </a:r>
              <a:endParaRPr lang="en-US" b="1" dirty="0">
                <a:cs typeface="Arial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4953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solidFill>
                    <a:srgbClr val="7F7F7F"/>
                  </a:solidFill>
                  <a:cs typeface="Arial"/>
                </a:rPr>
                <a:t>8</a:t>
              </a:r>
              <a:endParaRPr lang="en-US" dirty="0">
                <a:solidFill>
                  <a:srgbClr val="7F7F7F"/>
                </a:solidFill>
                <a:cs typeface="Arial"/>
              </a:endParaRPr>
            </a:p>
          </p:txBody>
        </p:sp>
      </p:grpSp>
      <p:grpSp>
        <p:nvGrpSpPr>
          <p:cNvPr id="31" name="Group 70"/>
          <p:cNvGrpSpPr/>
          <p:nvPr/>
        </p:nvGrpSpPr>
        <p:grpSpPr>
          <a:xfrm>
            <a:off x="4495800" y="2819400"/>
            <a:ext cx="917002" cy="414362"/>
            <a:chOff x="4495800" y="2819400"/>
            <a:chExt cx="917002" cy="414362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495800" y="2819400"/>
              <a:ext cx="4966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1</a:t>
              </a:r>
              <a:endParaRPr lang="en-US" dirty="0"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4992401" y="2821359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grpSp>
        <p:nvGrpSpPr>
          <p:cNvPr id="44" name="Group 78"/>
          <p:cNvGrpSpPr/>
          <p:nvPr/>
        </p:nvGrpSpPr>
        <p:grpSpPr>
          <a:xfrm>
            <a:off x="7239000" y="4191000"/>
            <a:ext cx="838200" cy="412403"/>
            <a:chOff x="7239000" y="4191000"/>
            <a:chExt cx="838200" cy="412403"/>
          </a:xfrm>
        </p:grpSpPr>
        <p:sp>
          <p:nvSpPr>
            <p:cNvPr id="45" name="Rectangle 44"/>
            <p:cNvSpPr/>
            <p:nvPr/>
          </p:nvSpPr>
          <p:spPr bwMode="auto">
            <a:xfrm>
              <a:off x="7239000" y="4191000"/>
              <a:ext cx="420401" cy="41240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7620000" y="4191000"/>
              <a:ext cx="457200" cy="412403"/>
            </a:xfrm>
            <a:prstGeom prst="rect">
              <a:avLst/>
            </a:prstGeom>
            <a:solidFill>
              <a:srgbClr val="FFF0A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buNone/>
              </a:pPr>
              <a:r>
                <a:rPr lang="en-US" dirty="0" smtClean="0">
                  <a:cs typeface="Arial"/>
                </a:rPr>
                <a:t>2</a:t>
              </a:r>
              <a:endParaRPr lang="en-US" dirty="0">
                <a:cs typeface="Arial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4267200" y="6019800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dirty="0" smtClean="0">
                <a:cs typeface="Arial"/>
              </a:rPr>
              <a:t>Cost: B(R) + B(R) * Constant</a:t>
            </a:r>
            <a:endParaRPr lang="en-US" dirty="0">
              <a:cs typeface="Arial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343400" y="4778514"/>
            <a:ext cx="40040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cs typeface="Arial"/>
              </a:rPr>
              <a:t>Then repeat for next </a:t>
            </a:r>
          </a:p>
          <a:p>
            <a:pPr>
              <a:buNone/>
            </a:pPr>
            <a:r>
              <a:rPr lang="en-US" sz="2000" dirty="0" smtClean="0">
                <a:cs typeface="Arial"/>
              </a:rPr>
              <a:t>page of Patient… until end of Patient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853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  <p:bldP spid="5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Depends on the query plan</a:t>
            </a:r>
          </a:p>
          <a:p>
            <a:r>
              <a:rPr lang="en-US" dirty="0" smtClean="0"/>
              <a:t>In general construct index on attributes that occur in</a:t>
            </a:r>
          </a:p>
          <a:p>
            <a:pPr lvl="1"/>
            <a:r>
              <a:rPr lang="en-US" dirty="0" smtClean="0"/>
              <a:t>Selections</a:t>
            </a:r>
          </a:p>
          <a:p>
            <a:pPr lvl="1"/>
            <a:r>
              <a:rPr lang="en-US" dirty="0" smtClean="0"/>
              <a:t>Join predicates</a:t>
            </a:r>
          </a:p>
          <a:p>
            <a:pPr lvl="1"/>
            <a:r>
              <a:rPr lang="en-US" dirty="0" smtClean="0"/>
              <a:t>Grouping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582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Selection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54420" y="6143670"/>
            <a:ext cx="35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R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810357" y="6143670"/>
            <a:ext cx="32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418979" y="5313673"/>
            <a:ext cx="4411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Symbol" charset="2"/>
                <a:cs typeface="Symbol" charset="2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2988" y="4496205"/>
            <a:ext cx="4431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a typeface="Arial Unicode MS" charset="0"/>
                <a:cs typeface="Arial Unicode MS" charset="0"/>
              </a:rPr>
              <a:t>⋈</a:t>
            </a:r>
            <a:endParaRPr 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076862" y="3663525"/>
            <a:ext cx="4431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a typeface="Arial Unicode MS" charset="0"/>
                <a:cs typeface="Arial Unicode MS" charset="0"/>
              </a:rPr>
              <a:t>⋈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43383" y="2712787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GROUP BY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919058" y="1819075"/>
            <a:ext cx="80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SUM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947032" y="4865537"/>
            <a:ext cx="4411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Symbol" charset="2"/>
                <a:cs typeface="Symbol" charset="2"/>
              </a:rPr>
              <a:t>s</a:t>
            </a:r>
          </a:p>
        </p:txBody>
      </p:sp>
      <p:cxnSp>
        <p:nvCxnSpPr>
          <p:cNvPr id="13" name="Straight Arrow Connector 12"/>
          <p:cNvCxnSpPr>
            <a:stCxn id="4" idx="0"/>
            <a:endCxn id="6" idx="2"/>
          </p:cNvCxnSpPr>
          <p:nvPr/>
        </p:nvCxnSpPr>
        <p:spPr>
          <a:xfrm flipV="1">
            <a:off x="2630310" y="5898449"/>
            <a:ext cx="9242" cy="2452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  <a:endCxn id="7" idx="2"/>
          </p:cNvCxnSpPr>
          <p:nvPr/>
        </p:nvCxnSpPr>
        <p:spPr>
          <a:xfrm flipV="1">
            <a:off x="2639552" y="5080981"/>
            <a:ext cx="725011" cy="2326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0"/>
            <a:endCxn id="7" idx="2"/>
          </p:cNvCxnSpPr>
          <p:nvPr/>
        </p:nvCxnSpPr>
        <p:spPr>
          <a:xfrm flipH="1" flipV="1">
            <a:off x="3364563" y="5080981"/>
            <a:ext cx="608835" cy="10626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0"/>
            <a:endCxn id="8" idx="2"/>
          </p:cNvCxnSpPr>
          <p:nvPr/>
        </p:nvCxnSpPr>
        <p:spPr>
          <a:xfrm flipV="1">
            <a:off x="3364563" y="4248301"/>
            <a:ext cx="933874" cy="247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0"/>
            <a:endCxn id="8" idx="2"/>
          </p:cNvCxnSpPr>
          <p:nvPr/>
        </p:nvCxnSpPr>
        <p:spPr>
          <a:xfrm flipH="1" flipV="1">
            <a:off x="4298437" y="4248301"/>
            <a:ext cx="869168" cy="6172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0"/>
            <a:endCxn id="9" idx="2"/>
          </p:cNvCxnSpPr>
          <p:nvPr/>
        </p:nvCxnSpPr>
        <p:spPr>
          <a:xfrm flipV="1">
            <a:off x="4298437" y="3174452"/>
            <a:ext cx="10540" cy="4890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0"/>
            <a:endCxn id="10" idx="2"/>
          </p:cNvCxnSpPr>
          <p:nvPr/>
        </p:nvCxnSpPr>
        <p:spPr>
          <a:xfrm flipV="1">
            <a:off x="4308977" y="2280740"/>
            <a:ext cx="10116" cy="4320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14183" y="61436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</a:t>
            </a:r>
          </a:p>
        </p:txBody>
      </p:sp>
      <p:cxnSp>
        <p:nvCxnSpPr>
          <p:cNvPr id="38" name="Straight Arrow Connector 37"/>
          <p:cNvCxnSpPr>
            <a:stCxn id="36" idx="0"/>
            <a:endCxn id="11" idx="2"/>
          </p:cNvCxnSpPr>
          <p:nvPr/>
        </p:nvCxnSpPr>
        <p:spPr>
          <a:xfrm flipH="1" flipV="1">
            <a:off x="5167605" y="5450313"/>
            <a:ext cx="15855" cy="6933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7053" y="3158028"/>
            <a:ext cx="2635056" cy="5847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/>
              <a:t>Most effective</a:t>
            </a:r>
            <a:endParaRPr lang="en-US" sz="3200" b="1" dirty="0"/>
          </a:p>
        </p:txBody>
      </p:sp>
      <p:cxnSp>
        <p:nvCxnSpPr>
          <p:cNvPr id="44" name="Straight Arrow Connector 43"/>
          <p:cNvCxnSpPr>
            <a:endCxn id="11" idx="1"/>
          </p:cNvCxnSpPr>
          <p:nvPr/>
        </p:nvCxnSpPr>
        <p:spPr>
          <a:xfrm>
            <a:off x="1654581" y="3742804"/>
            <a:ext cx="3292451" cy="14151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2" idx="2"/>
            <a:endCxn id="6" idx="1"/>
          </p:cNvCxnSpPr>
          <p:nvPr/>
        </p:nvCxnSpPr>
        <p:spPr>
          <a:xfrm>
            <a:off x="1654581" y="3742804"/>
            <a:ext cx="764398" cy="18632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2" idx="2"/>
            <a:endCxn id="7" idx="1"/>
          </p:cNvCxnSpPr>
          <p:nvPr/>
        </p:nvCxnSpPr>
        <p:spPr>
          <a:xfrm>
            <a:off x="1654581" y="3742804"/>
            <a:ext cx="1488407" cy="10457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28199" y="3003190"/>
            <a:ext cx="1857149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Less effective</a:t>
            </a:r>
            <a:endParaRPr lang="en-US" sz="2400" dirty="0"/>
          </a:p>
        </p:txBody>
      </p:sp>
      <p:cxnSp>
        <p:nvCxnSpPr>
          <p:cNvPr id="69" name="Straight Arrow Connector 68"/>
          <p:cNvCxnSpPr>
            <a:stCxn id="67" idx="1"/>
            <a:endCxn id="10" idx="3"/>
          </p:cNvCxnSpPr>
          <p:nvPr/>
        </p:nvCxnSpPr>
        <p:spPr>
          <a:xfrm flipH="1" flipV="1">
            <a:off x="4719127" y="2049908"/>
            <a:ext cx="2009072" cy="1184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7" idx="1"/>
            <a:endCxn id="9" idx="3"/>
          </p:cNvCxnSpPr>
          <p:nvPr/>
        </p:nvCxnSpPr>
        <p:spPr>
          <a:xfrm flipH="1" flipV="1">
            <a:off x="5074571" y="2943620"/>
            <a:ext cx="1653628" cy="2904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6861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6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2374</Words>
  <Application>Microsoft Macintosh PowerPoint</Application>
  <PresentationFormat>On-screen Show (4:3)</PresentationFormat>
  <Paragraphs>1065</Paragraphs>
  <Slides>44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Introduction to Data Management CSE 344</vt:lpstr>
      <vt:lpstr>Outline</vt:lpstr>
      <vt:lpstr>Life of a Query</vt:lpstr>
      <vt:lpstr>Query Plan</vt:lpstr>
      <vt:lpstr>Example 1</vt:lpstr>
      <vt:lpstr>Example 2</vt:lpstr>
      <vt:lpstr>Life of a Query</vt:lpstr>
      <vt:lpstr>Query Optimization</vt:lpstr>
      <vt:lpstr>Query Plan 1</vt:lpstr>
      <vt:lpstr>Query Plan 2: Pushing Selections Down</vt:lpstr>
      <vt:lpstr>Cost of Query Plan</vt:lpstr>
      <vt:lpstr>Data Storage</vt:lpstr>
      <vt:lpstr>Cost Parameters</vt:lpstr>
      <vt:lpstr>Basic Join Algorithms</vt:lpstr>
      <vt:lpstr>Hash Join</vt:lpstr>
      <vt:lpstr>Hash Join Example</vt:lpstr>
      <vt:lpstr>Hash Join Example</vt:lpstr>
      <vt:lpstr>Hash Join Example</vt:lpstr>
      <vt:lpstr>Hash Join Example</vt:lpstr>
      <vt:lpstr>Hash Join Example</vt:lpstr>
      <vt:lpstr>Hash Join Example</vt:lpstr>
      <vt:lpstr>Nested Loop Joins</vt:lpstr>
      <vt:lpstr>Nested Loop Example</vt:lpstr>
      <vt:lpstr>Nested Loop Example</vt:lpstr>
      <vt:lpstr>Nested Loop Example</vt:lpstr>
      <vt:lpstr>Sort-Merge Join</vt:lpstr>
      <vt:lpstr>Sort-Merge Join Example</vt:lpstr>
      <vt:lpstr>Sort-Merge Join Example</vt:lpstr>
      <vt:lpstr>Sort-Merge Join Example</vt:lpstr>
      <vt:lpstr>Sort-Merge Join Example</vt:lpstr>
      <vt:lpstr>Indexes</vt:lpstr>
      <vt:lpstr>Example</vt:lpstr>
      <vt:lpstr>Possible Query Plan 1</vt:lpstr>
      <vt:lpstr>Possible Query Plan 2</vt:lpstr>
      <vt:lpstr>Possible Query Plan 3</vt:lpstr>
      <vt:lpstr>Index</vt:lpstr>
      <vt:lpstr>Example of Index</vt:lpstr>
      <vt:lpstr>Selections with Indexing</vt:lpstr>
      <vt:lpstr>Nested Loop Joins</vt:lpstr>
      <vt:lpstr>Nested Loop Example</vt:lpstr>
      <vt:lpstr>Nested Loop Example</vt:lpstr>
      <vt:lpstr>Nested Loop Example</vt:lpstr>
      <vt:lpstr>Index Selection</vt:lpstr>
      <vt:lpstr>Index Selection Example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Prasang Upadhyaya</dc:creator>
  <cp:lastModifiedBy>Magdalena Balazinska</cp:lastModifiedBy>
  <cp:revision>148</cp:revision>
  <cp:lastPrinted>2012-10-07T13:25:59Z</cp:lastPrinted>
  <dcterms:created xsi:type="dcterms:W3CDTF">2012-10-03T03:18:46Z</dcterms:created>
  <dcterms:modified xsi:type="dcterms:W3CDTF">2012-10-07T13:30:41Z</dcterms:modified>
</cp:coreProperties>
</file>