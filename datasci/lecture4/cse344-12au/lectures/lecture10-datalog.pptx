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1"/>
    <p:sldMasterId id="2147483700" r:id="rId2"/>
  </p:sldMasterIdLst>
  <p:notesMasterIdLst>
    <p:notesMasterId r:id="rId27"/>
  </p:notesMasterIdLst>
  <p:handoutMasterIdLst>
    <p:handoutMasterId r:id="rId28"/>
  </p:handoutMasterIdLst>
  <p:sldIdLst>
    <p:sldId id="427" r:id="rId3"/>
    <p:sldId id="387" r:id="rId4"/>
    <p:sldId id="399" r:id="rId5"/>
    <p:sldId id="389" r:id="rId6"/>
    <p:sldId id="423" r:id="rId7"/>
    <p:sldId id="424" r:id="rId8"/>
    <p:sldId id="426" r:id="rId9"/>
    <p:sldId id="390" r:id="rId10"/>
    <p:sldId id="428" r:id="rId11"/>
    <p:sldId id="430" r:id="rId12"/>
    <p:sldId id="388" r:id="rId13"/>
    <p:sldId id="429" r:id="rId14"/>
    <p:sldId id="391" r:id="rId15"/>
    <p:sldId id="396" r:id="rId16"/>
    <p:sldId id="400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38" r:id="rId25"/>
    <p:sldId id="439" r:id="rId2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har char="•"/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har char="•"/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har char="•"/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har char="•"/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har char="•"/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C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 autoAdjust="0"/>
    <p:restoredTop sz="73288" autoAdjust="0"/>
  </p:normalViewPr>
  <p:slideViewPr>
    <p:cSldViewPr>
      <p:cViewPr varScale="1">
        <p:scale>
          <a:sx n="74" d="100"/>
          <a:sy n="74" d="100"/>
        </p:scale>
        <p:origin x="-140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buFontTx/>
              <a:buNone/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spcBef>
                <a:spcPct val="0"/>
              </a:spcBef>
              <a:buFontTx/>
              <a:buNone/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buFontTx/>
              <a:buNone/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spcBef>
                <a:spcPct val="0"/>
              </a:spcBef>
              <a:buFontTx/>
              <a:buNone/>
              <a:defRPr sz="1200"/>
            </a:lvl1pPr>
          </a:lstStyle>
          <a:p>
            <a:fld id="{E4275D39-2641-9C46-841F-0BFA112B885B}" type="slidenum">
              <a:rPr lang="en-US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8447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701675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0238"/>
            <a:ext cx="5153025" cy="412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2688"/>
            <a:ext cx="2998788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02688"/>
            <a:ext cx="2998787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/>
              </a:defRPr>
            </a:lvl1pPr>
          </a:lstStyle>
          <a:p>
            <a:fld id="{627BF030-8185-FD40-A608-F0A4F66CBA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95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AA29A-9FD8-3D46-B7AF-81F1B33D847F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Draw relations: on top RA, expresses queries with operations on sets/bags,</a:t>
            </a:r>
            <a:r>
              <a:rPr lang="en-US" baseline="0" dirty="0" smtClean="0"/>
              <a:t> next to RA draw </a:t>
            </a:r>
            <a:r>
              <a:rPr lang="en-US" baseline="0" dirty="0" err="1" smtClean="0"/>
              <a:t>datalog</a:t>
            </a:r>
            <a:r>
              <a:rPr lang="en-US" baseline="0" dirty="0" smtClean="0"/>
              <a:t>, expresses queries using logic</a:t>
            </a:r>
            <a:endParaRPr lang="en-US" dirty="0" smtClean="0"/>
          </a:p>
          <a:p>
            <a:r>
              <a:rPr lang="en-US" dirty="0" smtClean="0"/>
              <a:t>Also show relational calculus, expresses queries using predicate calculus (more next lecture)</a:t>
            </a:r>
          </a:p>
          <a:p>
            <a:endParaRPr lang="en-US" dirty="0" smtClean="0"/>
          </a:p>
          <a:p>
            <a:r>
              <a:rPr lang="en-US" dirty="0" smtClean="0"/>
              <a:t>Say that basic RA is equivalent to non-recursive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datalog</a:t>
            </a:r>
            <a:r>
              <a:rPr lang="en-US" baseline="0" dirty="0" smtClean="0"/>
              <a:t> with negation and relational calculus.</a:t>
            </a:r>
          </a:p>
          <a:p>
            <a:r>
              <a:rPr lang="en-US" baseline="0" dirty="0" smtClean="0"/>
              <a:t>Say that SQL is based on RC.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Say that </a:t>
            </a:r>
            <a:r>
              <a:rPr lang="en-US" dirty="0" err="1" smtClean="0"/>
              <a:t>datalog</a:t>
            </a:r>
            <a:r>
              <a:rPr lang="en-US" dirty="0" smtClean="0"/>
              <a:t> is heavily used to study database theory,</a:t>
            </a:r>
            <a:r>
              <a:rPr lang="en-US" baseline="0" dirty="0" smtClean="0"/>
              <a:t> all sorts of theories.</a:t>
            </a:r>
          </a:p>
          <a:p>
            <a:r>
              <a:rPr lang="en-US" baseline="0" dirty="0" smtClean="0"/>
              <a:t>Also mention Joe </a:t>
            </a:r>
            <a:r>
              <a:rPr lang="en-US" baseline="0" dirty="0" err="1" smtClean="0"/>
              <a:t>Hellerstein’s</a:t>
            </a:r>
            <a:r>
              <a:rPr lang="en-US" baseline="0" dirty="0" smtClean="0"/>
              <a:t> work to make the connection to database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04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baseline="0" dirty="0" smtClean="0"/>
              <a:t> consists of facts and rules.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1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Read the comma like an “AND”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58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Atoms are also called “</a:t>
            </a:r>
            <a:r>
              <a:rPr lang="en-US" dirty="0" err="1" smtClean="0"/>
              <a:t>subgoals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59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is the meaning of this </a:t>
            </a:r>
            <a:r>
              <a:rPr lang="en-US" dirty="0" err="1" smtClean="0"/>
              <a:t>datalog</a:t>
            </a:r>
            <a:r>
              <a:rPr lang="en-US" dirty="0" smtClean="0"/>
              <a:t> program?  Whenever we can find a</a:t>
            </a:r>
          </a:p>
          <a:p>
            <a:r>
              <a:rPr lang="en-US" dirty="0" smtClean="0"/>
              <a:t>tuple in Actor with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fname</a:t>
            </a:r>
            <a:r>
              <a:rPr lang="en-US" baseline="0" dirty="0" smtClean="0"/>
              <a:t>=‘Kevin’ and </a:t>
            </a:r>
            <a:r>
              <a:rPr lang="en-US" baseline="0" dirty="0" err="1" smtClean="0"/>
              <a:t>lname</a:t>
            </a:r>
            <a:r>
              <a:rPr lang="en-US" baseline="0" dirty="0" smtClean="0"/>
              <a:t>=‘bacon’, then we have a tuple in B0 with</a:t>
            </a:r>
          </a:p>
          <a:p>
            <a:r>
              <a:rPr lang="en-US" baseline="0" dirty="0" smtClean="0"/>
              <a:t>attribute x equal to the ID value in that tuple…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89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These rules generate infinite numbers of answers!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BF030-8185-FD40-A608-F0A4F66CBAC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3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87A41-B96C-2940-A65B-63B6B355DD5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8D05AA-330A-834F-9387-3C3E5EC449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4BA1B6-96C2-FD4C-AB39-C4E82BD4474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2484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fld id="{B3718339-12DF-E64A-8435-CCA49B5F2570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r>
              <a:rPr lang="en-US" dirty="0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None/>
              <a:defRPr sz="1400">
                <a:latin typeface="Arial"/>
              </a:defRPr>
            </a:lvl1pPr>
          </a:lstStyle>
          <a:p>
            <a:fld id="{AD27AA91-F32A-9C49-A3DD-26B4AAB05F01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bai.tuwien.ac.at/proj/dlv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0A74A2-54C0-E645-B4EC-2A4D9F4BC33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286000"/>
            <a:ext cx="8610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Introduction to Data Management</a:t>
            </a:r>
            <a:br>
              <a:rPr lang="en-US" dirty="0" smtClean="0"/>
            </a:br>
            <a:r>
              <a:rPr lang="en-US" dirty="0" smtClean="0"/>
              <a:t>CSE 344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Lecture </a:t>
            </a:r>
            <a:r>
              <a:rPr lang="en-US" dirty="0" smtClean="0"/>
              <a:t>10: </a:t>
            </a:r>
            <a:r>
              <a:rPr lang="en-US" dirty="0" err="1" smtClean="0"/>
              <a:t>Datalog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505200" cy="457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Magda Balazinska - CSE 344, Fall 2012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38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friendly notation for queries</a:t>
            </a:r>
          </a:p>
          <a:p>
            <a:r>
              <a:rPr lang="en-US" dirty="0" smtClean="0"/>
              <a:t>Initially designed for </a:t>
            </a:r>
            <a:r>
              <a:rPr lang="en-US" i="1" u="sng" dirty="0" smtClean="0"/>
              <a:t>recursive</a:t>
            </a:r>
            <a:r>
              <a:rPr lang="en-US" dirty="0" smtClean="0"/>
              <a:t> queries</a:t>
            </a:r>
          </a:p>
          <a:p>
            <a:r>
              <a:rPr lang="en-US" dirty="0" smtClean="0"/>
              <a:t>Some companies offer </a:t>
            </a:r>
            <a:r>
              <a:rPr lang="en-US" dirty="0" err="1" smtClean="0"/>
              <a:t>datalog</a:t>
            </a:r>
            <a:r>
              <a:rPr lang="en-US" dirty="0" smtClean="0"/>
              <a:t> implementation for data </a:t>
            </a:r>
            <a:r>
              <a:rPr lang="en-US" dirty="0" smtClean="0"/>
              <a:t>analytics</a:t>
            </a:r>
            <a:r>
              <a:rPr lang="en-US" dirty="0" smtClean="0"/>
              <a:t>, e.g. </a:t>
            </a:r>
            <a:r>
              <a:rPr lang="en-US" dirty="0" err="1" smtClean="0"/>
              <a:t>LogicBlox</a:t>
            </a:r>
            <a:r>
              <a:rPr lang="en-US" dirty="0" smtClean="0"/>
              <a:t> </a:t>
            </a:r>
          </a:p>
          <a:p>
            <a:r>
              <a:rPr lang="en-US" dirty="0" smtClean="0"/>
              <a:t>We discuss only </a:t>
            </a:r>
            <a:r>
              <a:rPr lang="en-US" i="1" u="sng" dirty="0" smtClean="0"/>
              <a:t>recursion-free</a:t>
            </a:r>
            <a:r>
              <a:rPr lang="en-US" dirty="0" smtClean="0"/>
              <a:t> or </a:t>
            </a:r>
            <a:r>
              <a:rPr lang="en-US" i="1" u="sng" dirty="0" smtClean="0"/>
              <a:t>non-recursive</a:t>
            </a:r>
            <a:r>
              <a:rPr lang="en-US" dirty="0" smtClean="0"/>
              <a:t> </a:t>
            </a:r>
            <a:r>
              <a:rPr lang="en-US" dirty="0" err="1" smtClean="0"/>
              <a:t>datalog</a:t>
            </a:r>
            <a:r>
              <a:rPr lang="en-US" dirty="0" smtClean="0"/>
              <a:t>, and add negation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142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How to try </a:t>
            </a:r>
            <a:r>
              <a:rPr lang="en-US" sz="2800" dirty="0"/>
              <a:t>out </a:t>
            </a:r>
            <a:r>
              <a:rPr lang="en-US" sz="2800" dirty="0" err="1" smtClean="0"/>
              <a:t>datalog</a:t>
            </a:r>
            <a:r>
              <a:rPr lang="en-US" sz="2800" dirty="0" smtClean="0"/>
              <a:t> quickly:</a:t>
            </a:r>
          </a:p>
          <a:p>
            <a:r>
              <a:rPr lang="en-US" sz="2800" dirty="0" smtClean="0"/>
              <a:t>Download DLV from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>
                <a:hlinkClick r:id="rId2"/>
              </a:rPr>
              <a:t>http://www.dbai.tuwien.ac.at/proj/dlv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r>
              <a:rPr lang="en-US" sz="2800" dirty="0" smtClean="0"/>
              <a:t>Run DLV on this file: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5181600" y="3429000"/>
            <a:ext cx="3832913" cy="28092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</a:t>
            </a:r>
            <a:r>
              <a:rPr lang="en-US" sz="1100" dirty="0" err="1">
                <a:latin typeface="Arial"/>
              </a:rPr>
              <a:t>william</a:t>
            </a:r>
            <a:r>
              <a:rPr lang="en-US" sz="1100" dirty="0">
                <a:latin typeface="Arial"/>
              </a:rPr>
              <a:t>, john).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parent(john, </a:t>
            </a:r>
            <a:r>
              <a:rPr lang="en-US" sz="1100" dirty="0" err="1">
                <a:latin typeface="Arial"/>
              </a:rPr>
              <a:t>james</a:t>
            </a:r>
            <a:r>
              <a:rPr lang="en-US" sz="1100" dirty="0">
                <a:latin typeface="Arial"/>
              </a:rPr>
              <a:t>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</a:t>
            </a:r>
            <a:r>
              <a:rPr lang="en-US" sz="1100" dirty="0" err="1">
                <a:latin typeface="Arial"/>
              </a:rPr>
              <a:t>james</a:t>
            </a:r>
            <a:r>
              <a:rPr lang="en-US" sz="1100" dirty="0">
                <a:latin typeface="Arial"/>
              </a:rPr>
              <a:t>, bill).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parent(sue, bill).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</a:t>
            </a:r>
            <a:r>
              <a:rPr lang="en-US" sz="1100" dirty="0" err="1">
                <a:latin typeface="Arial"/>
              </a:rPr>
              <a:t>james</a:t>
            </a:r>
            <a:r>
              <a:rPr lang="en-US" sz="1100" dirty="0">
                <a:latin typeface="Arial"/>
              </a:rPr>
              <a:t>, carol).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parent(sue, carol).</a:t>
            </a:r>
          </a:p>
          <a:p>
            <a:pPr>
              <a:lnSpc>
                <a:spcPct val="70000"/>
              </a:lnSpc>
              <a:buNone/>
            </a:pPr>
            <a:endParaRPr lang="en-US" sz="1100" dirty="0">
              <a:latin typeface="Arial"/>
            </a:endParaRP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male(john).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male(</a:t>
            </a:r>
            <a:r>
              <a:rPr lang="en-US" sz="1100" dirty="0" err="1">
                <a:latin typeface="Arial"/>
              </a:rPr>
              <a:t>james</a:t>
            </a:r>
            <a:r>
              <a:rPr lang="en-US" sz="1100" dirty="0">
                <a:latin typeface="Arial"/>
              </a:rPr>
              <a:t>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female(sue).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male(bill).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female(carol).</a:t>
            </a:r>
          </a:p>
          <a:p>
            <a:pPr>
              <a:lnSpc>
                <a:spcPct val="70000"/>
              </a:lnSpc>
              <a:buNone/>
            </a:pPr>
            <a:endParaRPr lang="en-US" sz="1100" dirty="0">
              <a:latin typeface="Arial"/>
            </a:endParaRP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grandparent(X, Y) :- parent(X, Z), parent(Z, Y).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father(X, Y) :- parent(X, Y), male(X).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mother(X, Y) :- parent(X, Y), female(X).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brother(X, Y) :- parent(P, X), parent(P, Y), male(X), X != Y.</a:t>
            </a:r>
          </a:p>
          <a:p>
            <a:pPr>
              <a:lnSpc>
                <a:spcPct val="70000"/>
              </a:lnSpc>
              <a:buNone/>
            </a:pPr>
            <a:r>
              <a:rPr lang="en-US" sz="1100" dirty="0">
                <a:latin typeface="Arial"/>
              </a:rPr>
              <a:t>sister(X, Y)  :- parent(P, X), parent(P, Y), female(X), X != Y</a:t>
            </a:r>
            <a:r>
              <a:rPr lang="en-US" sz="1100" dirty="0" smtClean="0">
                <a:latin typeface="Arial"/>
              </a:rPr>
              <a:t>.</a:t>
            </a:r>
            <a:endParaRPr lang="en-US" sz="1100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429000" cy="4572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601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: Facts and Rules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362200"/>
            <a:ext cx="4669117" cy="22467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Actor(344759,‘Douglas’, ‘</a:t>
            </a:r>
            <a:r>
              <a:rPr lang="en-US" sz="2000" dirty="0" err="1">
                <a:latin typeface="Arial"/>
              </a:rPr>
              <a:t>Fowley</a:t>
            </a:r>
            <a:r>
              <a:rPr lang="en-US" sz="2000" dirty="0">
                <a:latin typeface="Arial"/>
              </a:rPr>
              <a:t>’).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Casts(344759, 29851).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Casts(355713, 29000).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Movie(7909, ‘A Night in </a:t>
            </a:r>
            <a:r>
              <a:rPr lang="en-US" sz="2000" dirty="0" err="1">
                <a:latin typeface="Arial"/>
              </a:rPr>
              <a:t>Armour</a:t>
            </a:r>
            <a:r>
              <a:rPr lang="en-US" sz="2000" dirty="0">
                <a:latin typeface="Arial"/>
              </a:rPr>
              <a:t>’, 1910).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Movie(29000, ‘Arizona’, 1940).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Movie(29445, ‘Ave Maria’, 1940).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52600"/>
            <a:ext cx="429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Facts </a:t>
            </a:r>
            <a:r>
              <a:rPr lang="en-US" dirty="0" smtClean="0">
                <a:latin typeface="Arial"/>
              </a:rPr>
              <a:t>= </a:t>
            </a:r>
            <a:r>
              <a:rPr lang="en-US" dirty="0">
                <a:latin typeface="Arial"/>
              </a:rPr>
              <a:t>tuples in the database</a:t>
            </a:r>
            <a:endParaRPr lang="en-US" dirty="0" smtClean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1752600"/>
            <a:ext cx="2331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Rules </a:t>
            </a:r>
            <a:r>
              <a:rPr lang="en-US" dirty="0" smtClean="0">
                <a:latin typeface="Arial"/>
              </a:rPr>
              <a:t>= queries</a:t>
            </a:r>
            <a:endParaRPr lang="en-US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1600" y="2514600"/>
            <a:ext cx="373581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Q1(y) :-  Movie(</a:t>
            </a:r>
            <a:r>
              <a:rPr lang="en-US" sz="2000" dirty="0" err="1">
                <a:latin typeface="Arial"/>
              </a:rPr>
              <a:t>x,y,z</a:t>
            </a:r>
            <a:r>
              <a:rPr lang="en-US" sz="2000" dirty="0">
                <a:latin typeface="Arial"/>
              </a:rPr>
              <a:t>), z=‘1940’.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5257800"/>
            <a:ext cx="4396055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sz="2800" dirty="0" smtClean="0">
                <a:latin typeface="Arial"/>
                <a:cs typeface="Arial"/>
              </a:rPr>
              <a:t>Find Movies made in 1940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4633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: Facts and Rules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362200"/>
            <a:ext cx="4669117" cy="22467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Actor(344759,‘Douglas’, ‘</a:t>
            </a:r>
            <a:r>
              <a:rPr lang="en-US" sz="2000" dirty="0" err="1">
                <a:latin typeface="Arial"/>
              </a:rPr>
              <a:t>Fowley</a:t>
            </a:r>
            <a:r>
              <a:rPr lang="en-US" sz="2000" dirty="0">
                <a:latin typeface="Arial"/>
              </a:rPr>
              <a:t>’).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Casts(344759, 29851).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Casts(355713, 29000).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Movie(7909, ‘A Night in </a:t>
            </a:r>
            <a:r>
              <a:rPr lang="en-US" sz="2000" dirty="0" err="1">
                <a:latin typeface="Arial"/>
              </a:rPr>
              <a:t>Armour</a:t>
            </a:r>
            <a:r>
              <a:rPr lang="en-US" sz="2000" dirty="0">
                <a:latin typeface="Arial"/>
              </a:rPr>
              <a:t>’, 1910).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Movie(29000, ‘Arizona’, 1940).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Movie(29445, ‘Ave Maria’, 1940).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52600"/>
            <a:ext cx="429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Facts </a:t>
            </a:r>
            <a:r>
              <a:rPr lang="en-US" dirty="0" smtClean="0">
                <a:latin typeface="Arial"/>
              </a:rPr>
              <a:t>= </a:t>
            </a:r>
            <a:r>
              <a:rPr lang="en-US" dirty="0">
                <a:latin typeface="Arial"/>
              </a:rPr>
              <a:t>tuples in the database</a:t>
            </a:r>
            <a:endParaRPr lang="en-US" dirty="0" smtClean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1752600"/>
            <a:ext cx="2331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Rules </a:t>
            </a:r>
            <a:r>
              <a:rPr lang="en-US" dirty="0" smtClean="0">
                <a:latin typeface="Arial"/>
              </a:rPr>
              <a:t>= queries</a:t>
            </a:r>
            <a:endParaRPr lang="en-US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1600" y="2514600"/>
            <a:ext cx="373581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Q1(y) :-  Movie(</a:t>
            </a:r>
            <a:r>
              <a:rPr lang="en-US" sz="2000" dirty="0" err="1">
                <a:latin typeface="Arial"/>
              </a:rPr>
              <a:t>x,y,z</a:t>
            </a:r>
            <a:r>
              <a:rPr lang="en-US" sz="2000" dirty="0">
                <a:latin typeface="Arial"/>
              </a:rPr>
              <a:t>), z=‘1940’.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3429000"/>
            <a:ext cx="3832374" cy="707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Q2(f, l) :- 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z,x</a:t>
            </a:r>
            <a:r>
              <a:rPr lang="en-US" sz="2000" dirty="0">
                <a:latin typeface="Arial"/>
              </a:rPr>
              <a:t>), 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</a:rPr>
              <a:t>                 Movie(x,y,’1940’).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925" y="5334000"/>
            <a:ext cx="7609475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sz="2800" dirty="0" smtClean="0">
                <a:latin typeface="Arial"/>
                <a:cs typeface="Arial"/>
              </a:rPr>
              <a:t>Find Actors who acted in Movies made in 1940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7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: Facts and Rules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362200"/>
            <a:ext cx="4669117" cy="22467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Actor(344759,‘Douglas’, ‘</a:t>
            </a:r>
            <a:r>
              <a:rPr lang="en-US" sz="2000" dirty="0" err="1">
                <a:latin typeface="Arial"/>
              </a:rPr>
              <a:t>Fowley</a:t>
            </a:r>
            <a:r>
              <a:rPr lang="en-US" sz="2000" dirty="0">
                <a:latin typeface="Arial"/>
              </a:rPr>
              <a:t>’).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Casts(344759, 29851).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Casts(355713, 29000).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Movie(7909, ‘A Night in </a:t>
            </a:r>
            <a:r>
              <a:rPr lang="en-US" sz="2000" dirty="0" err="1">
                <a:latin typeface="Arial"/>
              </a:rPr>
              <a:t>Armour</a:t>
            </a:r>
            <a:r>
              <a:rPr lang="en-US" sz="2000" dirty="0">
                <a:latin typeface="Arial"/>
              </a:rPr>
              <a:t>’, 1910).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Movie(29000, ‘Arizona’, 1940).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Movie(29445, ‘Ave Maria’, 1940).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52600"/>
            <a:ext cx="429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Facts </a:t>
            </a:r>
            <a:r>
              <a:rPr lang="en-US" dirty="0" smtClean="0">
                <a:latin typeface="Arial"/>
              </a:rPr>
              <a:t>= </a:t>
            </a:r>
            <a:r>
              <a:rPr lang="en-US" dirty="0">
                <a:latin typeface="Arial"/>
              </a:rPr>
              <a:t>tuples in the database</a:t>
            </a:r>
            <a:endParaRPr lang="en-US" dirty="0" smtClean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1752600"/>
            <a:ext cx="2331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Rules </a:t>
            </a:r>
            <a:r>
              <a:rPr lang="en-US" dirty="0" smtClean="0">
                <a:latin typeface="Arial"/>
              </a:rPr>
              <a:t>= queries</a:t>
            </a:r>
            <a:endParaRPr lang="en-US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1600" y="2514600"/>
            <a:ext cx="373581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Q1(y) :-  Movie(</a:t>
            </a:r>
            <a:r>
              <a:rPr lang="en-US" sz="2000" dirty="0" err="1">
                <a:latin typeface="Arial"/>
              </a:rPr>
              <a:t>x,y,z</a:t>
            </a:r>
            <a:r>
              <a:rPr lang="en-US" sz="2000" dirty="0">
                <a:latin typeface="Arial"/>
              </a:rPr>
              <a:t>), z=‘1940’.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3429000"/>
            <a:ext cx="3832374" cy="707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Q2(f, l) :- 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z,x</a:t>
            </a:r>
            <a:r>
              <a:rPr lang="en-US" sz="2000" dirty="0">
                <a:latin typeface="Arial"/>
              </a:rPr>
              <a:t>), 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</a:rPr>
              <a:t>                 Movie(x,y,’1940’).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724400"/>
            <a:ext cx="6227862" cy="707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Q3(</a:t>
            </a:r>
            <a:r>
              <a:rPr lang="en-US" sz="2000" dirty="0" err="1">
                <a:latin typeface="Arial"/>
              </a:rPr>
              <a:t>f,l</a:t>
            </a:r>
            <a:r>
              <a:rPr lang="en-US" sz="2000" dirty="0">
                <a:latin typeface="Arial"/>
              </a:rPr>
              <a:t>) :-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Casts(z,x1), Movie(x1,y1,1910),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</a:rPr>
              <a:t>                                 Casts(z,x2), Movie(x2,y2,1940)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5638800"/>
            <a:ext cx="8414533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  <a:cs typeface="Arial"/>
              </a:rPr>
              <a:t>Find Actors who acted in a Movie in 1940 and in one in 1910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7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: Facts and Rules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362200"/>
            <a:ext cx="4669117" cy="22467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Actor(344759,‘Douglas’, ‘</a:t>
            </a:r>
            <a:r>
              <a:rPr lang="en-US" sz="2000" dirty="0" err="1">
                <a:latin typeface="Arial"/>
              </a:rPr>
              <a:t>Fowley</a:t>
            </a:r>
            <a:r>
              <a:rPr lang="en-US" sz="2000" dirty="0">
                <a:latin typeface="Arial"/>
              </a:rPr>
              <a:t>’).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Casts(344759, 29851).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Casts(355713, 29000).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Movie(7909, ‘A Night in </a:t>
            </a:r>
            <a:r>
              <a:rPr lang="en-US" sz="2000" dirty="0" err="1">
                <a:latin typeface="Arial"/>
              </a:rPr>
              <a:t>Armour</a:t>
            </a:r>
            <a:r>
              <a:rPr lang="en-US" sz="2000" dirty="0">
                <a:latin typeface="Arial"/>
              </a:rPr>
              <a:t>’, 1910).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Movie(29000, ‘Arizona’, 1940).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Movie(29445, ‘Ave Maria’, 1940).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52600"/>
            <a:ext cx="429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Facts </a:t>
            </a:r>
            <a:r>
              <a:rPr lang="en-US" dirty="0" smtClean="0">
                <a:latin typeface="Arial"/>
              </a:rPr>
              <a:t>= </a:t>
            </a:r>
            <a:r>
              <a:rPr lang="en-US" dirty="0">
                <a:latin typeface="Arial"/>
              </a:rPr>
              <a:t>tuples in the database</a:t>
            </a:r>
            <a:endParaRPr lang="en-US" dirty="0" smtClean="0">
              <a:solidFill>
                <a:srgbClr val="0000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1752600"/>
            <a:ext cx="2331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</a:rPr>
              <a:t>Rules </a:t>
            </a:r>
            <a:r>
              <a:rPr lang="en-US" dirty="0" smtClean="0">
                <a:latin typeface="Arial"/>
              </a:rPr>
              <a:t>= queries</a:t>
            </a:r>
            <a:endParaRPr lang="en-US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1600" y="2514600"/>
            <a:ext cx="373581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Q1(y) :-  Movie(</a:t>
            </a:r>
            <a:r>
              <a:rPr lang="en-US" sz="2000" dirty="0" err="1">
                <a:latin typeface="Arial"/>
              </a:rPr>
              <a:t>x,y,z</a:t>
            </a:r>
            <a:r>
              <a:rPr lang="en-US" sz="2000" dirty="0">
                <a:latin typeface="Arial"/>
              </a:rPr>
              <a:t>), z=‘1940’.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3429000"/>
            <a:ext cx="3832374" cy="707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Q2(f, l) :- 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z,x</a:t>
            </a:r>
            <a:r>
              <a:rPr lang="en-US" sz="2000" dirty="0">
                <a:latin typeface="Arial"/>
              </a:rPr>
              <a:t>), 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</a:rPr>
              <a:t>                 Movie(x,y,’1940’).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724400"/>
            <a:ext cx="6227862" cy="707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Q3(</a:t>
            </a:r>
            <a:r>
              <a:rPr lang="en-US" sz="2000" dirty="0" err="1">
                <a:latin typeface="Arial"/>
              </a:rPr>
              <a:t>f,l</a:t>
            </a:r>
            <a:r>
              <a:rPr lang="en-US" sz="2000" dirty="0">
                <a:latin typeface="Arial"/>
              </a:rPr>
              <a:t>) :-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Casts(z,x1), Movie(x1,y1,1910),</a:t>
            </a:r>
            <a:br>
              <a:rPr lang="en-US" sz="2000" dirty="0">
                <a:latin typeface="Arial"/>
              </a:rPr>
            </a:br>
            <a:r>
              <a:rPr lang="en-US" sz="2000" dirty="0">
                <a:latin typeface="Arial"/>
              </a:rPr>
              <a:t>                                 Casts(z,x2), Movie(x2,y2,1940)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5562600"/>
            <a:ext cx="7269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0000FF"/>
                </a:solidFill>
                <a:latin typeface="Arial"/>
              </a:rPr>
              <a:t>Extensional Database Predicates = EDB </a:t>
            </a:r>
            <a:r>
              <a:rPr lang="en-US" sz="2000" dirty="0" smtClean="0">
                <a:latin typeface="Arial"/>
              </a:rPr>
              <a:t>= Actor, Casts, Movie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0000FF"/>
                </a:solidFill>
                <a:latin typeface="Arial"/>
              </a:rPr>
              <a:t>Intensional</a:t>
            </a:r>
            <a:r>
              <a:rPr lang="en-US" sz="2000" dirty="0" smtClean="0">
                <a:solidFill>
                  <a:srgbClr val="0000FF"/>
                </a:solidFill>
                <a:latin typeface="Arial"/>
              </a:rPr>
              <a:t> Database 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Predicates = </a:t>
            </a:r>
            <a:r>
              <a:rPr lang="en-US" sz="2000" dirty="0" smtClean="0">
                <a:solidFill>
                  <a:srgbClr val="0000FF"/>
                </a:solidFill>
                <a:latin typeface="Arial"/>
              </a:rPr>
              <a:t>IDB </a:t>
            </a:r>
            <a:r>
              <a:rPr lang="en-US" sz="2000" dirty="0" smtClean="0">
                <a:latin typeface="Arial"/>
              </a:rPr>
              <a:t>= Q1, Q2, Q3</a:t>
            </a:r>
            <a:endParaRPr lang="en-US" sz="2000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429000" cy="457200"/>
          </a:xfrm>
        </p:spPr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7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: Terminology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6400" y="4038600"/>
            <a:ext cx="592704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Q2(f, l) :-  Actor(</a:t>
            </a:r>
            <a:r>
              <a:rPr lang="en-US" sz="2000" dirty="0" err="1">
                <a:latin typeface="Arial"/>
              </a:rPr>
              <a:t>z,f,l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z,x</a:t>
            </a:r>
            <a:r>
              <a:rPr lang="en-US" sz="2000" dirty="0">
                <a:latin typeface="Arial"/>
              </a:rPr>
              <a:t>), Movie(x,y,’1940’).</a:t>
            </a:r>
          </a:p>
        </p:txBody>
      </p:sp>
      <p:sp>
        <p:nvSpPr>
          <p:cNvPr id="8" name="Left Brace 7"/>
          <p:cNvSpPr/>
          <p:nvPr/>
        </p:nvSpPr>
        <p:spPr bwMode="auto">
          <a:xfrm rot="5400000">
            <a:off x="4884182" y="602218"/>
            <a:ext cx="518636" cy="4648200"/>
          </a:xfrm>
          <a:prstGeom prst="leftBrace">
            <a:avLst>
              <a:gd name="adj1" fmla="val 92681"/>
              <a:gd name="adj2" fmla="val 50000"/>
            </a:avLst>
          </a:prstGeom>
          <a:solidFill>
            <a:srgbClr val="FFFFFF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Left Brace 8"/>
          <p:cNvSpPr/>
          <p:nvPr/>
        </p:nvSpPr>
        <p:spPr bwMode="auto">
          <a:xfrm rot="5400000">
            <a:off x="3168640" y="3237458"/>
            <a:ext cx="518636" cy="1221283"/>
          </a:xfrm>
          <a:prstGeom prst="leftBrace">
            <a:avLst>
              <a:gd name="adj1" fmla="val 92681"/>
              <a:gd name="adj2" fmla="val 50000"/>
            </a:avLst>
          </a:prstGeom>
          <a:solidFill>
            <a:srgbClr val="FFFFFF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0" name="Left Brace 9"/>
          <p:cNvSpPr/>
          <p:nvPr/>
        </p:nvSpPr>
        <p:spPr bwMode="auto">
          <a:xfrm rot="5400000">
            <a:off x="4542324" y="3237459"/>
            <a:ext cx="518636" cy="1221283"/>
          </a:xfrm>
          <a:prstGeom prst="leftBrace">
            <a:avLst>
              <a:gd name="adj1" fmla="val 92681"/>
              <a:gd name="adj2" fmla="val 50000"/>
            </a:avLst>
          </a:prstGeom>
          <a:solidFill>
            <a:srgbClr val="FFFFFF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3" name="Left Brace 12"/>
          <p:cNvSpPr/>
          <p:nvPr/>
        </p:nvSpPr>
        <p:spPr bwMode="auto">
          <a:xfrm rot="5400000">
            <a:off x="6216640" y="3008858"/>
            <a:ext cx="518636" cy="1678483"/>
          </a:xfrm>
          <a:prstGeom prst="leftBrace">
            <a:avLst>
              <a:gd name="adj1" fmla="val 92681"/>
              <a:gd name="adj2" fmla="val 50000"/>
            </a:avLst>
          </a:prstGeom>
          <a:solidFill>
            <a:srgbClr val="FFFFFF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24400" y="2209800"/>
            <a:ext cx="852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body</a:t>
            </a:r>
          </a:p>
        </p:txBody>
      </p:sp>
      <p:sp>
        <p:nvSpPr>
          <p:cNvPr id="16" name="Left Brace 15"/>
          <p:cNvSpPr/>
          <p:nvPr/>
        </p:nvSpPr>
        <p:spPr bwMode="auto">
          <a:xfrm rot="5400000">
            <a:off x="1911340" y="2544276"/>
            <a:ext cx="518636" cy="840283"/>
          </a:xfrm>
          <a:prstGeom prst="leftBrace">
            <a:avLst>
              <a:gd name="adj1" fmla="val 92681"/>
              <a:gd name="adj2" fmla="val 50000"/>
            </a:avLst>
          </a:prstGeom>
          <a:solidFill>
            <a:srgbClr val="FFFFFF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2209800"/>
            <a:ext cx="869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4200" y="3124200"/>
            <a:ext cx="868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atom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3124200"/>
            <a:ext cx="868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atom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7400" y="3124200"/>
            <a:ext cx="2819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atom (aka </a:t>
            </a:r>
            <a:r>
              <a:rPr lang="en-US" dirty="0" err="1" smtClean="0">
                <a:latin typeface="Arial"/>
              </a:rPr>
              <a:t>subgoal</a:t>
            </a:r>
            <a:r>
              <a:rPr lang="en-US" dirty="0" smtClean="0">
                <a:latin typeface="Arial"/>
              </a:rPr>
              <a:t>)</a:t>
            </a:r>
            <a:endParaRPr lang="en-US" dirty="0" smtClean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0" y="5105400"/>
            <a:ext cx="40590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f, l	= head variables</a:t>
            </a:r>
            <a:r>
              <a:rPr lang="en-US" dirty="0">
                <a:latin typeface="Arial"/>
              </a:rPr>
              <a:t/>
            </a:r>
            <a:br>
              <a:rPr lang="en-US" dirty="0">
                <a:latin typeface="Arial"/>
              </a:rPr>
            </a:br>
            <a:r>
              <a:rPr lang="en-US" dirty="0" err="1" smtClean="0">
                <a:latin typeface="Arial"/>
              </a:rPr>
              <a:t>x,y,z</a:t>
            </a:r>
            <a:r>
              <a:rPr lang="en-US" dirty="0">
                <a:latin typeface="Arial"/>
              </a:rPr>
              <a:t>	</a:t>
            </a:r>
            <a:r>
              <a:rPr lang="en-US" dirty="0" smtClean="0">
                <a:latin typeface="Arial"/>
              </a:rPr>
              <a:t>= existential variables</a:t>
            </a:r>
          </a:p>
        </p:txBody>
      </p:sp>
    </p:spTree>
    <p:extLst>
      <p:ext uri="{BB962C8B-B14F-4D97-AF65-F5344CB8AC3E}">
        <p14:creationId xmlns:p14="http://schemas.microsoft.com/office/powerpoint/2010/main" val="3644657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</a:t>
            </a:r>
            <a:r>
              <a:rPr lang="en-US" dirty="0" err="1" smtClean="0"/>
              <a:t>Datalog</a:t>
            </a:r>
            <a:r>
              <a:rPr lang="en-US" dirty="0" smtClean="0"/>
              <a:t> Terminology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5800" y="2819400"/>
            <a:ext cx="7772400" cy="3276600"/>
          </a:xfrm>
        </p:spPr>
        <p:txBody>
          <a:bodyPr/>
          <a:lstStyle/>
          <a:p>
            <a:r>
              <a:rPr lang="en-US" sz="2400" dirty="0" err="1"/>
              <a:t>Ri</a:t>
            </a:r>
            <a:r>
              <a:rPr lang="en-US" sz="2400" dirty="0"/>
              <a:t>(</a:t>
            </a:r>
            <a:r>
              <a:rPr lang="en-US" sz="2400" dirty="0" err="1"/>
              <a:t>argsi</a:t>
            </a:r>
            <a:r>
              <a:rPr lang="en-US" sz="2400" dirty="0"/>
              <a:t>) is also called a relational </a:t>
            </a:r>
            <a:r>
              <a:rPr lang="en-US" sz="2400" dirty="0" smtClean="0"/>
              <a:t>atom</a:t>
            </a:r>
            <a:endParaRPr lang="en-US" sz="2400" dirty="0"/>
          </a:p>
          <a:p>
            <a:r>
              <a:rPr lang="en-US" sz="2400" dirty="0" err="1"/>
              <a:t>Ri</a:t>
            </a:r>
            <a:r>
              <a:rPr lang="en-US" sz="2400" dirty="0"/>
              <a:t>(</a:t>
            </a:r>
            <a:r>
              <a:rPr lang="en-US" sz="2400" dirty="0" err="1"/>
              <a:t>argsi</a:t>
            </a:r>
            <a:r>
              <a:rPr lang="en-US" sz="2400" dirty="0"/>
              <a:t>) evaluates to true when relation </a:t>
            </a:r>
            <a:r>
              <a:rPr lang="en-US" sz="2400" dirty="0" err="1"/>
              <a:t>Ri</a:t>
            </a:r>
            <a:r>
              <a:rPr lang="en-US" sz="2400" dirty="0"/>
              <a:t> contains the tuple described by </a:t>
            </a:r>
            <a:r>
              <a:rPr lang="en-US" sz="2400" dirty="0" err="1"/>
              <a:t>argsi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Example: Actor</a:t>
            </a:r>
            <a:r>
              <a:rPr lang="en-US" sz="2000" dirty="0"/>
              <a:t>(344759,‘Douglas’, ‘</a:t>
            </a:r>
            <a:r>
              <a:rPr lang="en-US" sz="2000" dirty="0" err="1"/>
              <a:t>Fowley</a:t>
            </a:r>
            <a:r>
              <a:rPr lang="en-US" sz="2000" dirty="0"/>
              <a:t>’</a:t>
            </a:r>
            <a:r>
              <a:rPr lang="en-US" sz="2000" dirty="0" smtClean="0"/>
              <a:t>) is true</a:t>
            </a: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 addition to relational atoms, we can also have arithmetic </a:t>
            </a:r>
            <a:r>
              <a:rPr lang="en-US" sz="2400" dirty="0" smtClean="0"/>
              <a:t>atoms</a:t>
            </a:r>
          </a:p>
          <a:p>
            <a:pPr lvl="1"/>
            <a:r>
              <a:rPr lang="en-US" sz="2000" dirty="0" smtClean="0"/>
              <a:t>Example: </a:t>
            </a:r>
            <a:r>
              <a:rPr lang="en-US" sz="2000" dirty="0"/>
              <a:t>z=‘1940’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0" y="2057400"/>
            <a:ext cx="3918410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latin typeface="Arial"/>
              </a:rPr>
              <a:t>Q(</a:t>
            </a:r>
            <a:r>
              <a:rPr lang="en-US" sz="2000" dirty="0" err="1" smtClean="0">
                <a:latin typeface="Arial"/>
              </a:rPr>
              <a:t>args</a:t>
            </a:r>
            <a:r>
              <a:rPr lang="en-US" sz="2000" dirty="0" smtClean="0">
                <a:latin typeface="Arial"/>
              </a:rPr>
              <a:t>) </a:t>
            </a:r>
            <a:r>
              <a:rPr lang="en-US" sz="2000" dirty="0">
                <a:latin typeface="Arial"/>
              </a:rPr>
              <a:t>:</a:t>
            </a:r>
            <a:r>
              <a:rPr lang="en-US" sz="2000" dirty="0" smtClean="0">
                <a:latin typeface="Arial"/>
              </a:rPr>
              <a:t>- R1(</a:t>
            </a:r>
            <a:r>
              <a:rPr lang="en-US" sz="2000" dirty="0" err="1" smtClean="0">
                <a:latin typeface="Arial"/>
              </a:rPr>
              <a:t>args</a:t>
            </a:r>
            <a:r>
              <a:rPr lang="en-US" sz="2000" dirty="0" smtClean="0">
                <a:latin typeface="Arial"/>
              </a:rPr>
              <a:t>), R2(</a:t>
            </a:r>
            <a:r>
              <a:rPr lang="en-US" sz="2000" dirty="0" err="1" smtClean="0">
                <a:latin typeface="Arial"/>
              </a:rPr>
              <a:t>args</a:t>
            </a:r>
            <a:r>
              <a:rPr lang="en-US" sz="2000" dirty="0" smtClean="0">
                <a:latin typeface="Arial"/>
              </a:rPr>
              <a:t>), ....</a:t>
            </a:r>
            <a:endParaRPr lang="en-US" sz="20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81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533400"/>
          </a:xfrm>
        </p:spPr>
        <p:txBody>
          <a:bodyPr/>
          <a:lstStyle/>
          <a:p>
            <a:r>
              <a:rPr lang="en-US" sz="2400" dirty="0"/>
              <a:t>Meaning of a </a:t>
            </a:r>
            <a:r>
              <a:rPr lang="en-US" sz="2400" dirty="0" err="1"/>
              <a:t>datalog</a:t>
            </a:r>
            <a:r>
              <a:rPr lang="en-US" sz="2400" dirty="0"/>
              <a:t> rule =  a logical statement </a:t>
            </a:r>
            <a:r>
              <a:rPr lang="en-US" sz="2400" dirty="0" smtClean="0"/>
              <a:t>!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4600" y="2590800"/>
            <a:ext cx="373581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Q1(y) :-  Movie(</a:t>
            </a:r>
            <a:r>
              <a:rPr lang="en-US" sz="2000" dirty="0" err="1">
                <a:latin typeface="Arial"/>
              </a:rPr>
              <a:t>x,y,z</a:t>
            </a:r>
            <a:r>
              <a:rPr lang="en-US" sz="2000" dirty="0">
                <a:latin typeface="Arial"/>
              </a:rPr>
              <a:t>), z=‘1940’.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3200400"/>
            <a:ext cx="8229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2400" dirty="0" smtClean="0"/>
              <a:t>Means:</a:t>
            </a:r>
          </a:p>
          <a:p>
            <a:pPr lvl="1"/>
            <a:r>
              <a:rPr lang="en-US" sz="2000" dirty="0" smtClean="0"/>
              <a:t>∀x. ∀y. ∀z. (Movie(</a:t>
            </a:r>
            <a:r>
              <a:rPr lang="en-US" sz="2000" dirty="0" err="1" smtClean="0"/>
              <a:t>x,y,z</a:t>
            </a:r>
            <a:r>
              <a:rPr lang="en-US" sz="2000" dirty="0" smtClean="0"/>
              <a:t>) and z=‘1940’ </a:t>
            </a:r>
            <a:r>
              <a:rPr lang="en-US" sz="2000" dirty="0">
                <a:sym typeface="Symbol" pitchFamily="112" charset="2"/>
              </a:rPr>
              <a:t></a:t>
            </a:r>
            <a:r>
              <a:rPr lang="en-US" sz="2000" dirty="0" smtClean="0">
                <a:sym typeface="Wingdings"/>
              </a:rPr>
              <a:t> Q1(y))</a:t>
            </a:r>
          </a:p>
          <a:p>
            <a:pPr lvl="1"/>
            <a:r>
              <a:rPr lang="en-US" sz="2000" dirty="0"/>
              <a:t>and </a:t>
            </a:r>
            <a:r>
              <a:rPr lang="en-US" sz="2000" dirty="0" smtClean="0"/>
              <a:t>Q1 </a:t>
            </a:r>
            <a:r>
              <a:rPr lang="en-US" sz="2000" dirty="0"/>
              <a:t>is the smallest relation that has this </a:t>
            </a:r>
            <a:r>
              <a:rPr lang="en-US" sz="2000" dirty="0" smtClean="0"/>
              <a:t>property</a:t>
            </a:r>
          </a:p>
          <a:p>
            <a:pPr lvl="1"/>
            <a:endParaRPr lang="en-US" sz="2000" dirty="0"/>
          </a:p>
          <a:p>
            <a:r>
              <a:rPr lang="en-US" sz="2400" dirty="0"/>
              <a:t>Note: logically equivalent to</a:t>
            </a:r>
            <a:r>
              <a:rPr lang="en-US" sz="2400" dirty="0" smtClean="0"/>
              <a:t>:</a:t>
            </a:r>
            <a:endParaRPr lang="en-US" sz="2000" dirty="0"/>
          </a:p>
          <a:p>
            <a:pPr lvl="1"/>
            <a:r>
              <a:rPr lang="en-US" sz="2000" dirty="0"/>
              <a:t>∀</a:t>
            </a:r>
            <a:r>
              <a:rPr lang="en-US" sz="2000" dirty="0" smtClean="0"/>
              <a:t> y</a:t>
            </a:r>
            <a:r>
              <a:rPr lang="en-US" sz="2000" dirty="0"/>
              <a:t>. </a:t>
            </a:r>
            <a:r>
              <a:rPr lang="en-US" sz="2000" dirty="0" smtClean="0"/>
              <a:t>(∃x. ∃ </a:t>
            </a:r>
            <a:r>
              <a:rPr lang="en-US" sz="2000" dirty="0"/>
              <a:t>z. </a:t>
            </a:r>
            <a:r>
              <a:rPr lang="en-US" sz="2000" dirty="0" smtClean="0"/>
              <a:t>Movie</a:t>
            </a:r>
            <a:r>
              <a:rPr lang="en-US" sz="2000" dirty="0"/>
              <a:t>(</a:t>
            </a:r>
            <a:r>
              <a:rPr lang="en-US" sz="2000" dirty="0" err="1"/>
              <a:t>x,y,z</a:t>
            </a:r>
            <a:r>
              <a:rPr lang="en-US" sz="2000" dirty="0"/>
              <a:t>) and z=‘1940’ </a:t>
            </a:r>
            <a:r>
              <a:rPr lang="en-US" sz="2000" dirty="0">
                <a:sym typeface="Symbol" pitchFamily="112" charset="2"/>
              </a:rPr>
              <a:t></a:t>
            </a:r>
            <a:r>
              <a:rPr lang="en-US" sz="2000" dirty="0">
                <a:sym typeface="Wingdings"/>
              </a:rPr>
              <a:t> Q1(y)</a:t>
            </a:r>
            <a:r>
              <a:rPr lang="en-US" sz="2000" dirty="0" smtClean="0">
                <a:sym typeface="Wingdings"/>
              </a:rPr>
              <a:t>)</a:t>
            </a:r>
            <a:endParaRPr lang="en-US" sz="2000" dirty="0"/>
          </a:p>
          <a:p>
            <a:pPr lvl="1"/>
            <a:r>
              <a:rPr lang="en-US" sz="2000" dirty="0"/>
              <a:t>That's </a:t>
            </a:r>
            <a:r>
              <a:rPr lang="en-US" sz="2000" dirty="0" smtClean="0"/>
              <a:t>why </a:t>
            </a:r>
            <a:r>
              <a:rPr lang="en-US" sz="2000" dirty="0" err="1" smtClean="0"/>
              <a:t>vars</a:t>
            </a:r>
            <a:r>
              <a:rPr lang="en-US" sz="2000" dirty="0" smtClean="0"/>
              <a:t> not </a:t>
            </a:r>
            <a:r>
              <a:rPr lang="en-US" sz="2000" dirty="0"/>
              <a:t>in </a:t>
            </a:r>
            <a:r>
              <a:rPr lang="en-US" sz="2000" dirty="0" smtClean="0"/>
              <a:t>head </a:t>
            </a:r>
            <a:r>
              <a:rPr lang="en-US" sz="2000" dirty="0"/>
              <a:t>are called "</a:t>
            </a:r>
            <a:r>
              <a:rPr lang="en-US" sz="2000" dirty="0" smtClean="0"/>
              <a:t>existential variables</a:t>
            </a:r>
            <a:r>
              <a:rPr lang="en-US" sz="2000" dirty="0"/>
              <a:t>".</a:t>
            </a:r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826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 </a:t>
            </a:r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400" y="3886200"/>
            <a:ext cx="5603943" cy="18774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fr-FR" sz="2000" dirty="0">
                <a:latin typeface="Arial"/>
              </a:rPr>
              <a:t> B0(x) :- </a:t>
            </a:r>
            <a:r>
              <a:rPr lang="fr-FR" sz="2000" dirty="0" err="1">
                <a:latin typeface="Arial"/>
              </a:rPr>
              <a:t>Actor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x,'Kevin</a:t>
            </a:r>
            <a:r>
              <a:rPr lang="fr-FR" sz="2000" dirty="0">
                <a:latin typeface="Arial"/>
              </a:rPr>
              <a:t>', 'Bacon')</a:t>
            </a:r>
          </a:p>
          <a:p>
            <a:pPr>
              <a:buNone/>
            </a:pPr>
            <a:r>
              <a:rPr lang="fr-FR" sz="2000" dirty="0">
                <a:latin typeface="Arial"/>
              </a:rPr>
              <a:t> B1(x) :- </a:t>
            </a:r>
            <a:r>
              <a:rPr lang="fr-FR" sz="2000" dirty="0" err="1">
                <a:latin typeface="Arial"/>
              </a:rPr>
              <a:t>Actor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x,f,l</a:t>
            </a:r>
            <a:r>
              <a:rPr lang="fr-FR" sz="2000" dirty="0">
                <a:latin typeface="Arial"/>
              </a:rPr>
              <a:t>), </a:t>
            </a:r>
            <a:r>
              <a:rPr lang="fr-FR" sz="2000" dirty="0" err="1">
                <a:latin typeface="Arial"/>
              </a:rPr>
              <a:t>Casts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x,z</a:t>
            </a:r>
            <a:r>
              <a:rPr lang="fr-FR" sz="2000" dirty="0">
                <a:latin typeface="Arial"/>
              </a:rPr>
              <a:t>), </a:t>
            </a:r>
            <a:r>
              <a:rPr lang="fr-FR" sz="2000" dirty="0" err="1">
                <a:latin typeface="Arial"/>
              </a:rPr>
              <a:t>Casts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y,z</a:t>
            </a:r>
            <a:r>
              <a:rPr lang="fr-FR" sz="2000" dirty="0">
                <a:latin typeface="Arial"/>
              </a:rPr>
              <a:t>), B0(y)</a:t>
            </a:r>
          </a:p>
          <a:p>
            <a:pPr>
              <a:buNone/>
            </a:pPr>
            <a:r>
              <a:rPr lang="fr-FR" sz="2000" dirty="0">
                <a:latin typeface="Arial"/>
              </a:rPr>
              <a:t> B2(x) :- </a:t>
            </a:r>
            <a:r>
              <a:rPr lang="fr-FR" sz="2000" dirty="0" err="1">
                <a:latin typeface="Arial"/>
              </a:rPr>
              <a:t>Actor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x,f,l</a:t>
            </a:r>
            <a:r>
              <a:rPr lang="fr-FR" sz="2000" dirty="0">
                <a:latin typeface="Arial"/>
              </a:rPr>
              <a:t>), </a:t>
            </a:r>
            <a:r>
              <a:rPr lang="fr-FR" sz="2000" dirty="0" err="1">
                <a:latin typeface="Arial"/>
              </a:rPr>
              <a:t>Casts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x,z</a:t>
            </a:r>
            <a:r>
              <a:rPr lang="fr-FR" sz="2000" dirty="0">
                <a:latin typeface="Arial"/>
              </a:rPr>
              <a:t>), </a:t>
            </a:r>
            <a:r>
              <a:rPr lang="fr-FR" sz="2000" dirty="0" err="1">
                <a:latin typeface="Arial"/>
              </a:rPr>
              <a:t>Casts</a:t>
            </a:r>
            <a:r>
              <a:rPr lang="fr-FR" sz="2000" dirty="0">
                <a:latin typeface="Arial"/>
              </a:rPr>
              <a:t>(</a:t>
            </a:r>
            <a:r>
              <a:rPr lang="fr-FR" sz="2000" dirty="0" err="1">
                <a:latin typeface="Arial"/>
              </a:rPr>
              <a:t>y,z</a:t>
            </a:r>
            <a:r>
              <a:rPr lang="fr-FR" sz="2000" dirty="0">
                <a:latin typeface="Arial"/>
              </a:rPr>
              <a:t>), B1(y)</a:t>
            </a:r>
          </a:p>
          <a:p>
            <a:pPr>
              <a:buNone/>
            </a:pPr>
            <a:r>
              <a:rPr lang="fr-FR" sz="2000" dirty="0">
                <a:latin typeface="Arial"/>
              </a:rPr>
              <a:t> Q4(x) :- B1(x)</a:t>
            </a:r>
          </a:p>
          <a:p>
            <a:pPr>
              <a:buNone/>
            </a:pPr>
            <a:r>
              <a:rPr lang="fr-FR" sz="2000" dirty="0">
                <a:latin typeface="Arial"/>
              </a:rPr>
              <a:t> Q4(x) :- B2(x)</a:t>
            </a:r>
            <a:endParaRPr lang="en-US" sz="2000"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1734943"/>
            <a:ext cx="8449464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A </a:t>
            </a:r>
            <a:r>
              <a:rPr lang="en-US" dirty="0" err="1" smtClean="0">
                <a:latin typeface="Arial"/>
              </a:rPr>
              <a:t>datalog</a:t>
            </a:r>
            <a:r>
              <a:rPr lang="en-US" dirty="0" smtClean="0">
                <a:latin typeface="Arial"/>
              </a:rPr>
              <a:t> program is a collection of one or more rules</a:t>
            </a: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Each rule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expresses the idea that from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certain combinations of tuples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in certain relations, we may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infer that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some other tuple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must be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in some other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relation or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in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the query answer</a:t>
            </a:r>
          </a:p>
          <a:p>
            <a:pPr>
              <a:buNone/>
            </a:pPr>
            <a:r>
              <a:rPr lang="en-US" dirty="0" err="1" smtClean="0">
                <a:latin typeface="Arial"/>
              </a:rPr>
              <a:t>Exampe</a:t>
            </a:r>
            <a:r>
              <a:rPr lang="en-US" dirty="0" smtClean="0">
                <a:latin typeface="Arial"/>
              </a:rPr>
              <a:t>: Find </a:t>
            </a:r>
            <a:r>
              <a:rPr lang="en-US" dirty="0" smtClean="0">
                <a:latin typeface="Arial"/>
              </a:rPr>
              <a:t>all actors with Bacon number ≤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5791200"/>
            <a:ext cx="4941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Note: Q4 is the </a:t>
            </a:r>
            <a:r>
              <a:rPr lang="en-US" i="1" u="sng" dirty="0" smtClean="0">
                <a:latin typeface="Arial"/>
              </a:rPr>
              <a:t>union</a:t>
            </a:r>
            <a:r>
              <a:rPr lang="en-US" dirty="0" smtClean="0">
                <a:latin typeface="Arial"/>
              </a:rPr>
              <a:t> of B1 and B2</a:t>
            </a:r>
          </a:p>
        </p:txBody>
      </p:sp>
    </p:spTree>
    <p:extLst>
      <p:ext uri="{BB962C8B-B14F-4D97-AF65-F5344CB8AC3E}">
        <p14:creationId xmlns:p14="http://schemas.microsoft.com/office/powerpoint/2010/main" val="26731363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Non-recursive </a:t>
            </a:r>
            <a:r>
              <a:rPr lang="en-US" dirty="0" err="1" smtClean="0"/>
              <a:t>Datalog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datalog</a:t>
            </a:r>
            <a:r>
              <a:rPr lang="en-US" dirty="0" smtClean="0"/>
              <a:t>, rules can be recursive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ath</a:t>
            </a:r>
            <a:r>
              <a:rPr lang="en-US" dirty="0"/>
              <a:t>(x, y) </a:t>
            </a:r>
            <a:r>
              <a:rPr lang="en-US" dirty="0" smtClean="0"/>
              <a:t>:- Edge</a:t>
            </a:r>
            <a:r>
              <a:rPr lang="en-US" dirty="0"/>
              <a:t>(x, y)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Path</a:t>
            </a:r>
            <a:r>
              <a:rPr lang="en-US" dirty="0"/>
              <a:t>(x, y) </a:t>
            </a:r>
            <a:r>
              <a:rPr lang="en-US" dirty="0" smtClean="0"/>
              <a:t>:- Path</a:t>
            </a:r>
            <a:r>
              <a:rPr lang="en-US" dirty="0"/>
              <a:t>(x, z), </a:t>
            </a:r>
            <a:r>
              <a:rPr lang="en-US" dirty="0"/>
              <a:t>E</a:t>
            </a:r>
            <a:r>
              <a:rPr lang="en-US" dirty="0" smtClean="0"/>
              <a:t>dge (</a:t>
            </a:r>
            <a:r>
              <a:rPr lang="en-US" dirty="0"/>
              <a:t>z, y).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We focus only on non-recursive </a:t>
            </a:r>
            <a:r>
              <a:rPr lang="en-US" dirty="0" err="1" smtClean="0"/>
              <a:t>datalog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9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 </a:t>
            </a:r>
            <a:r>
              <a:rPr lang="en-US" dirty="0" smtClean="0"/>
              <a:t>with negation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00200" y="3276600"/>
            <a:ext cx="5603943" cy="11387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 B0(x) :- Actor(</a:t>
            </a:r>
            <a:r>
              <a:rPr lang="en-US" sz="2000" dirty="0" err="1">
                <a:latin typeface="Arial"/>
              </a:rPr>
              <a:t>x,'Kevin</a:t>
            </a:r>
            <a:r>
              <a:rPr lang="en-US" sz="2000" dirty="0">
                <a:latin typeface="Arial"/>
              </a:rPr>
              <a:t>', 'Bacon')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 B1(x) :- Actor(</a:t>
            </a:r>
            <a:r>
              <a:rPr lang="en-US" sz="2000" dirty="0" err="1">
                <a:latin typeface="Arial"/>
              </a:rPr>
              <a:t>x,f,l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x,z</a:t>
            </a:r>
            <a:r>
              <a:rPr lang="en-US" sz="2000" dirty="0">
                <a:latin typeface="Arial"/>
              </a:rPr>
              <a:t>), Casts(</a:t>
            </a:r>
            <a:r>
              <a:rPr lang="en-US" sz="2000" dirty="0" err="1">
                <a:latin typeface="Arial"/>
              </a:rPr>
              <a:t>y,z</a:t>
            </a:r>
            <a:r>
              <a:rPr lang="en-US" sz="2000" dirty="0">
                <a:latin typeface="Arial"/>
              </a:rPr>
              <a:t>), B0(y)</a:t>
            </a:r>
          </a:p>
          <a:p>
            <a:pPr>
              <a:buNone/>
            </a:pPr>
            <a:r>
              <a:rPr lang="en-US" sz="2000" dirty="0">
                <a:latin typeface="Arial"/>
              </a:rPr>
              <a:t> Q6(x) :- Actor(</a:t>
            </a:r>
            <a:r>
              <a:rPr lang="en-US" sz="2000" dirty="0" err="1">
                <a:latin typeface="Arial"/>
              </a:rPr>
              <a:t>x,f,l</a:t>
            </a:r>
            <a:r>
              <a:rPr lang="en-US" sz="2000" dirty="0">
                <a:latin typeface="Arial"/>
              </a:rPr>
              <a:t>), </a:t>
            </a:r>
            <a:r>
              <a:rPr lang="en-US" sz="2000" b="1" dirty="0">
                <a:latin typeface="Arial"/>
              </a:rPr>
              <a:t>not</a:t>
            </a:r>
            <a:r>
              <a:rPr lang="en-US" sz="2000" dirty="0">
                <a:latin typeface="Arial"/>
              </a:rPr>
              <a:t> B1(x), </a:t>
            </a:r>
            <a:r>
              <a:rPr lang="en-US" sz="2000" b="1" dirty="0">
                <a:latin typeface="Arial"/>
              </a:rPr>
              <a:t>not</a:t>
            </a:r>
            <a:r>
              <a:rPr lang="en-US" sz="2000" dirty="0">
                <a:latin typeface="Arial"/>
              </a:rPr>
              <a:t> B0(x)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09800"/>
            <a:ext cx="5331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Find all actors with Bacon number ≥ 2</a:t>
            </a:r>
          </a:p>
        </p:txBody>
      </p:sp>
    </p:spTree>
    <p:extLst>
      <p:ext uri="{BB962C8B-B14F-4D97-AF65-F5344CB8AC3E}">
        <p14:creationId xmlns:p14="http://schemas.microsoft.com/office/powerpoint/2010/main" val="2116163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 </a:t>
            </a:r>
            <a:r>
              <a:rPr lang="en-US" dirty="0" err="1" smtClean="0"/>
              <a:t>Datalog</a:t>
            </a:r>
            <a:r>
              <a:rPr lang="en-US" dirty="0" smtClean="0"/>
              <a:t> Rules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3048000"/>
            <a:ext cx="4125924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U1(</a:t>
            </a:r>
            <a:r>
              <a:rPr lang="en-US" sz="2000" dirty="0" err="1">
                <a:latin typeface="Arial"/>
              </a:rPr>
              <a:t>x,y</a:t>
            </a:r>
            <a:r>
              <a:rPr lang="en-US" sz="2000" dirty="0">
                <a:latin typeface="Arial"/>
              </a:rPr>
              <a:t>) :- Movie(x,z,1994), y&gt;1910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33600"/>
            <a:ext cx="85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Here are </a:t>
            </a:r>
            <a:r>
              <a:rPr lang="en-US" i="1" u="sng" dirty="0" smtClean="0">
                <a:latin typeface="Arial"/>
              </a:rPr>
              <a:t>unsafe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datalog</a:t>
            </a:r>
            <a:r>
              <a:rPr lang="en-US" dirty="0" smtClean="0">
                <a:latin typeface="Arial"/>
              </a:rPr>
              <a:t> rules.  What’s “unsafe” about them ?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3962400"/>
            <a:ext cx="4795178" cy="4001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40005" dist="114300" dir="2700000" algn="tl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>
                <a:latin typeface="Arial"/>
              </a:rPr>
              <a:t>U2(x)   :- Movie(x,z,1994), not Casts(</a:t>
            </a:r>
            <a:r>
              <a:rPr lang="en-US" sz="2000" dirty="0" err="1">
                <a:latin typeface="Arial"/>
              </a:rPr>
              <a:t>u,x</a:t>
            </a:r>
            <a:r>
              <a:rPr lang="en-US" sz="2000" dirty="0"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876800"/>
            <a:ext cx="6493384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Arial"/>
              </a:rPr>
              <a:t>A </a:t>
            </a:r>
            <a:r>
              <a:rPr lang="en-US" dirty="0" err="1" smtClean="0">
                <a:latin typeface="Arial"/>
              </a:rPr>
              <a:t>datalog</a:t>
            </a:r>
            <a:r>
              <a:rPr lang="en-US" dirty="0" smtClean="0">
                <a:latin typeface="Arial"/>
              </a:rPr>
              <a:t> rule is </a:t>
            </a:r>
            <a:r>
              <a:rPr lang="en-US" i="1" u="sng" dirty="0" smtClean="0">
                <a:latin typeface="Arial"/>
              </a:rPr>
              <a:t>safe</a:t>
            </a:r>
            <a:r>
              <a:rPr lang="en-US" dirty="0" smtClean="0">
                <a:latin typeface="Arial"/>
              </a:rPr>
              <a:t> if every variable appears</a:t>
            </a:r>
            <a:br>
              <a:rPr lang="en-US" dirty="0" smtClean="0">
                <a:latin typeface="Arial"/>
              </a:rPr>
            </a:br>
            <a:r>
              <a:rPr lang="en-US" dirty="0" smtClean="0">
                <a:latin typeface="Arial"/>
              </a:rPr>
              <a:t>in some positive relational atom</a:t>
            </a:r>
          </a:p>
        </p:txBody>
      </p:sp>
    </p:spTree>
    <p:extLst>
      <p:ext uri="{BB962C8B-B14F-4D97-AF65-F5344CB8AC3E}">
        <p14:creationId xmlns:p14="http://schemas.microsoft.com/office/powerpoint/2010/main" val="488563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001000" cy="1143000"/>
          </a:xfrm>
        </p:spPr>
        <p:txBody>
          <a:bodyPr/>
          <a:lstStyle/>
          <a:p>
            <a:r>
              <a:rPr lang="en-US" dirty="0" err="1" smtClean="0"/>
              <a:t>Datalog</a:t>
            </a:r>
            <a:r>
              <a:rPr lang="en-US" dirty="0" smtClean="0"/>
              <a:t> </a:t>
            </a:r>
            <a:r>
              <a:rPr lang="en-US" dirty="0" err="1" smtClean="0"/>
              <a:t>v.s</a:t>
            </a:r>
            <a:r>
              <a:rPr lang="en-US" dirty="0" smtClean="0"/>
              <a:t>. </a:t>
            </a:r>
            <a:r>
              <a:rPr lang="en-US" dirty="0" smtClean="0"/>
              <a:t>Relational Algebra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Every </a:t>
            </a:r>
            <a:r>
              <a:rPr lang="en-US" sz="2400" dirty="0"/>
              <a:t>expression in the basic relational algebra can be expressed as a </a:t>
            </a:r>
            <a:r>
              <a:rPr lang="en-US" sz="2400" dirty="0" err="1"/>
              <a:t>Datalog</a:t>
            </a:r>
            <a:r>
              <a:rPr lang="en-US" sz="2400" dirty="0"/>
              <a:t> </a:t>
            </a:r>
            <a:r>
              <a:rPr lang="en-US" sz="2400" dirty="0" smtClean="0"/>
              <a:t>query</a:t>
            </a:r>
          </a:p>
          <a:p>
            <a:endParaRPr lang="en-US" sz="2400" dirty="0" smtClean="0"/>
          </a:p>
          <a:p>
            <a:r>
              <a:rPr lang="en-US" sz="2400" dirty="0" smtClean="0"/>
              <a:t>But </a:t>
            </a:r>
            <a:r>
              <a:rPr lang="en-US" sz="2400" dirty="0"/>
              <a:t>operations in the extended relational algebra (grouping, aggregation, and sorting</a:t>
            </a:r>
            <a:r>
              <a:rPr lang="en-US" sz="2400" dirty="0" smtClean="0"/>
              <a:t>) have </a:t>
            </a:r>
            <a:r>
              <a:rPr lang="en-US" sz="2400" dirty="0"/>
              <a:t>no corresponding features in the version of </a:t>
            </a:r>
            <a:r>
              <a:rPr lang="en-US" sz="2400" dirty="0" err="1"/>
              <a:t>datalog</a:t>
            </a:r>
            <a:r>
              <a:rPr lang="en-US" sz="2400" dirty="0"/>
              <a:t> that we discussed </a:t>
            </a:r>
            <a:r>
              <a:rPr lang="en-US" sz="2400" dirty="0" smtClean="0"/>
              <a:t>today</a:t>
            </a:r>
          </a:p>
          <a:p>
            <a:endParaRPr lang="en-US" sz="2400" dirty="0" smtClean="0"/>
          </a:p>
          <a:p>
            <a:r>
              <a:rPr lang="en-US" sz="2400" dirty="0" smtClean="0"/>
              <a:t>Similarly</a:t>
            </a:r>
            <a:r>
              <a:rPr lang="en-US" sz="2400" dirty="0"/>
              <a:t>, </a:t>
            </a:r>
            <a:r>
              <a:rPr lang="en-US" sz="2400" dirty="0" err="1"/>
              <a:t>datalog</a:t>
            </a:r>
            <a:r>
              <a:rPr lang="en-US" sz="2400" dirty="0"/>
              <a:t> can express recursion, which relational algebra </a:t>
            </a:r>
            <a:r>
              <a:rPr lang="en-US" sz="2400" dirty="0" smtClean="0"/>
              <a:t>cannot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A1B6-96C2-FD4C-AB39-C4E82BD4474E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83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Schema</a:t>
            </a:r>
            <a:r>
              <a:rPr lang="en-US" sz="2800" dirty="0"/>
              <a:t> </a:t>
            </a:r>
            <a:r>
              <a:rPr lang="en-US" sz="2800" dirty="0" smtClean="0"/>
              <a:t>for our examples</a:t>
            </a:r>
          </a:p>
          <a:p>
            <a:pPr marL="0" indent="0">
              <a:buNone/>
            </a:pPr>
            <a:r>
              <a:rPr lang="en-US" sz="2800" dirty="0" smtClean="0"/>
              <a:t>R</a:t>
            </a:r>
            <a:r>
              <a:rPr lang="en-US" sz="2800" dirty="0"/>
              <a:t>(A,B,C)</a:t>
            </a:r>
          </a:p>
          <a:p>
            <a:pPr marL="0" indent="0">
              <a:buNone/>
            </a:pPr>
            <a:r>
              <a:rPr lang="en-US" sz="2800" dirty="0"/>
              <a:t>S(D,E,F)</a:t>
            </a:r>
          </a:p>
          <a:p>
            <a:pPr marL="0" indent="0">
              <a:buNone/>
            </a:pPr>
            <a:r>
              <a:rPr lang="en-US" sz="2800" dirty="0"/>
              <a:t>T(G,H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9648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Union R(A,B,C) U S(D,E,F)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U(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</a:t>
            </a:r>
          </a:p>
          <a:p>
            <a:pPr marL="0" indent="0">
              <a:buNone/>
            </a:pPr>
            <a:r>
              <a:rPr lang="en-US" sz="2800" dirty="0" smtClean="0"/>
              <a:t>U(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:- S(</a:t>
            </a:r>
            <a:r>
              <a:rPr lang="en-US" sz="2800" dirty="0" err="1" smtClean="0"/>
              <a:t>x,y,z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478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Intersection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</a:t>
            </a:r>
            <a:r>
              <a:rPr lang="en-US" sz="2800" dirty="0" smtClean="0"/>
              <a:t>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), S(</a:t>
            </a:r>
            <a:r>
              <a:rPr lang="en-US" sz="2800" dirty="0" err="1" smtClean="0"/>
              <a:t>x,y,z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56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Selection: </a:t>
            </a:r>
            <a:r>
              <a:rPr lang="en-US" sz="2800" dirty="0" err="1" smtClean="0">
                <a:latin typeface="Symbol" pitchFamily="112" charset="2"/>
              </a:rPr>
              <a:t>s</a:t>
            </a:r>
            <a:r>
              <a:rPr lang="en-US" sz="2800" baseline="-25000" dirty="0" err="1" smtClean="0"/>
              <a:t>x</a:t>
            </a:r>
            <a:r>
              <a:rPr lang="en-US" sz="2800" baseline="-25000" dirty="0" smtClean="0"/>
              <a:t>&gt;100 and y=‘some string’ </a:t>
            </a:r>
            <a:r>
              <a:rPr lang="en-US" sz="2800" dirty="0" smtClean="0"/>
              <a:t>(R)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L(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), x &gt; 100, y=‘some string’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Selection x&gt;100 </a:t>
            </a:r>
            <a:r>
              <a:rPr lang="en-US" sz="2800" b="1" dirty="0" smtClean="0"/>
              <a:t>or</a:t>
            </a:r>
            <a:r>
              <a:rPr lang="en-US" sz="2800" dirty="0" smtClean="0"/>
              <a:t> y</a:t>
            </a:r>
            <a:r>
              <a:rPr lang="en-US" sz="2800" dirty="0"/>
              <a:t>=‘some string’</a:t>
            </a:r>
          </a:p>
          <a:p>
            <a:pPr marL="0" indent="0">
              <a:buNone/>
            </a:pPr>
            <a:r>
              <a:rPr lang="en-US" sz="2800" dirty="0"/>
              <a:t>L(</a:t>
            </a:r>
            <a:r>
              <a:rPr lang="en-US" sz="2800" dirty="0" err="1"/>
              <a:t>x,y,z</a:t>
            </a:r>
            <a:r>
              <a:rPr lang="en-US" sz="2800" dirty="0"/>
              <a:t>) :- R(</a:t>
            </a:r>
            <a:r>
              <a:rPr lang="en-US" sz="2800" dirty="0" err="1"/>
              <a:t>x,y,z</a:t>
            </a:r>
            <a:r>
              <a:rPr lang="en-US" sz="2800" dirty="0"/>
              <a:t>), x &gt; </a:t>
            </a:r>
            <a:r>
              <a:rPr lang="en-US" sz="2800" dirty="0" smtClean="0"/>
              <a:t>100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L(</a:t>
            </a:r>
            <a:r>
              <a:rPr lang="en-US" sz="2800" dirty="0" err="1"/>
              <a:t>x,y,z</a:t>
            </a:r>
            <a:r>
              <a:rPr lang="en-US" sz="2800" dirty="0"/>
              <a:t>) :- R(</a:t>
            </a:r>
            <a:r>
              <a:rPr lang="en-US" sz="2800" dirty="0" err="1"/>
              <a:t>x,y,z</a:t>
            </a:r>
            <a:r>
              <a:rPr lang="en-US" sz="2800" dirty="0"/>
              <a:t>), </a:t>
            </a:r>
            <a:r>
              <a:rPr lang="en-US" sz="2800" dirty="0" smtClean="0"/>
              <a:t>y</a:t>
            </a:r>
            <a:r>
              <a:rPr lang="en-US" sz="2800" dirty="0"/>
              <a:t>=‘some string’</a:t>
            </a:r>
          </a:p>
          <a:p>
            <a:pPr marL="0" indent="0">
              <a:buNone/>
            </a:pPr>
            <a:endParaRPr lang="en-US" sz="2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56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err="1" smtClean="0"/>
              <a:t>Equi</a:t>
            </a:r>
            <a:r>
              <a:rPr lang="en-US" sz="2800" dirty="0" smtClean="0"/>
              <a:t>-join: R </a:t>
            </a:r>
            <a:r>
              <a:rPr lang="en-US" sz="2800" dirty="0">
                <a:ea typeface="ＭＳ Ｐゴシック" pitchFamily="112" charset="-128"/>
                <a:cs typeface="ＭＳ Ｐゴシック" pitchFamily="112" charset="-128"/>
              </a:rPr>
              <a:t>⨝</a:t>
            </a:r>
            <a:r>
              <a:rPr lang="en-US" sz="2800" baseline="-25000" dirty="0">
                <a:ea typeface="ＭＳ Ｐゴシック" pitchFamily="112" charset="-128"/>
                <a:cs typeface="ＭＳ Ｐゴシック" pitchFamily="112" charset="-128"/>
              </a:rPr>
              <a:t>R.A=</a:t>
            </a:r>
            <a:r>
              <a:rPr lang="en-US" sz="2800" baseline="-25000" dirty="0" smtClean="0">
                <a:ea typeface="ＭＳ Ｐゴシック" pitchFamily="112" charset="-128"/>
                <a:cs typeface="ＭＳ Ｐゴシック" pitchFamily="112" charset="-128"/>
              </a:rPr>
              <a:t>S.D and R.B=S.E</a:t>
            </a:r>
            <a:r>
              <a:rPr lang="en-US" sz="2800" dirty="0" smtClean="0"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smtClean="0"/>
              <a:t>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J</a:t>
            </a:r>
            <a:r>
              <a:rPr lang="en-US" sz="2800" dirty="0" smtClean="0"/>
              <a:t>(</a:t>
            </a:r>
            <a:r>
              <a:rPr lang="en-US" sz="2800" dirty="0" err="1" smtClean="0"/>
              <a:t>x,y,z,q</a:t>
            </a:r>
            <a:r>
              <a:rPr lang="en-US" sz="2800" dirty="0" smtClean="0"/>
              <a:t>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), S(</a:t>
            </a:r>
            <a:r>
              <a:rPr lang="en-US" sz="2800" dirty="0" err="1" smtClean="0"/>
              <a:t>x,y,q</a:t>
            </a:r>
            <a:r>
              <a:rPr lang="en-US" sz="2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56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Projection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P</a:t>
            </a:r>
            <a:r>
              <a:rPr lang="en-US" sz="2800" dirty="0" smtClean="0"/>
              <a:t>(x)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56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To express difference, we add negation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</a:t>
            </a:r>
            <a:r>
              <a:rPr lang="en-US" sz="2800" dirty="0" smtClean="0"/>
              <a:t>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:- R(</a:t>
            </a:r>
            <a:r>
              <a:rPr lang="en-US" sz="2800" dirty="0" err="1" smtClean="0"/>
              <a:t>x,y,z</a:t>
            </a:r>
            <a:r>
              <a:rPr lang="en-US" sz="2800" dirty="0" smtClean="0"/>
              <a:t>) NOT S(</a:t>
            </a:r>
            <a:r>
              <a:rPr lang="en-US" sz="2800" dirty="0" err="1" smtClean="0"/>
              <a:t>x,y,z</a:t>
            </a:r>
            <a:r>
              <a:rPr lang="en-US" sz="2800" dirty="0" smtClean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56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R(A,B,C)</a:t>
            </a:r>
          </a:p>
          <a:p>
            <a:pPr marL="0" indent="0">
              <a:buNone/>
            </a:pPr>
            <a:r>
              <a:rPr lang="en-US" sz="2400" dirty="0"/>
              <a:t>S(D,E,F)</a:t>
            </a:r>
          </a:p>
          <a:p>
            <a:pPr marL="0" indent="0">
              <a:buNone/>
            </a:pPr>
            <a:r>
              <a:rPr lang="en-US" sz="2400" dirty="0"/>
              <a:t>T(G,H)</a:t>
            </a:r>
          </a:p>
          <a:p>
            <a:pPr marL="0" indent="0">
              <a:buNone/>
            </a:pPr>
            <a:endParaRPr lang="en-US" sz="24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pPr marL="0" indent="0">
              <a:buNone/>
            </a:pPr>
            <a:r>
              <a:rPr lang="en-US" sz="2400" dirty="0" smtClean="0">
                <a:ea typeface="ＭＳ Ｐゴシック" pitchFamily="112" charset="-128"/>
                <a:cs typeface="Arial"/>
              </a:rPr>
              <a:t>Translate: </a:t>
            </a:r>
            <a:r>
              <a:rPr lang="en-US" sz="2400" dirty="0" smtClean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P</a:t>
            </a:r>
            <a:r>
              <a:rPr lang="en-US" sz="2400" baseline="-25000" dirty="0" smtClean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A</a:t>
            </a:r>
            <a:r>
              <a:rPr lang="en-US" sz="2400" dirty="0" smtClean="0"/>
              <a:t>(</a:t>
            </a:r>
            <a:r>
              <a:rPr lang="en-US" sz="2400" dirty="0" err="1" smtClean="0">
                <a:latin typeface="Symbol" pitchFamily="112" charset="2"/>
              </a:rPr>
              <a:t>s</a:t>
            </a:r>
            <a:r>
              <a:rPr lang="en-US" sz="2400" baseline="-25000" dirty="0" err="1" smtClean="0"/>
              <a:t>B</a:t>
            </a:r>
            <a:r>
              <a:rPr lang="en-US" sz="2400" baseline="-25000" dirty="0"/>
              <a:t>=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 </a:t>
            </a:r>
            <a:r>
              <a:rPr lang="en-US" sz="2400" dirty="0"/>
              <a:t>(R) 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r>
              <a:rPr lang="en-US" sz="2400" dirty="0" smtClean="0"/>
              <a:t>A(a) :- R(a,3,_)</a:t>
            </a:r>
          </a:p>
          <a:p>
            <a:pPr marL="0" indent="0">
              <a:buNone/>
            </a:pPr>
            <a:r>
              <a:rPr lang="en-US" sz="2400" dirty="0"/>
              <a:t>Underscore </a:t>
            </a:r>
            <a:r>
              <a:rPr lang="en-US" sz="2400" dirty="0" smtClean="0"/>
              <a:t>used </a:t>
            </a:r>
            <a:r>
              <a:rPr lang="en-US" sz="2400" dirty="0"/>
              <a:t>to denote an "anonymous </a:t>
            </a:r>
            <a:r>
              <a:rPr lang="en-US" sz="2400" dirty="0" smtClean="0"/>
              <a:t>variable”,</a:t>
            </a:r>
          </a:p>
          <a:p>
            <a:pPr marL="0" indent="0">
              <a:buNone/>
            </a:pPr>
            <a:r>
              <a:rPr lang="en-US" sz="2400" dirty="0" smtClean="0"/>
              <a:t>a variable that </a:t>
            </a:r>
            <a:r>
              <a:rPr lang="en-US" sz="2400" dirty="0"/>
              <a:t>appears only once.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894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R(A,B,C)</a:t>
            </a:r>
          </a:p>
          <a:p>
            <a:pPr marL="0" indent="0">
              <a:buNone/>
            </a:pPr>
            <a:r>
              <a:rPr lang="en-US" sz="2400" dirty="0"/>
              <a:t>S(D,E,F)</a:t>
            </a:r>
          </a:p>
          <a:p>
            <a:pPr marL="0" indent="0">
              <a:buNone/>
            </a:pPr>
            <a:r>
              <a:rPr lang="en-US" sz="2400" dirty="0"/>
              <a:t>T(G,H)</a:t>
            </a:r>
          </a:p>
          <a:p>
            <a:pPr marL="0" indent="0">
              <a:buNone/>
            </a:pPr>
            <a:endParaRPr lang="en-US" sz="24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pPr marL="0" indent="0">
              <a:buNone/>
            </a:pPr>
            <a:r>
              <a:rPr lang="en-US" sz="2400" dirty="0" smtClean="0">
                <a:ea typeface="ＭＳ Ｐゴシック" pitchFamily="112" charset="-128"/>
                <a:cs typeface="Arial"/>
              </a:rPr>
              <a:t>Translate: </a:t>
            </a:r>
            <a:r>
              <a:rPr lang="en-US" sz="2400" dirty="0" smtClean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P</a:t>
            </a:r>
            <a:r>
              <a:rPr lang="en-US" sz="2400" baseline="-25000" dirty="0" smtClean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A</a:t>
            </a:r>
            <a:r>
              <a:rPr lang="en-US" sz="2400" dirty="0" smtClean="0"/>
              <a:t>(</a:t>
            </a:r>
            <a:r>
              <a:rPr lang="en-US" sz="2400" dirty="0" err="1" smtClean="0">
                <a:latin typeface="Symbol" pitchFamily="112" charset="2"/>
              </a:rPr>
              <a:t>s</a:t>
            </a:r>
            <a:r>
              <a:rPr lang="en-US" sz="2400" baseline="-25000" dirty="0" err="1" smtClean="0"/>
              <a:t>B</a:t>
            </a:r>
            <a:r>
              <a:rPr lang="en-US" sz="2400" baseline="-25000" dirty="0"/>
              <a:t>=</a:t>
            </a:r>
            <a:r>
              <a:rPr lang="en-US" sz="2400" baseline="-25000" dirty="0" smtClean="0"/>
              <a:t>3</a:t>
            </a:r>
            <a:r>
              <a:rPr lang="en-US" sz="2400" dirty="0" smtClean="0"/>
              <a:t> </a:t>
            </a:r>
            <a:r>
              <a:rPr lang="en-US" sz="2400" dirty="0"/>
              <a:t>(R) </a:t>
            </a:r>
            <a:r>
              <a:rPr lang="en-US" sz="2400" dirty="0" smtClean="0">
                <a:ea typeface="ＭＳ Ｐゴシック" pitchFamily="112" charset="-128"/>
                <a:cs typeface="ＭＳ Ｐゴシック" pitchFamily="112" charset="-128"/>
              </a:rPr>
              <a:t>⨝</a:t>
            </a:r>
            <a:r>
              <a:rPr lang="en-US" sz="2400" baseline="-25000" dirty="0" smtClean="0">
                <a:ea typeface="ＭＳ Ｐゴシック" pitchFamily="112" charset="-128"/>
                <a:cs typeface="ＭＳ Ｐゴシック" pitchFamily="112" charset="-128"/>
              </a:rPr>
              <a:t>R.A=S.D</a:t>
            </a:r>
            <a:r>
              <a:rPr lang="en-US" sz="2400" dirty="0" smtClean="0"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400" dirty="0" err="1" smtClean="0">
                <a:latin typeface="Symbol" pitchFamily="112" charset="2"/>
              </a:rPr>
              <a:t>s</a:t>
            </a:r>
            <a:r>
              <a:rPr lang="en-US" sz="2400" baseline="-25000" dirty="0" err="1" smtClean="0"/>
              <a:t>E</a:t>
            </a:r>
            <a:r>
              <a:rPr lang="en-US" sz="2400" baseline="-25000" dirty="0" smtClean="0"/>
              <a:t>=5</a:t>
            </a:r>
            <a:r>
              <a:rPr lang="en-US" sz="2400" dirty="0" smtClean="0"/>
              <a:t> (S) )</a:t>
            </a:r>
          </a:p>
          <a:p>
            <a:pPr marL="0" indent="0">
              <a:buNone/>
            </a:pPr>
            <a:r>
              <a:rPr lang="en-US" sz="2400" dirty="0"/>
              <a:t>A(a) :- R(a,3</a:t>
            </a:r>
            <a:r>
              <a:rPr lang="en-US" sz="2400" dirty="0" smtClean="0"/>
              <a:t>,_)</a:t>
            </a:r>
            <a:r>
              <a:rPr lang="en-US" sz="2400" dirty="0"/>
              <a:t>, S(a,5</a:t>
            </a:r>
            <a:r>
              <a:rPr lang="en-US" sz="2400" dirty="0" smtClean="0"/>
              <a:t>,_)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Magda Balazinska - CSE 344, Fall 2012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05AA-330A-834F-9387-3C3E5EC449B0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445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buNone/>
          <a:defRPr dirty="0" err="1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6311</TotalTime>
  <Words>2376</Words>
  <Application>Microsoft Macintosh PowerPoint</Application>
  <PresentationFormat>On-screen Show (4:3)</PresentationFormat>
  <Paragraphs>256</Paragraphs>
  <Slides>24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Default Design</vt:lpstr>
      <vt:lpstr>1_Default Design</vt:lpstr>
      <vt:lpstr>Introduction to Data Management CSE 344</vt:lpstr>
      <vt:lpstr>Datalog</vt:lpstr>
      <vt:lpstr>Datalog</vt:lpstr>
      <vt:lpstr>Datalog: Facts and Rules</vt:lpstr>
      <vt:lpstr>Datalog: Facts and Rules</vt:lpstr>
      <vt:lpstr>Datalog: Facts and Rules</vt:lpstr>
      <vt:lpstr>Datalog: Facts and Rules</vt:lpstr>
      <vt:lpstr>Datalog: Terminology</vt:lpstr>
      <vt:lpstr>More Datalog Terminology</vt:lpstr>
      <vt:lpstr>Semantics</vt:lpstr>
      <vt:lpstr>Datalog program</vt:lpstr>
      <vt:lpstr>Non-recursive Datalog</vt:lpstr>
      <vt:lpstr>Datalog with negation</vt:lpstr>
      <vt:lpstr>Safe Datalog Rules</vt:lpstr>
      <vt:lpstr>Datalog v.s. Relational Algebra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More Examples</vt:lpstr>
      <vt:lpstr>More Examples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Systems</dc:title>
  <dc:creator>Dan Suciu</dc:creator>
  <cp:lastModifiedBy>Magdalena Balazinska</cp:lastModifiedBy>
  <cp:revision>1081</cp:revision>
  <cp:lastPrinted>1998-09-26T21:35:18Z</cp:lastPrinted>
  <dcterms:created xsi:type="dcterms:W3CDTF">2010-10-07T00:11:49Z</dcterms:created>
  <dcterms:modified xsi:type="dcterms:W3CDTF">2012-10-19T07:34:30Z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95</vt:i4>
  </property>
  <property fmtid="{D5CDD505-2E9C-101B-9397-08002B2CF9AE}" pid="5" name="ScreenSize">
    <vt:i4>2</vt:i4>
  </property>
  <property fmtid="{D5CDD505-2E9C-101B-9397-08002B2CF9AE}" pid="6" name="ScreenUsage">
    <vt:i4>3</vt:i4>
  </property>
  <property fmtid="{D5CDD505-2E9C-101B-9397-08002B2CF9AE}" pid="7" name="MailAddress">
    <vt:lpwstr>alon@cs.washington.edu</vt:lpwstr>
  </property>
  <property fmtid="{D5CDD505-2E9C-101B-9397-08002B2CF9AE}" pid="8" name="HomePage">
    <vt:lpwstr>http://www.cs.washington.edu/homes/alon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G:\taweb\lectures\lecture1\lecture1\</vt:lpwstr>
  </property>
</Properties>
</file>