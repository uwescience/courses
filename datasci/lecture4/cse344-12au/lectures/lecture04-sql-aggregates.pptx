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421" r:id="rId3"/>
    <p:sldId id="257" r:id="rId4"/>
    <p:sldId id="403" r:id="rId5"/>
    <p:sldId id="404" r:id="rId6"/>
    <p:sldId id="405" r:id="rId7"/>
    <p:sldId id="408" r:id="rId8"/>
    <p:sldId id="409" r:id="rId9"/>
    <p:sldId id="422" r:id="rId10"/>
    <p:sldId id="410" r:id="rId11"/>
    <p:sldId id="411" r:id="rId12"/>
    <p:sldId id="367" r:id="rId13"/>
    <p:sldId id="368" r:id="rId14"/>
    <p:sldId id="369" r:id="rId15"/>
    <p:sldId id="370" r:id="rId16"/>
    <p:sldId id="371" r:id="rId17"/>
    <p:sldId id="372" r:id="rId18"/>
    <p:sldId id="373" r:id="rId19"/>
    <p:sldId id="374" r:id="rId20"/>
    <p:sldId id="412" r:id="rId21"/>
    <p:sldId id="413" r:id="rId22"/>
    <p:sldId id="375" r:id="rId23"/>
    <p:sldId id="416" r:id="rId24"/>
    <p:sldId id="414" r:id="rId25"/>
    <p:sldId id="415" r:id="rId26"/>
    <p:sldId id="376" r:id="rId27"/>
    <p:sldId id="377" r:id="rId28"/>
    <p:sldId id="417" r:id="rId29"/>
    <p:sldId id="419" r:id="rId30"/>
    <p:sldId id="420" r:id="rId31"/>
    <p:sldId id="418" r:id="rId32"/>
  </p:sldIdLst>
  <p:sldSz cx="9144000" cy="6858000" type="screen4x3"/>
  <p:notesSz cx="6934200" cy="90805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0066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8293" autoAdjust="0"/>
  </p:normalViewPr>
  <p:slideViewPr>
    <p:cSldViewPr>
      <p:cViewPr varScale="1">
        <p:scale>
          <a:sx n="49" d="100"/>
          <a:sy n="49" d="100"/>
        </p:scale>
        <p:origin x="-2200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printerSettings" Target="printerSettings/printerSettings1.bin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9063" y="0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6475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9063" y="8626475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CAC3C2A-2DE8-B546-AAE8-C37B682168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452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9063" y="0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6975" y="681038"/>
            <a:ext cx="4540250" cy="34051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4313238"/>
            <a:ext cx="5086350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4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6475"/>
            <a:ext cx="300513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9063" y="8626475"/>
            <a:ext cx="300513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9F3F867-3D12-284D-B527-30BD91A676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82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7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7" charset="0"/>
        <a:ea typeface="ＭＳ Ｐゴシック" pitchFamily="17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7" charset="0"/>
        <a:ea typeface="ＭＳ Ｐゴシック" pitchFamily="17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7" charset="0"/>
        <a:ea typeface="ＭＳ Ｐゴシック" pitchFamily="17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7" charset="0"/>
        <a:ea typeface="ＭＳ Ｐゴシック" pitchFamily="1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084E58-537B-1644-8CC2-62408B8347B5}" type="slidenum">
              <a:rPr lang="en-US"/>
              <a:pPr/>
              <a:t>1</a:t>
            </a:fld>
            <a:endParaRPr 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DFBFDF-9284-C641-B71F-263607F9677A}" type="slidenum">
              <a:rPr lang="en-US"/>
              <a:pPr/>
              <a:t>3</a:t>
            </a:fld>
            <a:endParaRPr 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D8635D-8103-5845-9E45-17DE8CE30A0B}" type="slidenum">
              <a:rPr lang="en-US"/>
              <a:pPr/>
              <a:t>4</a:t>
            </a:fld>
            <a:endParaRPr lang="en-US"/>
          </a:p>
        </p:txBody>
      </p:sp>
      <p:sp>
        <p:nvSpPr>
          <p:cNvPr id="7680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9A8372-00E6-9144-8097-2C8BDF8CFE97}" type="slidenum">
              <a:rPr lang="en-US"/>
              <a:pPr/>
              <a:t>5</a:t>
            </a:fld>
            <a:endParaRPr lang="en-US"/>
          </a:p>
        </p:txBody>
      </p:sp>
      <p:sp>
        <p:nvSpPr>
          <p:cNvPr id="7885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0C461E-711C-8F46-B1A9-EAA6A2259A23}" type="slidenum">
              <a:rPr lang="en-US"/>
              <a:pPr/>
              <a:t>6</a:t>
            </a:fld>
            <a:endParaRPr lang="en-US"/>
          </a:p>
        </p:txBody>
      </p:sp>
      <p:sp>
        <p:nvSpPr>
          <p:cNvPr id="8089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56009B-9402-2B49-8B1E-EAD70592B235}" type="slidenum">
              <a:rPr lang="en-US"/>
              <a:pPr/>
              <a:t>7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DEMO: Only run count(*) and </a:t>
            </a:r>
            <a:r>
              <a:rPr lang="en-US" dirty="0" err="1" smtClean="0"/>
              <a:t>sum(quantity</a:t>
            </a:r>
            <a:r>
              <a:rPr lang="en-US" dirty="0" smtClean="0"/>
              <a:t>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F3F867-3D12-284D-B527-30BD91A6760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DEMO the queries and compare </a:t>
            </a:r>
            <a:r>
              <a:rPr lang="en-US" baseline="0" dirty="0" smtClean="0"/>
              <a:t> </a:t>
            </a:r>
            <a:r>
              <a:rPr lang="en-US" dirty="0" smtClean="0"/>
              <a:t>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F3F867-3D12-284D-B527-30BD91A6760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262B95B-B5E4-D345-A3B3-3C24DFCF61C9}" type="slidenum">
              <a:rPr lang="en-US"/>
              <a:pPr/>
              <a:t>12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Times New Roman" charset="0"/>
              </a:rPr>
              <a:t>DEMO:</a:t>
            </a:r>
          </a:p>
          <a:p>
            <a:r>
              <a:rPr lang="en-US" dirty="0" smtClean="0">
                <a:latin typeface="Times New Roman" charset="0"/>
              </a:rPr>
              <a:t>Select * from Purchase where price &gt; 4.99</a:t>
            </a:r>
          </a:p>
          <a:p>
            <a:r>
              <a:rPr lang="en-US" dirty="0" smtClean="0">
                <a:latin typeface="Times New Roman" charset="0"/>
              </a:rPr>
              <a:t>Then show the two counts.</a:t>
            </a:r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169061-BF69-064B-B6CD-FF739F771819}" type="slidenum">
              <a:rPr lang="en-US"/>
              <a:pPr/>
              <a:t>13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3ADC80-852E-AF43-AA64-5F4F4984104F}" type="slidenum">
              <a:rPr lang="en-US"/>
              <a:pPr/>
              <a:t>14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Times New Roman" charset="0"/>
              </a:rPr>
              <a:t>What if we wanted to see how much money we made</a:t>
            </a:r>
            <a:r>
              <a:rPr lang="en-US" baseline="0" dirty="0" smtClean="0">
                <a:latin typeface="Times New Roman" charset="0"/>
              </a:rPr>
              <a:t> on the various products without enumerating them? … group by product</a:t>
            </a:r>
          </a:p>
          <a:p>
            <a:r>
              <a:rPr lang="en-US" dirty="0" smtClean="0">
                <a:latin typeface="Times New Roman" charset="0"/>
              </a:rPr>
              <a:t>select sum(price * quantity) from Purchase group by product;</a:t>
            </a:r>
          </a:p>
          <a:p>
            <a:r>
              <a:rPr lang="en-US" dirty="0" smtClean="0">
                <a:latin typeface="Times New Roman" charset="0"/>
              </a:rPr>
              <a:t>… not great… want to add the</a:t>
            </a:r>
            <a:r>
              <a:rPr lang="en-US" baseline="0" dirty="0" smtClean="0">
                <a:latin typeface="Times New Roman" charset="0"/>
              </a:rPr>
              <a:t> name of the product also!</a:t>
            </a:r>
          </a:p>
          <a:p>
            <a:r>
              <a:rPr lang="en-US" baseline="0" dirty="0" smtClean="0">
                <a:latin typeface="Times New Roman" charset="0"/>
              </a:rPr>
              <a:t>select product, sum(price * quantity) from Purchase group by product;</a:t>
            </a:r>
          </a:p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0486CE-7F95-814F-BCE4-F0D8478921D4}" type="slidenum">
              <a:rPr lang="en-US"/>
              <a:pPr/>
              <a:t>15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E772EF-B1B8-9E45-8B8E-8BDA505B0928}" type="slidenum">
              <a:rPr lang="en-US"/>
              <a:pPr/>
              <a:t>16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255BA7-A547-CE4D-BAB8-64045DCA9351}" type="slidenum">
              <a:rPr lang="en-US"/>
              <a:pPr/>
              <a:t>17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9021E1-0B75-824D-87FF-5447CB0751EB}" type="slidenum">
              <a:rPr lang="en-US"/>
              <a:pPr/>
              <a:t>18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3C0DDA-9B43-B743-8C25-23DD03C0D519}" type="slidenum">
              <a:rPr lang="en-US"/>
              <a:pPr/>
              <a:t>19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DF9316-0AE1-E745-83B8-A6460028C950}" type="slidenum">
              <a:rPr lang="en-US"/>
              <a:pPr/>
              <a:t>22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>
                <a:latin typeface="Times New Roman" charset="0"/>
              </a:rPr>
              <a:t>Exercise in class:</a:t>
            </a:r>
          </a:p>
          <a:p>
            <a:r>
              <a:rPr lang="en-US" dirty="0" smtClean="0">
                <a:latin typeface="Times New Roman" charset="0"/>
              </a:rPr>
              <a:t>Compute the total income per month sum(quantity*price).</a:t>
            </a:r>
          </a:p>
          <a:p>
            <a:r>
              <a:rPr lang="en-US" dirty="0" smtClean="0">
                <a:latin typeface="Times New Roman" charset="0"/>
              </a:rPr>
              <a:t>Show</a:t>
            </a:r>
            <a:r>
              <a:rPr lang="en-US" baseline="0" dirty="0" smtClean="0">
                <a:latin typeface="Times New Roman" charset="0"/>
              </a:rPr>
              <a:t> only months with less than 10 items sold.</a:t>
            </a:r>
          </a:p>
          <a:p>
            <a:r>
              <a:rPr lang="en-US" baseline="0" dirty="0" smtClean="0">
                <a:latin typeface="Times New Roman" charset="0"/>
              </a:rPr>
              <a:t>Order by quantity sold. Display as “</a:t>
            </a:r>
            <a:r>
              <a:rPr lang="en-US" baseline="0" dirty="0" err="1" smtClean="0">
                <a:latin typeface="Times New Roman" charset="0"/>
              </a:rPr>
              <a:t>TotalSold</a:t>
            </a:r>
            <a:r>
              <a:rPr lang="en-US" baseline="0" dirty="0" smtClean="0">
                <a:latin typeface="Times New Roman" charset="0"/>
              </a:rPr>
              <a:t>”.</a:t>
            </a:r>
          </a:p>
          <a:p>
            <a:r>
              <a:rPr lang="en-US" dirty="0" smtClean="0">
                <a:latin typeface="Times New Roman" charset="0"/>
              </a:rPr>
              <a:t>select month, sum(quantity*price) as </a:t>
            </a:r>
            <a:r>
              <a:rPr lang="en-US" dirty="0" err="1" smtClean="0">
                <a:latin typeface="Times New Roman" charset="0"/>
              </a:rPr>
              <a:t>TotalSold</a:t>
            </a:r>
            <a:r>
              <a:rPr lang="en-US" dirty="0" smtClean="0">
                <a:latin typeface="Times New Roman" charset="0"/>
              </a:rPr>
              <a:t> from Purchase group by month having sum(quantity) &lt; 10 order by </a:t>
            </a:r>
            <a:r>
              <a:rPr lang="en-US" dirty="0" err="1" smtClean="0">
                <a:latin typeface="Times New Roman" charset="0"/>
              </a:rPr>
              <a:t>TotalSold</a:t>
            </a:r>
            <a:r>
              <a:rPr lang="en-US" dirty="0" smtClean="0">
                <a:latin typeface="Times New Roman" charset="0"/>
              </a:rPr>
              <a:t>;</a:t>
            </a:r>
          </a:p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D45031-2F6D-8549-BC61-BA63705F5C27}" type="slidenum">
              <a:rPr lang="en-US"/>
              <a:pPr/>
              <a:t>26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466068-E99E-3347-A929-F5A6181AB0BF}" type="slidenum">
              <a:rPr lang="en-US"/>
              <a:pPr/>
              <a:t>27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 a </a:t>
            </a:r>
            <a:r>
              <a:rPr lang="en-US" dirty="0" err="1" smtClean="0"/>
              <a:t>subquery</a:t>
            </a:r>
            <a:r>
              <a:rPr lang="en-US" dirty="0" smtClean="0"/>
              <a:t> to get the empty groups… in</a:t>
            </a:r>
            <a:r>
              <a:rPr lang="en-US" baseline="0" dirty="0" smtClean="0"/>
              <a:t> two lectures: </a:t>
            </a:r>
          </a:p>
          <a:p>
            <a:r>
              <a:rPr lang="en-US" dirty="0" smtClean="0"/>
              <a:t>select distinct </a:t>
            </a:r>
            <a:r>
              <a:rPr lang="en-US" dirty="0" err="1" smtClean="0"/>
              <a:t>x.product</a:t>
            </a:r>
            <a:r>
              <a:rPr lang="en-US" dirty="0" smtClean="0"/>
              <a:t>, (select count(*) from purchase </a:t>
            </a:r>
            <a:r>
              <a:rPr lang="en-US" dirty="0" err="1" smtClean="0"/>
              <a:t>y</a:t>
            </a:r>
            <a:r>
              <a:rPr lang="en-US" dirty="0" smtClean="0"/>
              <a:t> where </a:t>
            </a:r>
            <a:r>
              <a:rPr lang="en-US" dirty="0" err="1" smtClean="0"/>
              <a:t>x.product</a:t>
            </a:r>
            <a:r>
              <a:rPr lang="en-US" dirty="0" smtClean="0"/>
              <a:t>=</a:t>
            </a:r>
            <a:r>
              <a:rPr lang="en-US" dirty="0" err="1" smtClean="0"/>
              <a:t>y.product</a:t>
            </a:r>
            <a:r>
              <a:rPr lang="en-US" dirty="0" smtClean="0"/>
              <a:t> and </a:t>
            </a:r>
            <a:r>
              <a:rPr lang="en-US" dirty="0" err="1" smtClean="0"/>
              <a:t>y.price</a:t>
            </a:r>
            <a:r>
              <a:rPr lang="en-US" dirty="0" smtClean="0"/>
              <a:t> &gt; 2) as total from Purchase </a:t>
            </a:r>
            <a:r>
              <a:rPr lang="en-US" dirty="0" err="1" smtClean="0"/>
              <a:t>x</a:t>
            </a:r>
            <a:r>
              <a:rPr lang="en-US" dirty="0" smtClean="0"/>
              <a:t>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F3F867-3D12-284D-B527-30BD91A67604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Powerworks</a:t>
            </a:r>
            <a:r>
              <a:rPr lang="en-US" dirty="0" smtClean="0"/>
              <a:t> is not returned.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F3F867-3D12-284D-B527-30BD91A67604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863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Extra exercises:</a:t>
            </a:r>
          </a:p>
          <a:p>
            <a:endParaRPr lang="en-US" dirty="0" smtClean="0"/>
          </a:p>
          <a:p>
            <a:r>
              <a:rPr lang="en-US" dirty="0" smtClean="0"/>
              <a:t>1) List all manufacturers with more than 10 items sold. Return the manufacturer name and the number of items sold.</a:t>
            </a:r>
          </a:p>
          <a:p>
            <a:r>
              <a:rPr lang="en-US" dirty="0" smtClean="0"/>
              <a:t>select manufacturer, sum(quantity) from Product, Purchase where </a:t>
            </a:r>
            <a:r>
              <a:rPr lang="en-US" dirty="0" err="1" smtClean="0"/>
              <a:t>pname</a:t>
            </a:r>
            <a:r>
              <a:rPr lang="en-US" dirty="0" smtClean="0"/>
              <a:t>=product group by manufacturer having sum(quantity) &gt; </a:t>
            </a:r>
            <a:r>
              <a:rPr lang="en-US" dirty="0" smtClean="0"/>
              <a:t>10;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2) List all manufacturers with more than 1 distinct product sold. Return the name of the manufacturer and the number of distinct products</a:t>
            </a:r>
            <a:r>
              <a:rPr lang="en-US" baseline="0" dirty="0" smtClean="0"/>
              <a:t> sold.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select manufacturer, count( distinct product) from Product, Purchase where </a:t>
            </a:r>
            <a:r>
              <a:rPr lang="en-US" dirty="0" err="1" smtClean="0"/>
              <a:t>pname</a:t>
            </a:r>
            <a:r>
              <a:rPr lang="en-US" dirty="0" smtClean="0"/>
              <a:t>=product group by manufacturer having count(distinct</a:t>
            </a:r>
            <a:r>
              <a:rPr lang="en-US" baseline="0" dirty="0" smtClean="0"/>
              <a:t> product</a:t>
            </a:r>
            <a:r>
              <a:rPr lang="en-US" dirty="0" smtClean="0"/>
              <a:t>) &gt; 1;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3) List all products with more than 2</a:t>
            </a:r>
            <a:r>
              <a:rPr lang="en-US" baseline="0" dirty="0" smtClean="0"/>
              <a:t> purchases. Return the name of the product, its product ID, and the max price at which it was sold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select </a:t>
            </a:r>
            <a:r>
              <a:rPr lang="en-US" baseline="0" dirty="0" err="1" smtClean="0"/>
              <a:t>R.pname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R.pid</a:t>
            </a:r>
            <a:r>
              <a:rPr lang="en-US" baseline="0" dirty="0" smtClean="0"/>
              <a:t>, max(</a:t>
            </a:r>
            <a:r>
              <a:rPr lang="en-US" baseline="0" dirty="0" err="1" smtClean="0"/>
              <a:t>R.price</a:t>
            </a:r>
            <a:r>
              <a:rPr lang="en-US" baseline="0" dirty="0" smtClean="0"/>
              <a:t>) from Product R, Purchase P where </a:t>
            </a:r>
            <a:r>
              <a:rPr lang="en-US" baseline="0" dirty="0" err="1" smtClean="0"/>
              <a:t>R.pname</a:t>
            </a:r>
            <a:r>
              <a:rPr lang="en-US" baseline="0" dirty="0" smtClean="0"/>
              <a:t>=</a:t>
            </a:r>
            <a:r>
              <a:rPr lang="en-US" baseline="0" dirty="0" err="1" smtClean="0"/>
              <a:t>P.product</a:t>
            </a:r>
            <a:r>
              <a:rPr lang="en-US" baseline="0" dirty="0" smtClean="0"/>
              <a:t> group by </a:t>
            </a:r>
            <a:r>
              <a:rPr lang="en-US" baseline="0" dirty="0" err="1" smtClean="0"/>
              <a:t>R.pname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R.pid</a:t>
            </a:r>
            <a:r>
              <a:rPr lang="en-US" baseline="0" dirty="0" smtClean="0"/>
              <a:t> having count(*) &gt; 2;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4) Find manufacturers with</a:t>
            </a:r>
            <a:r>
              <a:rPr lang="en-US" baseline="0" dirty="0" smtClean="0"/>
              <a:t> at least 5 purchases in the same month. Return the manufacturer, month, and the total quantity of items sold</a:t>
            </a:r>
            <a:endParaRPr lang="en-US" dirty="0" smtClean="0"/>
          </a:p>
          <a:p>
            <a:r>
              <a:rPr lang="en-US" dirty="0" smtClean="0"/>
              <a:t> select </a:t>
            </a:r>
            <a:r>
              <a:rPr lang="en-US" dirty="0" err="1" smtClean="0"/>
              <a:t>R.manufacturer</a:t>
            </a:r>
            <a:r>
              <a:rPr lang="en-US" dirty="0" smtClean="0"/>
              <a:t>, </a:t>
            </a:r>
            <a:r>
              <a:rPr lang="en-US" dirty="0" err="1" smtClean="0"/>
              <a:t>P.month</a:t>
            </a:r>
            <a:r>
              <a:rPr lang="en-US" dirty="0" smtClean="0"/>
              <a:t>, sum(quantity) from Product R, Purchase P group by </a:t>
            </a:r>
            <a:r>
              <a:rPr lang="en-US" dirty="0" err="1" smtClean="0"/>
              <a:t>P.month</a:t>
            </a:r>
            <a:r>
              <a:rPr lang="en-US" dirty="0" smtClean="0"/>
              <a:t>, </a:t>
            </a:r>
            <a:r>
              <a:rPr lang="en-US" dirty="0" err="1" smtClean="0"/>
              <a:t>R.manufacturer</a:t>
            </a:r>
            <a:r>
              <a:rPr lang="en-US" dirty="0" smtClean="0"/>
              <a:t> having count(*) &gt; 2;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F3F867-3D12-284D-B527-30BD91A67604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26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36186A-2526-C64E-9325-6FBEA86AAF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04AAC-6528-3748-806F-374DD08AAB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51E84-ADB2-B841-96FD-99982392FC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52B196-E0EF-D444-87EA-0A9B7602C8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33D1B3-9DED-5C4B-9D8E-242C761E4C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FF561-222E-4B46-9CBC-9AC2D4056C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016AF-1F13-6246-83CB-E90AA6B7E9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9A369-387B-BB48-850C-4EEAE38307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06393-AC5E-F246-BDEE-E1CEBB77C2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96117-0E98-6B4E-92C3-ABE4425845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B2E633-38F7-7843-AAEF-57DD1120CA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431483-6798-8146-A044-18F2F8D423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248400"/>
            <a:ext cx="335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49572BE-1D1F-6940-89FA-3B361975D2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/>
          <a:ea typeface="ＭＳ Ｐゴシック" charset="-128"/>
          <a:cs typeface="Arial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7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7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7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7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7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7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7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7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Arial"/>
          <a:ea typeface="ＭＳ Ｐゴシック" charset="-128"/>
          <a:cs typeface="Arial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/>
          <a:ea typeface="ＭＳ Ｐゴシック" pitchFamily="17" charset="-128"/>
          <a:cs typeface="Arial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/>
          <a:ea typeface="ＭＳ Ｐゴシック" pitchFamily="17" charset="-128"/>
          <a:cs typeface="Arial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Arial"/>
          <a:ea typeface="ＭＳ Ｐゴシック" pitchFamily="17" charset="-128"/>
          <a:cs typeface="Arial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Arial"/>
          <a:ea typeface="ＭＳ Ｐゴシック" pitchFamily="17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17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17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17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17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sz="3600" dirty="0" smtClean="0">
                <a:latin typeface="Arial"/>
                <a:cs typeface="Arial"/>
              </a:rPr>
              <a:t>Introduction to Data Management</a:t>
            </a:r>
            <a:br>
              <a:rPr lang="en-US" sz="3600" dirty="0" smtClean="0">
                <a:latin typeface="Arial"/>
                <a:cs typeface="Arial"/>
              </a:rPr>
            </a:br>
            <a:r>
              <a:rPr lang="en-US" sz="3600" dirty="0" smtClean="0">
                <a:latin typeface="Arial"/>
                <a:cs typeface="Arial"/>
              </a:rPr>
              <a:t>CSE 344</a:t>
            </a:r>
            <a:br>
              <a:rPr lang="en-US" sz="3600" dirty="0" smtClean="0">
                <a:latin typeface="Arial"/>
                <a:cs typeface="Arial"/>
              </a:rPr>
            </a:br>
            <a:endParaRPr lang="en-US" sz="3600" dirty="0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Lectures 4 and 5: Aggregates in SQL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36186A-2526-C64E-9325-6FBEA86AAF7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Announcements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Homework 1 is due tonight!</a:t>
            </a:r>
          </a:p>
          <a:p>
            <a:r>
              <a:rPr lang="en-US" dirty="0"/>
              <a:t>Homework 2 is posted (due next week)</a:t>
            </a:r>
          </a:p>
          <a:p>
            <a:endParaRPr lang="en-US" dirty="0" smtClean="0"/>
          </a:p>
          <a:p>
            <a:r>
              <a:rPr lang="en-US" dirty="0"/>
              <a:t>Quiz 1 due </a:t>
            </a:r>
            <a:r>
              <a:rPr lang="en-US" dirty="0" smtClean="0"/>
              <a:t>tonight!</a:t>
            </a:r>
          </a:p>
          <a:p>
            <a:r>
              <a:rPr lang="en-US" dirty="0" smtClean="0"/>
              <a:t>Quiz 2 due next week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E04AAC-6528-3748-806F-374DD08AAB7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728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Outline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Outer joins (6.3.8)</a:t>
            </a:r>
          </a:p>
          <a:p>
            <a:pPr eaLnBrk="1" hangingPunct="1"/>
            <a:r>
              <a:rPr lang="en-US" dirty="0" smtClean="0"/>
              <a:t>Aggregations (6.4.3 – 6.4.6)</a:t>
            </a:r>
          </a:p>
          <a:p>
            <a:pPr eaLnBrk="1" hangingPunct="1"/>
            <a:r>
              <a:rPr lang="en-US" dirty="0" smtClean="0"/>
              <a:t>Examples, examples, examples…</a:t>
            </a:r>
          </a:p>
          <a:p>
            <a:pPr eaLnBrk="1" hangingPunct="1">
              <a:buFontTx/>
              <a:buNone/>
            </a:pPr>
            <a:endParaRPr lang="en-US" dirty="0" smtClean="0"/>
          </a:p>
          <a:p>
            <a:pPr eaLnBrk="1" hangingPunct="1">
              <a:buFontTx/>
              <a:buNone/>
            </a:pP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E04AAC-6528-3748-806F-374DD08AAB7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Outerjoins</a:t>
            </a:r>
          </a:p>
        </p:txBody>
      </p:sp>
      <p:sp>
        <p:nvSpPr>
          <p:cNvPr id="237572" name="Rectangle 4"/>
          <p:cNvSpPr>
            <a:spLocks noChangeArrowheads="1"/>
          </p:cNvSpPr>
          <p:nvPr/>
        </p:nvSpPr>
        <p:spPr bwMode="auto">
          <a:xfrm>
            <a:off x="1143000" y="4419600"/>
            <a:ext cx="7839556" cy="124341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Product.name</a:t>
            </a:r>
            <a:r>
              <a:rPr lang="en-US" dirty="0">
                <a:latin typeface="Arial"/>
                <a:cs typeface="Arial"/>
              </a:rPr>
              <a:t>, </a:t>
            </a:r>
            <a:r>
              <a:rPr lang="en-US" dirty="0" err="1">
                <a:latin typeface="Arial"/>
                <a:cs typeface="Arial"/>
              </a:rPr>
              <a:t>Purchase.store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    Product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JOIN</a:t>
            </a:r>
            <a:r>
              <a:rPr lang="en-US" dirty="0">
                <a:latin typeface="Arial"/>
                <a:cs typeface="Arial"/>
              </a:rPr>
              <a:t> Purchase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ON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dirty="0">
                <a:latin typeface="Arial"/>
                <a:cs typeface="Arial"/>
              </a:rPr>
              <a:t>                              </a:t>
            </a:r>
            <a:r>
              <a:rPr lang="en-US" dirty="0" err="1">
                <a:latin typeface="Arial"/>
                <a:cs typeface="Arial"/>
              </a:rPr>
              <a:t>Product.name</a:t>
            </a:r>
            <a:r>
              <a:rPr lang="en-US" dirty="0">
                <a:latin typeface="Arial"/>
                <a:cs typeface="Arial"/>
              </a:rPr>
              <a:t> = </a:t>
            </a:r>
            <a:r>
              <a:rPr lang="en-US" dirty="0" err="1">
                <a:latin typeface="Arial"/>
                <a:cs typeface="Arial"/>
              </a:rPr>
              <a:t>Purchase.prodName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37573" name="Rectangle 5"/>
          <p:cNvSpPr>
            <a:spLocks noChangeArrowheads="1"/>
          </p:cNvSpPr>
          <p:nvPr/>
        </p:nvSpPr>
        <p:spPr bwMode="auto">
          <a:xfrm>
            <a:off x="2286000" y="2743200"/>
            <a:ext cx="6676377" cy="124341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Product.name</a:t>
            </a:r>
            <a:r>
              <a:rPr lang="en-US" dirty="0">
                <a:latin typeface="Arial"/>
                <a:cs typeface="Arial"/>
              </a:rPr>
              <a:t>, </a:t>
            </a:r>
            <a:r>
              <a:rPr lang="en-US" dirty="0" err="1">
                <a:latin typeface="Arial"/>
                <a:cs typeface="Arial"/>
              </a:rPr>
              <a:t>Purchase.store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    Product, Purchase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/>
                <a:cs typeface="Arial"/>
              </a:rPr>
              <a:t>   </a:t>
            </a:r>
            <a:r>
              <a:rPr lang="en-US" dirty="0" err="1">
                <a:latin typeface="Arial"/>
                <a:cs typeface="Arial"/>
              </a:rPr>
              <a:t>Product.name</a:t>
            </a:r>
            <a:r>
              <a:rPr lang="en-US" dirty="0">
                <a:latin typeface="Arial"/>
                <a:cs typeface="Arial"/>
              </a:rPr>
              <a:t> = </a:t>
            </a:r>
            <a:r>
              <a:rPr lang="en-US" dirty="0" err="1">
                <a:latin typeface="Arial"/>
                <a:cs typeface="Arial"/>
              </a:rPr>
              <a:t>Purchase.prodName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75782" name="Rectangle 6"/>
          <p:cNvSpPr>
            <a:spLocks noChangeArrowheads="1"/>
          </p:cNvSpPr>
          <p:nvPr/>
        </p:nvSpPr>
        <p:spPr bwMode="auto">
          <a:xfrm>
            <a:off x="39249" y="3962400"/>
            <a:ext cx="14847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Same as:</a:t>
            </a:r>
          </a:p>
        </p:txBody>
      </p:sp>
      <p:sp>
        <p:nvSpPr>
          <p:cNvPr id="75783" name="Rectangle 7"/>
          <p:cNvSpPr>
            <a:spLocks noChangeArrowheads="1"/>
          </p:cNvSpPr>
          <p:nvPr/>
        </p:nvSpPr>
        <p:spPr bwMode="auto">
          <a:xfrm>
            <a:off x="1066800" y="5791200"/>
            <a:ext cx="572734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dirty="0">
                <a:latin typeface="Arial"/>
                <a:cs typeface="Arial"/>
              </a:rPr>
              <a:t>But Products that never sold will be lost !</a:t>
            </a:r>
          </a:p>
        </p:txBody>
      </p:sp>
      <p:sp>
        <p:nvSpPr>
          <p:cNvPr id="75784" name="Rectangle 8"/>
          <p:cNvSpPr>
            <a:spLocks noChangeArrowheads="1"/>
          </p:cNvSpPr>
          <p:nvPr/>
        </p:nvSpPr>
        <p:spPr bwMode="auto">
          <a:xfrm>
            <a:off x="304800" y="1600200"/>
            <a:ext cx="4572000" cy="874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 err="1">
                <a:solidFill>
                  <a:schemeClr val="accent2"/>
                </a:solidFill>
                <a:latin typeface="Arial"/>
                <a:cs typeface="Arial"/>
              </a:rPr>
              <a:t>Product(</a:t>
            </a:r>
            <a:r>
              <a:rPr lang="en-US" sz="2800" u="sng" dirty="0" err="1">
                <a:solidFill>
                  <a:schemeClr val="accent2"/>
                </a:solidFill>
                <a:latin typeface="Arial"/>
                <a:cs typeface="Arial"/>
              </a:rPr>
              <a:t>name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, category)</a:t>
            </a:r>
          </a:p>
          <a:p>
            <a:pPr>
              <a:lnSpc>
                <a:spcPct val="90000"/>
              </a:lnSpc>
            </a:pPr>
            <a:r>
              <a:rPr lang="en-US" sz="2800" dirty="0" err="1">
                <a:solidFill>
                  <a:schemeClr val="accent2"/>
                </a:solidFill>
                <a:latin typeface="Arial"/>
                <a:cs typeface="Arial"/>
              </a:rPr>
              <a:t>Purchase(prodName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, store)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75785" name="Rectangle 6"/>
          <p:cNvSpPr>
            <a:spLocks noChangeArrowheads="1"/>
          </p:cNvSpPr>
          <p:nvPr/>
        </p:nvSpPr>
        <p:spPr bwMode="auto">
          <a:xfrm>
            <a:off x="0" y="3124200"/>
            <a:ext cx="2197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An “inner join”: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5FF561-222E-4B46-9CBC-9AC2D4056C4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Outerjoins</a:t>
            </a:r>
          </a:p>
        </p:txBody>
      </p:sp>
      <p:sp>
        <p:nvSpPr>
          <p:cNvPr id="238596" name="Rectangle 4"/>
          <p:cNvSpPr>
            <a:spLocks noChangeArrowheads="1"/>
          </p:cNvSpPr>
          <p:nvPr/>
        </p:nvSpPr>
        <p:spPr bwMode="auto">
          <a:xfrm>
            <a:off x="990600" y="4038600"/>
            <a:ext cx="7497515" cy="1200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Product.name</a:t>
            </a:r>
            <a:r>
              <a:rPr lang="en-US" dirty="0">
                <a:latin typeface="Arial"/>
                <a:cs typeface="Arial"/>
              </a:rPr>
              <a:t>, </a:t>
            </a:r>
            <a:r>
              <a:rPr lang="en-US" dirty="0" err="1">
                <a:latin typeface="Arial"/>
                <a:cs typeface="Arial"/>
              </a:rPr>
              <a:t>Purchase.store</a:t>
            </a:r>
            <a:endParaRPr lang="en-US" dirty="0">
              <a:latin typeface="Arial"/>
              <a:cs typeface="Arial"/>
            </a:endParaRP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    Product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LEFT OUTER JOIN</a:t>
            </a:r>
            <a:r>
              <a:rPr lang="en-US" dirty="0">
                <a:latin typeface="Arial"/>
                <a:cs typeface="Arial"/>
              </a:rPr>
              <a:t> Purchase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ON</a:t>
            </a:r>
          </a:p>
          <a:p>
            <a:pPr>
              <a:defRPr/>
            </a:pPr>
            <a:r>
              <a:rPr lang="en-US" dirty="0">
                <a:latin typeface="Arial"/>
                <a:cs typeface="Arial"/>
              </a:rPr>
              <a:t>                          </a:t>
            </a:r>
            <a:r>
              <a:rPr lang="en-US" dirty="0" err="1">
                <a:latin typeface="Arial"/>
                <a:cs typeface="Arial"/>
              </a:rPr>
              <a:t>Product.name</a:t>
            </a:r>
            <a:r>
              <a:rPr lang="en-US" dirty="0">
                <a:latin typeface="Arial"/>
                <a:cs typeface="Arial"/>
              </a:rPr>
              <a:t> = </a:t>
            </a:r>
            <a:r>
              <a:rPr lang="en-US" dirty="0" err="1">
                <a:latin typeface="Arial"/>
                <a:cs typeface="Arial"/>
              </a:rPr>
              <a:t>Purchase.prodName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304800" y="1600200"/>
            <a:ext cx="4572000" cy="874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 err="1">
                <a:solidFill>
                  <a:schemeClr val="accent2"/>
                </a:solidFill>
                <a:latin typeface="Arial"/>
                <a:cs typeface="Arial"/>
              </a:rPr>
              <a:t>Product(</a:t>
            </a:r>
            <a:r>
              <a:rPr lang="en-US" sz="2800" u="sng" dirty="0" err="1">
                <a:solidFill>
                  <a:schemeClr val="accent2"/>
                </a:solidFill>
                <a:latin typeface="Arial"/>
                <a:cs typeface="Arial"/>
              </a:rPr>
              <a:t>name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, category)</a:t>
            </a:r>
          </a:p>
          <a:p>
            <a:pPr>
              <a:lnSpc>
                <a:spcPct val="90000"/>
              </a:lnSpc>
            </a:pPr>
            <a:r>
              <a:rPr lang="en-US" sz="2800" dirty="0" err="1">
                <a:solidFill>
                  <a:schemeClr val="accent2"/>
                </a:solidFill>
                <a:latin typeface="Arial"/>
                <a:cs typeface="Arial"/>
              </a:rPr>
              <a:t>Purchase(prodName</a:t>
            </a:r>
            <a:r>
              <a:rPr lang="en-US" sz="2800" dirty="0">
                <a:solidFill>
                  <a:schemeClr val="accent2"/>
                </a:solidFill>
                <a:latin typeface="Arial"/>
                <a:cs typeface="Arial"/>
              </a:rPr>
              <a:t>, store)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77830" name="Rectangle 6"/>
          <p:cNvSpPr>
            <a:spLocks noChangeArrowheads="1"/>
          </p:cNvSpPr>
          <p:nvPr/>
        </p:nvSpPr>
        <p:spPr bwMode="auto">
          <a:xfrm>
            <a:off x="457200" y="3124200"/>
            <a:ext cx="77122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If we want the never-sold products, need an “</a:t>
            </a:r>
            <a:r>
              <a:rPr lang="en-US" dirty="0" err="1">
                <a:latin typeface="Arial"/>
                <a:cs typeface="Arial"/>
              </a:rPr>
              <a:t>outerjoin</a:t>
            </a:r>
            <a:r>
              <a:rPr lang="en-US" dirty="0">
                <a:latin typeface="Arial"/>
                <a:cs typeface="Arial"/>
              </a:rPr>
              <a:t>”: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5FF561-222E-4B46-9CBC-9AC2D4056C4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618" name="Group 2"/>
          <p:cNvGraphicFramePr>
            <a:graphicFrameLocks noGrp="1"/>
          </p:cNvGraphicFramePr>
          <p:nvPr/>
        </p:nvGraphicFramePr>
        <p:xfrm>
          <a:off x="457200" y="1828800"/>
          <a:ext cx="3048000" cy="2032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Name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Category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gadget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Photo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OneClick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Photo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39635" name="Group 19"/>
          <p:cNvGraphicFramePr>
            <a:graphicFrameLocks noGrp="1"/>
          </p:cNvGraphicFramePr>
          <p:nvPr/>
        </p:nvGraphicFramePr>
        <p:xfrm>
          <a:off x="5029200" y="1828800"/>
          <a:ext cx="3048000" cy="2032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ProdName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Store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Ritz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39652" name="Group 36"/>
          <p:cNvGraphicFramePr>
            <a:graphicFrameLocks noGrp="1"/>
          </p:cNvGraphicFramePr>
          <p:nvPr/>
        </p:nvGraphicFramePr>
        <p:xfrm>
          <a:off x="2971800" y="4038600"/>
          <a:ext cx="3048000" cy="2540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Name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Store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Gizmo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Ritz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Camera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Wiz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OneClick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5050"/>
                          </a:solidFill>
                          <a:effectLst/>
                          <a:latin typeface="Arial"/>
                          <a:cs typeface="Arial"/>
                        </a:rPr>
                        <a:t>NULL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9929" name="Rectangle 56"/>
          <p:cNvSpPr>
            <a:spLocks noChangeArrowheads="1"/>
          </p:cNvSpPr>
          <p:nvPr/>
        </p:nvSpPr>
        <p:spPr bwMode="auto">
          <a:xfrm>
            <a:off x="457200" y="1295400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Product</a:t>
            </a:r>
          </a:p>
        </p:txBody>
      </p:sp>
      <p:sp>
        <p:nvSpPr>
          <p:cNvPr id="79930" name="Rectangle 57"/>
          <p:cNvSpPr>
            <a:spLocks noChangeArrowheads="1"/>
          </p:cNvSpPr>
          <p:nvPr/>
        </p:nvSpPr>
        <p:spPr bwMode="auto">
          <a:xfrm>
            <a:off x="5029200" y="1295400"/>
            <a:ext cx="14849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Arial"/>
                <a:cs typeface="Arial"/>
              </a:rPr>
              <a:t>Purchase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5FF561-222E-4B46-9CBC-9AC2D4056C4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Outer Joins</a:t>
            </a:r>
          </a:p>
        </p:txBody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Left outer join: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Include the left </a:t>
            </a:r>
            <a:r>
              <a:rPr lang="en-US" sz="2400" dirty="0" err="1"/>
              <a:t>tuple</a:t>
            </a:r>
            <a:r>
              <a:rPr lang="en-US" sz="2400" dirty="0"/>
              <a:t> even if there’s no match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Right outer join: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Include the right </a:t>
            </a:r>
            <a:r>
              <a:rPr lang="en-US" sz="2400" dirty="0" err="1"/>
              <a:t>tuple</a:t>
            </a:r>
            <a:r>
              <a:rPr lang="en-US" sz="2400" dirty="0"/>
              <a:t> even if there’s no match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Full outer join: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Include</a:t>
            </a:r>
            <a:r>
              <a:rPr lang="en-US" sz="2400" dirty="0" smtClean="0"/>
              <a:t> both </a:t>
            </a:r>
            <a:r>
              <a:rPr lang="en-US" sz="2400" dirty="0"/>
              <a:t>left and right </a:t>
            </a:r>
            <a:r>
              <a:rPr lang="en-US" sz="2400" dirty="0" err="1"/>
              <a:t>tuples</a:t>
            </a:r>
            <a:r>
              <a:rPr lang="en-US" sz="2400" dirty="0"/>
              <a:t> even if there’s no match</a:t>
            </a:r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E04AAC-6528-3748-806F-374DD08AAB7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Aggregation in SQL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4114800"/>
          </a:xfrm>
        </p:spPr>
        <p:txBody>
          <a:bodyPr/>
          <a:lstStyle/>
          <a:p>
            <a:pPr>
              <a:buNone/>
            </a:pPr>
            <a:r>
              <a:rPr lang="en-US" sz="2400" dirty="0" smtClean="0"/>
              <a:t>sqlite3 lecture04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create table Purchase</a:t>
            </a:r>
          </a:p>
          <a:p>
            <a:pPr>
              <a:buNone/>
            </a:pPr>
            <a:r>
              <a:rPr lang="en-US" sz="2400" dirty="0" smtClean="0"/>
              <a:t>  (</a:t>
            </a:r>
            <a:r>
              <a:rPr lang="en-US" sz="2400" dirty="0" err="1" smtClean="0"/>
              <a:t>pid</a:t>
            </a:r>
            <a:r>
              <a:rPr lang="en-US" sz="2400" dirty="0" smtClean="0"/>
              <a:t> </a:t>
            </a:r>
            <a:r>
              <a:rPr lang="en-US" sz="2400" dirty="0" err="1" smtClean="0"/>
              <a:t>int</a:t>
            </a:r>
            <a:r>
              <a:rPr lang="en-US" sz="2400" dirty="0" smtClean="0"/>
              <a:t> primary key,</a:t>
            </a:r>
          </a:p>
          <a:p>
            <a:pPr>
              <a:buNone/>
            </a:pPr>
            <a:r>
              <a:rPr lang="en-US" sz="2400" dirty="0" smtClean="0"/>
              <a:t>   product varchar(15),</a:t>
            </a:r>
          </a:p>
          <a:p>
            <a:pPr>
              <a:buNone/>
            </a:pPr>
            <a:r>
              <a:rPr lang="en-US" sz="2400" dirty="0" smtClean="0"/>
              <a:t>   price float,</a:t>
            </a:r>
          </a:p>
          <a:p>
            <a:pPr>
              <a:buNone/>
            </a:pPr>
            <a:r>
              <a:rPr lang="en-US" sz="2400" dirty="0" smtClean="0"/>
              <a:t>   quantity </a:t>
            </a:r>
            <a:r>
              <a:rPr lang="en-US" sz="2400" dirty="0" err="1" smtClean="0"/>
              <a:t>int</a:t>
            </a:r>
            <a:r>
              <a:rPr lang="en-US" sz="2400" dirty="0" smtClean="0"/>
              <a:t>,</a:t>
            </a:r>
          </a:p>
          <a:p>
            <a:pPr>
              <a:buNone/>
            </a:pPr>
            <a:r>
              <a:rPr lang="en-US" sz="2400" dirty="0" smtClean="0"/>
              <a:t>   month varchar(15));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.import </a:t>
            </a:r>
            <a:r>
              <a:rPr lang="en-US" sz="2400" dirty="0" err="1" smtClean="0"/>
              <a:t>data.txt</a:t>
            </a:r>
            <a:r>
              <a:rPr lang="en-US" sz="2400" dirty="0" smtClean="0"/>
              <a:t> Purchase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Oval Callout 5"/>
          <p:cNvSpPr/>
          <p:nvPr/>
        </p:nvSpPr>
        <p:spPr bwMode="auto">
          <a:xfrm>
            <a:off x="5410200" y="4495800"/>
            <a:ext cx="3442548" cy="1439333"/>
          </a:xfrm>
          <a:prstGeom prst="wedgeEllipseCallout">
            <a:avLst>
              <a:gd name="adj1" fmla="val -84287"/>
              <a:gd name="adj2" fmla="val 54265"/>
            </a:avLst>
          </a:prstGeom>
          <a:solidFill>
            <a:srgbClr val="C0C0C0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en-US" dirty="0" smtClean="0">
                <a:latin typeface="Calibri"/>
                <a:cs typeface="Calibri"/>
              </a:rPr>
              <a:t>Other </a:t>
            </a:r>
            <a:r>
              <a:rPr lang="en-US" dirty="0" err="1" smtClean="0">
                <a:latin typeface="Calibri"/>
                <a:cs typeface="Calibri"/>
              </a:rPr>
              <a:t>DBMSs</a:t>
            </a:r>
            <a:r>
              <a:rPr lang="en-US" dirty="0" smtClean="0">
                <a:latin typeface="Calibri"/>
                <a:cs typeface="Calibri"/>
              </a:rPr>
              <a:t> have other ways of importing data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7" name="Oval Callout 6"/>
          <p:cNvSpPr/>
          <p:nvPr/>
        </p:nvSpPr>
        <p:spPr bwMode="auto">
          <a:xfrm>
            <a:off x="5181600" y="1676400"/>
            <a:ext cx="3657600" cy="1439333"/>
          </a:xfrm>
          <a:prstGeom prst="wedgeEllipseCallout">
            <a:avLst>
              <a:gd name="adj1" fmla="val -105843"/>
              <a:gd name="adj2" fmla="val -22206"/>
            </a:avLst>
          </a:prstGeom>
          <a:solidFill>
            <a:srgbClr val="C0C0C0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en-US" dirty="0" smtClean="0">
                <a:latin typeface="Calibri"/>
                <a:cs typeface="Calibri"/>
              </a:rPr>
              <a:t>Specify a filename where the database will be stored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E04AAC-6528-3748-806F-374DD08AAB7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Comment about SQLite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cannot load NULL values such that they are actually loaded as null values</a:t>
            </a:r>
          </a:p>
          <a:p>
            <a:endParaRPr lang="en-US" dirty="0"/>
          </a:p>
          <a:p>
            <a:r>
              <a:rPr lang="en-US" dirty="0" smtClean="0"/>
              <a:t>So we need to use two steps:</a:t>
            </a:r>
          </a:p>
          <a:p>
            <a:pPr lvl="1"/>
            <a:r>
              <a:rPr lang="en-US" dirty="0" smtClean="0"/>
              <a:t>Load null values using some type of special value</a:t>
            </a:r>
          </a:p>
          <a:p>
            <a:pPr lvl="1"/>
            <a:r>
              <a:rPr lang="en-US" dirty="0" smtClean="0"/>
              <a:t>Update the special values to actual null values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400" dirty="0" smtClean="0"/>
              <a:t>update Purchase set price = null where price = ‘null’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E04AAC-6528-3748-806F-374DD08AAB7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0677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Aggregations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Five basic aggregate operations in SQL</a:t>
            </a:r>
          </a:p>
          <a:p>
            <a:r>
              <a:rPr lang="en-US" dirty="0" smtClean="0">
                <a:solidFill>
                  <a:srgbClr val="008000"/>
                </a:solidFill>
              </a:rPr>
              <a:t>select count(*) from Purchase</a:t>
            </a:r>
          </a:p>
          <a:p>
            <a:r>
              <a:rPr lang="en-US" dirty="0" smtClean="0">
                <a:solidFill>
                  <a:srgbClr val="008000"/>
                </a:solidFill>
              </a:rPr>
              <a:t>select </a:t>
            </a:r>
            <a:r>
              <a:rPr lang="en-US" dirty="0" err="1" smtClean="0">
                <a:solidFill>
                  <a:srgbClr val="008000"/>
                </a:solidFill>
              </a:rPr>
              <a:t>count(quantity</a:t>
            </a:r>
            <a:r>
              <a:rPr lang="en-US" dirty="0" smtClean="0">
                <a:solidFill>
                  <a:srgbClr val="008000"/>
                </a:solidFill>
              </a:rPr>
              <a:t>) from Purchase</a:t>
            </a:r>
          </a:p>
          <a:p>
            <a:r>
              <a:rPr lang="en-US" dirty="0" smtClean="0">
                <a:solidFill>
                  <a:srgbClr val="008000"/>
                </a:solidFill>
              </a:rPr>
              <a:t>select </a:t>
            </a:r>
            <a:r>
              <a:rPr lang="en-US" dirty="0" err="1" smtClean="0">
                <a:solidFill>
                  <a:srgbClr val="008000"/>
                </a:solidFill>
              </a:rPr>
              <a:t>sum(quantity</a:t>
            </a:r>
            <a:r>
              <a:rPr lang="en-US" dirty="0" smtClean="0">
                <a:solidFill>
                  <a:srgbClr val="008000"/>
                </a:solidFill>
              </a:rPr>
              <a:t>) from Purchase</a:t>
            </a:r>
          </a:p>
          <a:p>
            <a:r>
              <a:rPr lang="en-US" dirty="0" smtClean="0">
                <a:solidFill>
                  <a:srgbClr val="008000"/>
                </a:solidFill>
              </a:rPr>
              <a:t>select </a:t>
            </a:r>
            <a:r>
              <a:rPr lang="en-US" dirty="0" err="1" smtClean="0">
                <a:solidFill>
                  <a:srgbClr val="008000"/>
                </a:solidFill>
              </a:rPr>
              <a:t>avg(price</a:t>
            </a:r>
            <a:r>
              <a:rPr lang="en-US" dirty="0" smtClean="0">
                <a:solidFill>
                  <a:srgbClr val="008000"/>
                </a:solidFill>
              </a:rPr>
              <a:t>) from Purchase</a:t>
            </a:r>
          </a:p>
          <a:p>
            <a:r>
              <a:rPr lang="en-US" dirty="0" smtClean="0">
                <a:solidFill>
                  <a:srgbClr val="008000"/>
                </a:solidFill>
              </a:rPr>
              <a:t>select </a:t>
            </a:r>
            <a:r>
              <a:rPr lang="en-US" dirty="0" err="1" smtClean="0">
                <a:solidFill>
                  <a:srgbClr val="008000"/>
                </a:solidFill>
              </a:rPr>
              <a:t>max(quantity</a:t>
            </a:r>
            <a:r>
              <a:rPr lang="en-US" dirty="0" smtClean="0">
                <a:solidFill>
                  <a:srgbClr val="008000"/>
                </a:solidFill>
              </a:rPr>
              <a:t>) from Purchase</a:t>
            </a:r>
          </a:p>
          <a:p>
            <a:r>
              <a:rPr lang="en-US" dirty="0" smtClean="0">
                <a:solidFill>
                  <a:srgbClr val="008000"/>
                </a:solidFill>
              </a:rPr>
              <a:t>select </a:t>
            </a:r>
            <a:r>
              <a:rPr lang="en-US" dirty="0" err="1" smtClean="0">
                <a:solidFill>
                  <a:srgbClr val="008000"/>
                </a:solidFill>
              </a:rPr>
              <a:t>min(quantity</a:t>
            </a:r>
            <a:r>
              <a:rPr lang="en-US" dirty="0" smtClean="0">
                <a:solidFill>
                  <a:srgbClr val="008000"/>
                </a:solidFill>
              </a:rPr>
              <a:t>) from Purchase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9600" y="5710535"/>
            <a:ext cx="78155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Except count, all aggregations apply to a single attribute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E04AAC-6528-3748-806F-374DD08AAB7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Aggregates and NULL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8229600" cy="4114800"/>
          </a:xfrm>
        </p:spPr>
        <p:txBody>
          <a:bodyPr/>
          <a:lstStyle/>
          <a:p>
            <a:pPr>
              <a:buNone/>
            </a:pPr>
            <a:r>
              <a:rPr lang="en-US" sz="2400" dirty="0" smtClean="0"/>
              <a:t>Null values are not used in aggregates</a:t>
            </a:r>
          </a:p>
          <a:p>
            <a:r>
              <a:rPr lang="en-US" sz="2000" dirty="0" smtClean="0">
                <a:solidFill>
                  <a:srgbClr val="008000"/>
                </a:solidFill>
              </a:rPr>
              <a:t>insert into Purchase values(12, </a:t>
            </a:r>
            <a:r>
              <a:rPr lang="en-US" sz="2000" dirty="0">
                <a:solidFill>
                  <a:srgbClr val="008000"/>
                </a:solidFill>
              </a:rPr>
              <a:t>'</a:t>
            </a:r>
            <a:r>
              <a:rPr lang="en-US" sz="2000" dirty="0" smtClean="0">
                <a:solidFill>
                  <a:srgbClr val="008000"/>
                </a:solidFill>
              </a:rPr>
              <a:t>gadget</a:t>
            </a:r>
            <a:r>
              <a:rPr lang="en-US" sz="2000" dirty="0">
                <a:solidFill>
                  <a:srgbClr val="008000"/>
                </a:solidFill>
              </a:rPr>
              <a:t>'</a:t>
            </a:r>
            <a:r>
              <a:rPr lang="en-US" sz="2000" dirty="0" smtClean="0">
                <a:solidFill>
                  <a:srgbClr val="008000"/>
                </a:solidFill>
              </a:rPr>
              <a:t>, NULL, NULL, </a:t>
            </a:r>
            <a:r>
              <a:rPr lang="en-US" sz="2000" dirty="0">
                <a:solidFill>
                  <a:srgbClr val="008000"/>
                </a:solidFill>
              </a:rPr>
              <a:t>'</a:t>
            </a:r>
            <a:r>
              <a:rPr lang="en-US" sz="2000" dirty="0" err="1" smtClean="0">
                <a:solidFill>
                  <a:srgbClr val="008000"/>
                </a:solidFill>
              </a:rPr>
              <a:t>april</a:t>
            </a:r>
            <a:r>
              <a:rPr lang="en-US" sz="2000" dirty="0">
                <a:solidFill>
                  <a:srgbClr val="008000"/>
                </a:solidFill>
              </a:rPr>
              <a:t>'</a:t>
            </a:r>
            <a:r>
              <a:rPr lang="en-US" sz="2000" dirty="0" smtClean="0">
                <a:solidFill>
                  <a:srgbClr val="008000"/>
                </a:solidFill>
              </a:rPr>
              <a:t>)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Let’s try the following:</a:t>
            </a:r>
          </a:p>
          <a:p>
            <a:r>
              <a:rPr lang="en-US" sz="2000" dirty="0" smtClean="0">
                <a:solidFill>
                  <a:srgbClr val="008000"/>
                </a:solidFill>
              </a:rPr>
              <a:t>select count(*) from Purchase</a:t>
            </a:r>
          </a:p>
          <a:p>
            <a:r>
              <a:rPr lang="en-US" sz="2000" dirty="0" smtClean="0">
                <a:solidFill>
                  <a:srgbClr val="008000"/>
                </a:solidFill>
              </a:rPr>
              <a:t>select </a:t>
            </a:r>
            <a:r>
              <a:rPr lang="en-US" sz="2000" dirty="0" err="1" smtClean="0">
                <a:solidFill>
                  <a:srgbClr val="008000"/>
                </a:solidFill>
              </a:rPr>
              <a:t>count(quantity</a:t>
            </a:r>
            <a:r>
              <a:rPr lang="en-US" sz="2000" dirty="0" smtClean="0">
                <a:solidFill>
                  <a:srgbClr val="008000"/>
                </a:solidFill>
              </a:rPr>
              <a:t>) from Purchase</a:t>
            </a:r>
          </a:p>
          <a:p>
            <a:endParaRPr lang="en-US" sz="2000" dirty="0" smtClean="0">
              <a:solidFill>
                <a:srgbClr val="008000"/>
              </a:solidFill>
            </a:endParaRPr>
          </a:p>
          <a:p>
            <a:r>
              <a:rPr lang="en-US" sz="2000" dirty="0" smtClean="0">
                <a:solidFill>
                  <a:srgbClr val="008000"/>
                </a:solidFill>
              </a:rPr>
              <a:t>select sum(quantity) from Purchase</a:t>
            </a:r>
          </a:p>
          <a:p>
            <a:r>
              <a:rPr lang="en-US" sz="2000" dirty="0">
                <a:solidFill>
                  <a:srgbClr val="008000"/>
                </a:solidFill>
              </a:rPr>
              <a:t>select sum(quantity) from Purchase </a:t>
            </a:r>
            <a:r>
              <a:rPr lang="en-US" sz="2000" dirty="0" smtClean="0">
                <a:solidFill>
                  <a:srgbClr val="008000"/>
                </a:solidFill>
              </a:rPr>
              <a:t>where </a:t>
            </a:r>
            <a:r>
              <a:rPr lang="en-US" sz="2000" dirty="0">
                <a:solidFill>
                  <a:srgbClr val="008000"/>
                </a:solidFill>
              </a:rPr>
              <a:t>quantity is not null;</a:t>
            </a:r>
            <a:endParaRPr lang="en-US" sz="2000" dirty="0" smtClean="0">
              <a:solidFill>
                <a:srgbClr val="008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E04AAC-6528-3748-806F-374DD08AAB7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517525" y="1946275"/>
            <a:ext cx="77916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>
                <a:latin typeface="Arial"/>
                <a:cs typeface="Arial"/>
              </a:rPr>
              <a:t>COUNT   applies to duplicates, unless otherwise stated:</a:t>
            </a:r>
          </a:p>
        </p:txBody>
      </p:sp>
      <p:sp>
        <p:nvSpPr>
          <p:cNvPr id="178180" name="Text Box 4"/>
          <p:cNvSpPr txBox="1">
            <a:spLocks noChangeArrowheads="1"/>
          </p:cNvSpPr>
          <p:nvPr/>
        </p:nvSpPr>
        <p:spPr bwMode="auto">
          <a:xfrm>
            <a:off x="609600" y="2819400"/>
            <a:ext cx="3600264" cy="1200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 </a:t>
            </a:r>
            <a:r>
              <a:rPr lang="en-US" dirty="0" err="1">
                <a:latin typeface="Arial"/>
                <a:cs typeface="Arial"/>
              </a:rPr>
              <a:t>Count</a:t>
            </a:r>
            <a:r>
              <a:rPr lang="en-US" dirty="0" err="1" smtClean="0">
                <a:latin typeface="Arial"/>
                <a:cs typeface="Arial"/>
              </a:rPr>
              <a:t>(product</a:t>
            </a:r>
            <a:r>
              <a:rPr lang="en-US" dirty="0" smtClean="0">
                <a:latin typeface="Arial"/>
                <a:cs typeface="Arial"/>
              </a:rPr>
              <a:t>) </a:t>
            </a:r>
            <a:endParaRPr lang="en-US" dirty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   </a:t>
            </a:r>
            <a:r>
              <a:rPr lang="en-US" dirty="0" smtClean="0">
                <a:latin typeface="Arial"/>
                <a:cs typeface="Arial"/>
              </a:rPr>
              <a:t> Purchase</a:t>
            </a: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/>
                <a:cs typeface="Arial"/>
              </a:rPr>
              <a:t>  </a:t>
            </a:r>
            <a:r>
              <a:rPr lang="en-US" dirty="0" smtClean="0">
                <a:latin typeface="Arial"/>
                <a:cs typeface="Arial"/>
              </a:rPr>
              <a:t> price &gt; 4.99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4495800" y="2743200"/>
            <a:ext cx="25794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>
                <a:latin typeface="Arial"/>
                <a:cs typeface="Arial"/>
              </a:rPr>
              <a:t>same as Count(*)</a:t>
            </a: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457200" y="4343400"/>
            <a:ext cx="27280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>
                <a:latin typeface="Arial"/>
                <a:cs typeface="Arial"/>
              </a:rPr>
              <a:t>We probably want:</a:t>
            </a:r>
          </a:p>
        </p:txBody>
      </p:sp>
      <p:sp>
        <p:nvSpPr>
          <p:cNvPr id="178183" name="Text Box 7"/>
          <p:cNvSpPr txBox="1">
            <a:spLocks noChangeArrowheads="1"/>
          </p:cNvSpPr>
          <p:nvPr/>
        </p:nvSpPr>
        <p:spPr bwMode="auto">
          <a:xfrm>
            <a:off x="685800" y="4876800"/>
            <a:ext cx="5099322" cy="1200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 </a:t>
            </a:r>
            <a:r>
              <a:rPr lang="en-US" dirty="0" err="1">
                <a:latin typeface="Arial"/>
                <a:cs typeface="Arial"/>
              </a:rPr>
              <a:t>Count(</a:t>
            </a:r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DISTINCT</a:t>
            </a:r>
            <a:r>
              <a:rPr lang="en-US" dirty="0" smtClean="0">
                <a:latin typeface="Arial"/>
                <a:cs typeface="Arial"/>
              </a:rPr>
              <a:t> product)</a:t>
            </a:r>
            <a:endParaRPr lang="en-US" dirty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   </a:t>
            </a:r>
            <a:r>
              <a:rPr lang="en-US" dirty="0" smtClean="0">
                <a:latin typeface="Arial"/>
                <a:cs typeface="Arial"/>
              </a:rPr>
              <a:t> Purchase</a:t>
            </a: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/>
                <a:cs typeface="Arial"/>
              </a:rPr>
              <a:t>  </a:t>
            </a:r>
            <a:r>
              <a:rPr lang="en-US" dirty="0" smtClean="0">
                <a:latin typeface="Arial"/>
                <a:cs typeface="Arial"/>
              </a:rPr>
              <a:t> price&gt; 4.99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253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Counting Duplicates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5FF561-222E-4B46-9CBC-9AC2D4056C4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More Examples</a:t>
            </a:r>
          </a:p>
        </p:txBody>
      </p:sp>
      <p:sp>
        <p:nvSpPr>
          <p:cNvPr id="179205" name="Text Box 5"/>
          <p:cNvSpPr txBox="1">
            <a:spLocks noChangeArrowheads="1"/>
          </p:cNvSpPr>
          <p:nvPr/>
        </p:nvSpPr>
        <p:spPr bwMode="auto">
          <a:xfrm>
            <a:off x="762000" y="2362200"/>
            <a:ext cx="4421102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 </a:t>
            </a:r>
            <a:r>
              <a:rPr lang="en-US" dirty="0" err="1">
                <a:latin typeface="Arial"/>
                <a:cs typeface="Arial"/>
              </a:rPr>
              <a:t>Sum(price</a:t>
            </a:r>
            <a:r>
              <a:rPr lang="en-US" dirty="0">
                <a:latin typeface="Arial"/>
                <a:cs typeface="Arial"/>
              </a:rPr>
              <a:t> * quantity)</a:t>
            </a: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     Purchase</a:t>
            </a:r>
          </a:p>
        </p:txBody>
      </p:sp>
      <p:sp>
        <p:nvSpPr>
          <p:cNvPr id="179206" name="Text Box 6"/>
          <p:cNvSpPr txBox="1">
            <a:spLocks noChangeArrowheads="1"/>
          </p:cNvSpPr>
          <p:nvPr/>
        </p:nvSpPr>
        <p:spPr bwMode="auto">
          <a:xfrm>
            <a:off x="685800" y="3581400"/>
            <a:ext cx="4421102" cy="1200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 </a:t>
            </a:r>
            <a:r>
              <a:rPr lang="en-US" dirty="0" err="1">
                <a:latin typeface="Arial"/>
                <a:cs typeface="Arial"/>
              </a:rPr>
              <a:t>Sum(price</a:t>
            </a:r>
            <a:r>
              <a:rPr lang="en-US" dirty="0">
                <a:latin typeface="Arial"/>
                <a:cs typeface="Arial"/>
              </a:rPr>
              <a:t> * quantity)</a:t>
            </a: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     Purchase</a:t>
            </a: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 </a:t>
            </a:r>
            <a:r>
              <a:rPr lang="en-US" dirty="0">
                <a:latin typeface="Arial"/>
                <a:cs typeface="Arial"/>
              </a:rPr>
              <a:t>  product = ‘bagel’</a:t>
            </a:r>
          </a:p>
        </p:txBody>
      </p:sp>
      <p:sp>
        <p:nvSpPr>
          <p:cNvPr id="24583" name="Oval 7"/>
          <p:cNvSpPr>
            <a:spLocks noChangeArrowheads="1"/>
          </p:cNvSpPr>
          <p:nvPr/>
        </p:nvSpPr>
        <p:spPr bwMode="auto">
          <a:xfrm>
            <a:off x="6172200" y="3048000"/>
            <a:ext cx="2641512" cy="1168539"/>
          </a:xfrm>
          <a:prstGeom prst="ellipse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What do</a:t>
            </a:r>
          </a:p>
          <a:p>
            <a:pPr algn="ctr"/>
            <a:r>
              <a:rPr lang="en-US" dirty="0">
                <a:latin typeface="Arial"/>
                <a:cs typeface="Arial"/>
              </a:rPr>
              <a:t>they mean ?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5FF561-222E-4B46-9CBC-9AC2D4056C4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Simple Aggregations</a:t>
            </a:r>
          </a:p>
        </p:txBody>
      </p:sp>
      <p:sp>
        <p:nvSpPr>
          <p:cNvPr id="26628" name="Rectangle 12"/>
          <p:cNvSpPr>
            <a:spLocks noChangeArrowheads="1"/>
          </p:cNvSpPr>
          <p:nvPr/>
        </p:nvSpPr>
        <p:spPr bwMode="auto">
          <a:xfrm>
            <a:off x="152400" y="1625024"/>
            <a:ext cx="1918314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dirty="0" smtClean="0">
                <a:solidFill>
                  <a:schemeClr val="accent2"/>
                </a:solidFill>
                <a:latin typeface="Arial"/>
                <a:cs typeface="Arial"/>
              </a:rPr>
              <a:t>Purchase</a:t>
            </a:r>
            <a:endParaRPr lang="en-US" sz="3200" dirty="0">
              <a:solidFill>
                <a:schemeClr val="accent2"/>
              </a:solidFill>
              <a:latin typeface="Arial"/>
              <a:cs typeface="Arial"/>
            </a:endParaRPr>
          </a:p>
        </p:txBody>
      </p:sp>
      <p:sp>
        <p:nvSpPr>
          <p:cNvPr id="180272" name="Text Box 48"/>
          <p:cNvSpPr txBox="1">
            <a:spLocks noChangeArrowheads="1"/>
          </p:cNvSpPr>
          <p:nvPr/>
        </p:nvSpPr>
        <p:spPr bwMode="auto">
          <a:xfrm>
            <a:off x="457200" y="5181600"/>
            <a:ext cx="4421102" cy="1200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 </a:t>
            </a:r>
            <a:r>
              <a:rPr lang="en-US" dirty="0" err="1">
                <a:latin typeface="Arial"/>
                <a:cs typeface="Arial"/>
              </a:rPr>
              <a:t>Sum(price</a:t>
            </a:r>
            <a:r>
              <a:rPr lang="en-US" dirty="0">
                <a:latin typeface="Arial"/>
                <a:cs typeface="Arial"/>
              </a:rPr>
              <a:t> * quantity)</a:t>
            </a: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     Purchase</a:t>
            </a: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 </a:t>
            </a:r>
            <a:r>
              <a:rPr lang="en-US" dirty="0">
                <a:latin typeface="Arial"/>
                <a:cs typeface="Arial"/>
              </a:rPr>
              <a:t>  product = ‘Bagel’</a:t>
            </a:r>
          </a:p>
        </p:txBody>
      </p:sp>
      <p:sp>
        <p:nvSpPr>
          <p:cNvPr id="26630" name="AutoShape 49"/>
          <p:cNvSpPr>
            <a:spLocks noChangeArrowheads="1"/>
          </p:cNvSpPr>
          <p:nvPr/>
        </p:nvSpPr>
        <p:spPr bwMode="auto">
          <a:xfrm>
            <a:off x="5348287" y="55626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631" name="Rectangle 50"/>
          <p:cNvSpPr>
            <a:spLocks noChangeArrowheads="1"/>
          </p:cNvSpPr>
          <p:nvPr/>
        </p:nvSpPr>
        <p:spPr bwMode="auto">
          <a:xfrm>
            <a:off x="6629400" y="5562600"/>
            <a:ext cx="20326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90  (= 60+30)</a:t>
            </a:r>
          </a:p>
        </p:txBody>
      </p:sp>
      <p:graphicFrame>
        <p:nvGraphicFramePr>
          <p:cNvPr id="41" name="Group 58"/>
          <p:cNvGraphicFramePr>
            <a:graphicFrameLocks noGrp="1"/>
          </p:cNvGraphicFramePr>
          <p:nvPr/>
        </p:nvGraphicFramePr>
        <p:xfrm>
          <a:off x="2133600" y="1600200"/>
          <a:ext cx="4857750" cy="3471864"/>
        </p:xfrm>
        <a:graphic>
          <a:graphicData uri="http://schemas.openxmlformats.org/drawingml/2006/table">
            <a:tbl>
              <a:tblPr/>
              <a:tblGrid>
                <a:gridCol w="1619250"/>
                <a:gridCol w="1619250"/>
                <a:gridCol w="1619250"/>
              </a:tblGrid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Quantity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1.50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819400" y="6477000"/>
            <a:ext cx="3352800" cy="457200"/>
          </a:xfrm>
        </p:spPr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5FF561-222E-4B46-9CBC-9AC2D4056C4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Grouping and Aggregation</a:t>
            </a:r>
          </a:p>
        </p:txBody>
      </p:sp>
      <p:sp>
        <p:nvSpPr>
          <p:cNvPr id="28676" name="Text Box 3"/>
          <p:cNvSpPr txBox="1">
            <a:spLocks noChangeArrowheads="1"/>
          </p:cNvSpPr>
          <p:nvPr/>
        </p:nvSpPr>
        <p:spPr bwMode="auto">
          <a:xfrm>
            <a:off x="503237" y="1824037"/>
            <a:ext cx="48035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 err="1">
                <a:solidFill>
                  <a:schemeClr val="accent2"/>
                </a:solidFill>
                <a:latin typeface="Arial"/>
                <a:cs typeface="Arial"/>
              </a:rPr>
              <a:t>Purchase(product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, price, quantity)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533400" y="3733800"/>
            <a:ext cx="7152920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dirty="0">
                <a:latin typeface="Arial"/>
                <a:cs typeface="Arial"/>
              </a:rPr>
              <a:t>       product, </a:t>
            </a:r>
            <a:r>
              <a:rPr lang="en-US" dirty="0" err="1">
                <a:latin typeface="Arial"/>
                <a:cs typeface="Arial"/>
              </a:rPr>
              <a:t>Sum(quantity</a:t>
            </a:r>
            <a:r>
              <a:rPr lang="en-US" dirty="0">
                <a:latin typeface="Arial"/>
                <a:cs typeface="Arial"/>
              </a:rPr>
              <a:t>) AS </a:t>
            </a:r>
            <a:r>
              <a:rPr lang="en-US" dirty="0" err="1">
                <a:latin typeface="Arial"/>
                <a:cs typeface="Arial"/>
              </a:rPr>
              <a:t>TotalSales</a:t>
            </a:r>
            <a:endParaRPr lang="en-US" dirty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          Purchase</a:t>
            </a: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/>
                <a:cs typeface="Arial"/>
              </a:rPr>
              <a:t>        price &gt; 1</a:t>
            </a:r>
          </a:p>
          <a:p>
            <a:pPr eaLnBrk="0" hangingPunct="0">
              <a:defRPr/>
            </a:pPr>
            <a:r>
              <a:rPr lang="en-US" dirty="0">
                <a:solidFill>
                  <a:srgbClr val="FF0066"/>
                </a:solidFill>
                <a:latin typeface="Arial"/>
                <a:cs typeface="Arial"/>
              </a:rPr>
              <a:t>GROUP BY</a:t>
            </a:r>
            <a:r>
              <a:rPr lang="en-US" dirty="0">
                <a:latin typeface="Arial"/>
                <a:cs typeface="Arial"/>
              </a:rPr>
              <a:t>  product</a:t>
            </a:r>
          </a:p>
        </p:txBody>
      </p:sp>
      <p:sp>
        <p:nvSpPr>
          <p:cNvPr id="28678" name="Text Box 5"/>
          <p:cNvSpPr txBox="1">
            <a:spLocks noChangeArrowheads="1"/>
          </p:cNvSpPr>
          <p:nvPr/>
        </p:nvSpPr>
        <p:spPr bwMode="auto">
          <a:xfrm>
            <a:off x="914400" y="5715000"/>
            <a:ext cx="40281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Let’s see what this means…</a:t>
            </a:r>
          </a:p>
        </p:txBody>
      </p:sp>
      <p:sp>
        <p:nvSpPr>
          <p:cNvPr id="28679" name="Rectangle 6"/>
          <p:cNvSpPr>
            <a:spLocks noChangeArrowheads="1"/>
          </p:cNvSpPr>
          <p:nvPr/>
        </p:nvSpPr>
        <p:spPr bwMode="auto">
          <a:xfrm>
            <a:off x="457200" y="2590800"/>
            <a:ext cx="73015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Find total quantities for all sales over $1, by product.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5FF561-222E-4B46-9CBC-9AC2D4056C4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Grouping and Aggregation</a:t>
            </a:r>
          </a:p>
        </p:txBody>
      </p:sp>
      <p:sp>
        <p:nvSpPr>
          <p:cNvPr id="30724" name="Text Box 3"/>
          <p:cNvSpPr txBox="1">
            <a:spLocks noChangeArrowheads="1"/>
          </p:cNvSpPr>
          <p:nvPr/>
        </p:nvSpPr>
        <p:spPr bwMode="auto">
          <a:xfrm>
            <a:off x="685081" y="2209800"/>
            <a:ext cx="6325319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endParaRPr lang="en-US" dirty="0">
              <a:latin typeface="Arial"/>
              <a:cs typeface="Arial"/>
            </a:endParaRPr>
          </a:p>
          <a:p>
            <a:pPr eaLnBrk="0" hangingPunct="0"/>
            <a:r>
              <a:rPr lang="en-US" dirty="0">
                <a:latin typeface="Arial"/>
                <a:cs typeface="Arial"/>
              </a:rPr>
              <a:t>1. Compute the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and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/>
                <a:cs typeface="Arial"/>
              </a:rPr>
              <a:t> clauses.</a:t>
            </a:r>
          </a:p>
          <a:p>
            <a:pPr eaLnBrk="0" hangingPunct="0"/>
            <a:endParaRPr lang="en-US" dirty="0">
              <a:latin typeface="Arial"/>
              <a:cs typeface="Arial"/>
            </a:endParaRPr>
          </a:p>
          <a:p>
            <a:pPr eaLnBrk="0" hangingPunct="0"/>
            <a:r>
              <a:rPr lang="en-US" dirty="0">
                <a:latin typeface="Arial"/>
                <a:cs typeface="Arial"/>
              </a:rPr>
              <a:t>2. Group by the attributes in the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GROUPBY</a:t>
            </a:r>
          </a:p>
          <a:p>
            <a:pPr eaLnBrk="0" hangingPunct="0"/>
            <a:endParaRPr lang="en-US" dirty="0">
              <a:latin typeface="Arial"/>
              <a:cs typeface="Arial"/>
            </a:endParaRPr>
          </a:p>
          <a:p>
            <a:pPr eaLnBrk="0" hangingPunct="0"/>
            <a:r>
              <a:rPr lang="en-US" dirty="0">
                <a:latin typeface="Arial"/>
                <a:cs typeface="Arial"/>
              </a:rPr>
              <a:t>3. Compute the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clause:</a:t>
            </a:r>
            <a:r>
              <a:rPr lang="en-US" dirty="0" smtClean="0">
                <a:latin typeface="Arial"/>
                <a:cs typeface="Arial"/>
              </a:rPr>
              <a:t> </a:t>
            </a:r>
          </a:p>
          <a:p>
            <a:pPr eaLnBrk="0" hangingPunct="0"/>
            <a:r>
              <a:rPr lang="en-US" dirty="0" smtClean="0">
                <a:latin typeface="Arial"/>
                <a:cs typeface="Arial"/>
              </a:rPr>
              <a:t>    grouped </a:t>
            </a:r>
            <a:r>
              <a:rPr lang="en-US" dirty="0">
                <a:latin typeface="Arial"/>
                <a:cs typeface="Arial"/>
              </a:rPr>
              <a:t>attributes and aggregates.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5FF561-222E-4B46-9CBC-9AC2D4056C4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1&amp;2. FROM-WHERE-GROUPBY</a:t>
            </a:r>
            <a:endParaRPr lang="en-US" sz="3200">
              <a:solidFill>
                <a:schemeClr val="tx1"/>
              </a:solidFill>
            </a:endParaRPr>
          </a:p>
        </p:txBody>
      </p:sp>
      <p:graphicFrame>
        <p:nvGraphicFramePr>
          <p:cNvPr id="183354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911069"/>
              </p:ext>
            </p:extLst>
          </p:nvPr>
        </p:nvGraphicFramePr>
        <p:xfrm>
          <a:off x="609600" y="2209800"/>
          <a:ext cx="4857750" cy="3471864"/>
        </p:xfrm>
        <a:graphic>
          <a:graphicData uri="http://schemas.openxmlformats.org/drawingml/2006/table">
            <a:tbl>
              <a:tblPr/>
              <a:tblGrid>
                <a:gridCol w="1619250"/>
                <a:gridCol w="1619250"/>
                <a:gridCol w="1619250"/>
              </a:tblGrid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Quantity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1.50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5FF561-222E-4B46-9CBC-9AC2D4056C4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6" name="Oval Callout 5"/>
          <p:cNvSpPr/>
          <p:nvPr/>
        </p:nvSpPr>
        <p:spPr bwMode="auto">
          <a:xfrm>
            <a:off x="5638800" y="4648200"/>
            <a:ext cx="3276600" cy="1058333"/>
          </a:xfrm>
          <a:prstGeom prst="wedgeEllipseCallout">
            <a:avLst>
              <a:gd name="adj1" fmla="val -51934"/>
              <a:gd name="adj2" fmla="val -80143"/>
            </a:avLst>
          </a:prstGeom>
          <a:solidFill>
            <a:srgbClr val="C0C0C0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en-US" dirty="0" smtClean="0">
                <a:latin typeface="Calibri"/>
                <a:cs typeface="Calibri"/>
              </a:rPr>
              <a:t>WHERE price &gt; 1</a:t>
            </a:r>
            <a:endParaRPr lang="en-US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3. SELECT</a:t>
            </a:r>
          </a:p>
        </p:txBody>
      </p:sp>
      <p:sp>
        <p:nvSpPr>
          <p:cNvPr id="184329" name="Rectangle 9"/>
          <p:cNvSpPr>
            <a:spLocks noChangeArrowheads="1"/>
          </p:cNvSpPr>
          <p:nvPr/>
        </p:nvSpPr>
        <p:spPr bwMode="auto">
          <a:xfrm>
            <a:off x="914400" y="5029200"/>
            <a:ext cx="7152920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dirty="0">
                <a:latin typeface="Arial"/>
                <a:cs typeface="Arial"/>
              </a:rPr>
              <a:t>       product, </a:t>
            </a:r>
            <a:r>
              <a:rPr lang="en-US" dirty="0" err="1">
                <a:latin typeface="Arial"/>
                <a:cs typeface="Arial"/>
              </a:rPr>
              <a:t>Sum(quantity</a:t>
            </a:r>
            <a:r>
              <a:rPr lang="en-US" dirty="0">
                <a:latin typeface="Arial"/>
                <a:cs typeface="Arial"/>
              </a:rPr>
              <a:t>) AS </a:t>
            </a:r>
            <a:r>
              <a:rPr lang="en-US" dirty="0" err="1">
                <a:latin typeface="Arial"/>
                <a:cs typeface="Arial"/>
              </a:rPr>
              <a:t>TotalSales</a:t>
            </a:r>
            <a:endParaRPr lang="en-US" dirty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          Purchase</a:t>
            </a: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/>
                <a:cs typeface="Arial"/>
              </a:rPr>
              <a:t>        price &gt; 1</a:t>
            </a:r>
          </a:p>
          <a:p>
            <a:pPr eaLnBrk="0" hangingPunct="0">
              <a:defRPr/>
            </a:pPr>
            <a:r>
              <a:rPr lang="en-US" dirty="0">
                <a:solidFill>
                  <a:srgbClr val="FF0066"/>
                </a:solidFill>
                <a:latin typeface="Arial"/>
                <a:cs typeface="Arial"/>
              </a:rPr>
              <a:t>GROUP BY</a:t>
            </a:r>
            <a:r>
              <a:rPr lang="en-US" dirty="0">
                <a:latin typeface="Arial"/>
                <a:cs typeface="Arial"/>
              </a:rPr>
              <a:t>  product</a:t>
            </a:r>
          </a:p>
        </p:txBody>
      </p:sp>
      <p:graphicFrame>
        <p:nvGraphicFramePr>
          <p:cNvPr id="184394" name="Group 74"/>
          <p:cNvGraphicFramePr>
            <a:graphicFrameLocks noGrp="1"/>
          </p:cNvGraphicFramePr>
          <p:nvPr/>
        </p:nvGraphicFramePr>
        <p:xfrm>
          <a:off x="5562600" y="1905000"/>
          <a:ext cx="3429000" cy="1803401"/>
        </p:xfrm>
        <a:graphic>
          <a:graphicData uri="http://schemas.openxmlformats.org/drawingml/2006/table">
            <a:tbl>
              <a:tblPr/>
              <a:tblGrid>
                <a:gridCol w="1524000"/>
                <a:gridCol w="1905000"/>
              </a:tblGrid>
              <a:tr h="601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TotalSales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1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5" name="Group 58"/>
          <p:cNvGraphicFramePr>
            <a:graphicFrameLocks noGrp="1"/>
          </p:cNvGraphicFramePr>
          <p:nvPr/>
        </p:nvGraphicFramePr>
        <p:xfrm>
          <a:off x="0" y="1600200"/>
          <a:ext cx="4648200" cy="3108959"/>
        </p:xfrm>
        <a:graphic>
          <a:graphicData uri="http://schemas.openxmlformats.org/drawingml/2006/table">
            <a:tbl>
              <a:tblPr/>
              <a:tblGrid>
                <a:gridCol w="1549400"/>
                <a:gridCol w="1549400"/>
                <a:gridCol w="1549400"/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Quantity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1.50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867" name="Right Arrow 55"/>
          <p:cNvSpPr>
            <a:spLocks noChangeArrowheads="1"/>
          </p:cNvSpPr>
          <p:nvPr/>
        </p:nvSpPr>
        <p:spPr bwMode="auto">
          <a:xfrm>
            <a:off x="4724400" y="2514600"/>
            <a:ext cx="822325" cy="8223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5FF561-222E-4B46-9CBC-9AC2D4056C4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Other Examples</a:t>
            </a:r>
            <a:endParaRPr lang="en-US" dirty="0"/>
          </a:p>
        </p:txBody>
      </p:sp>
      <p:sp>
        <p:nvSpPr>
          <p:cNvPr id="185347" name="Text Box 3"/>
          <p:cNvSpPr txBox="1">
            <a:spLocks noChangeArrowheads="1"/>
          </p:cNvSpPr>
          <p:nvPr/>
        </p:nvSpPr>
        <p:spPr bwMode="auto">
          <a:xfrm>
            <a:off x="457200" y="4267200"/>
            <a:ext cx="6251080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     product,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                   </a:t>
            </a:r>
            <a:r>
              <a:rPr lang="en-US" dirty="0" err="1">
                <a:latin typeface="Arial"/>
                <a:cs typeface="Arial"/>
              </a:rPr>
              <a:t>sum(quantity</a:t>
            </a:r>
            <a:r>
              <a:rPr lang="en-US" dirty="0">
                <a:latin typeface="Arial"/>
                <a:cs typeface="Arial"/>
              </a:rPr>
              <a:t>) AS </a:t>
            </a:r>
            <a:r>
              <a:rPr lang="en-US" dirty="0" err="1" smtClean="0">
                <a:latin typeface="Arial"/>
                <a:cs typeface="Arial"/>
              </a:rPr>
              <a:t>SumQuantity</a:t>
            </a:r>
            <a:r>
              <a:rPr lang="en-US" dirty="0" smtClean="0">
                <a:latin typeface="Arial"/>
                <a:cs typeface="Arial"/>
              </a:rPr>
              <a:t>,</a:t>
            </a:r>
          </a:p>
          <a:p>
            <a:pPr eaLnBrk="0" hangingPunct="0">
              <a:defRPr/>
            </a:pPr>
            <a:r>
              <a:rPr lang="en-US" dirty="0">
                <a:latin typeface="Arial"/>
                <a:cs typeface="Arial"/>
              </a:rPr>
              <a:t>                     </a:t>
            </a:r>
            <a:r>
              <a:rPr lang="en-US" dirty="0" err="1">
                <a:latin typeface="Arial"/>
                <a:cs typeface="Arial"/>
              </a:rPr>
              <a:t>max(price</a:t>
            </a:r>
            <a:r>
              <a:rPr lang="en-US" dirty="0">
                <a:latin typeface="Arial"/>
                <a:cs typeface="Arial"/>
              </a:rPr>
              <a:t>) AS </a:t>
            </a:r>
            <a:r>
              <a:rPr lang="en-US" dirty="0" err="1" smtClean="0">
                <a:latin typeface="Arial"/>
                <a:cs typeface="Arial"/>
              </a:rPr>
              <a:t>MaxPrice</a:t>
            </a:r>
            <a:endParaRPr lang="en-US" dirty="0" smtClean="0"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        Purchase</a:t>
            </a:r>
          </a:p>
          <a:p>
            <a:pPr eaLnBrk="0" hangingPunct="0">
              <a:defRPr/>
            </a:pPr>
            <a:r>
              <a:rPr lang="en-US" dirty="0">
                <a:solidFill>
                  <a:srgbClr val="FF5050"/>
                </a:solidFill>
                <a:latin typeface="Arial"/>
                <a:cs typeface="Arial"/>
              </a:rPr>
              <a:t>GROUP BY</a:t>
            </a:r>
            <a:r>
              <a:rPr lang="en-US" dirty="0">
                <a:latin typeface="Arial"/>
                <a:cs typeface="Arial"/>
              </a:rPr>
              <a:t> product</a:t>
            </a:r>
          </a:p>
        </p:txBody>
      </p:sp>
      <p:sp>
        <p:nvSpPr>
          <p:cNvPr id="38917" name="Oval 12"/>
          <p:cNvSpPr>
            <a:spLocks noChangeArrowheads="1"/>
          </p:cNvSpPr>
          <p:nvPr/>
        </p:nvSpPr>
        <p:spPr bwMode="auto">
          <a:xfrm>
            <a:off x="6815460" y="4572000"/>
            <a:ext cx="2328540" cy="1168539"/>
          </a:xfrm>
          <a:prstGeom prst="ellipse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What does</a:t>
            </a:r>
          </a:p>
          <a:p>
            <a:pPr algn="ctr"/>
            <a:r>
              <a:rPr lang="en-US" dirty="0">
                <a:latin typeface="Arial"/>
                <a:cs typeface="Arial"/>
              </a:rPr>
              <a:t>it mean 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457200" y="2743200"/>
            <a:ext cx="4164722" cy="1200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   </a:t>
            </a:r>
            <a:r>
              <a:rPr lang="en-US" dirty="0" smtClean="0">
                <a:latin typeface="Arial"/>
                <a:cs typeface="Arial"/>
              </a:rPr>
              <a:t>  product, count(*) </a:t>
            </a:r>
          </a:p>
          <a:p>
            <a:pPr eaLnBrk="0" hangingPunct="0"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/>
                <a:cs typeface="Arial"/>
              </a:rPr>
              <a:t>         </a:t>
            </a:r>
            <a:r>
              <a:rPr lang="en-US" dirty="0">
                <a:latin typeface="Arial"/>
                <a:cs typeface="Arial"/>
              </a:rPr>
              <a:t>Purchase</a:t>
            </a:r>
          </a:p>
          <a:p>
            <a:pPr eaLnBrk="0" hangingPunct="0">
              <a:defRPr/>
            </a:pPr>
            <a:r>
              <a:rPr lang="en-US" dirty="0">
                <a:solidFill>
                  <a:srgbClr val="FF5050"/>
                </a:solidFill>
                <a:latin typeface="Arial"/>
                <a:cs typeface="Arial"/>
              </a:rPr>
              <a:t>GROUP BY</a:t>
            </a:r>
            <a:r>
              <a:rPr lang="en-US" dirty="0">
                <a:latin typeface="Arial"/>
                <a:cs typeface="Arial"/>
              </a:rPr>
              <a:t> product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4979278" y="2743200"/>
            <a:ext cx="3993551" cy="1200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   </a:t>
            </a:r>
            <a:r>
              <a:rPr lang="en-US" dirty="0" smtClean="0">
                <a:latin typeface="Arial"/>
                <a:cs typeface="Arial"/>
              </a:rPr>
              <a:t>  month, count(*) </a:t>
            </a:r>
          </a:p>
          <a:p>
            <a:pPr eaLnBrk="0" hangingPunct="0"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/>
                <a:cs typeface="Arial"/>
              </a:rPr>
              <a:t>         </a:t>
            </a:r>
            <a:r>
              <a:rPr lang="en-US" dirty="0">
                <a:latin typeface="Arial"/>
                <a:cs typeface="Arial"/>
              </a:rPr>
              <a:t>Purchase</a:t>
            </a:r>
          </a:p>
          <a:p>
            <a:pPr eaLnBrk="0" hangingPunct="0">
              <a:defRPr/>
            </a:pPr>
            <a:r>
              <a:rPr lang="en-US" dirty="0">
                <a:solidFill>
                  <a:srgbClr val="FF5050"/>
                </a:solidFill>
                <a:latin typeface="Arial"/>
                <a:cs typeface="Arial"/>
              </a:rPr>
              <a:t>GROUP BY</a:t>
            </a:r>
            <a:r>
              <a:rPr lang="en-US" dirty="0" smtClean="0">
                <a:latin typeface="Arial"/>
                <a:cs typeface="Arial"/>
              </a:rPr>
              <a:t> month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9" name="Oval 12"/>
          <p:cNvSpPr>
            <a:spLocks noChangeArrowheads="1"/>
          </p:cNvSpPr>
          <p:nvPr/>
        </p:nvSpPr>
        <p:spPr bwMode="auto">
          <a:xfrm>
            <a:off x="3505200" y="1524000"/>
            <a:ext cx="3218638" cy="1168539"/>
          </a:xfrm>
          <a:prstGeom prst="ellipse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Arial"/>
                <a:cs typeface="Arial"/>
              </a:rPr>
              <a:t>Compare these</a:t>
            </a:r>
          </a:p>
          <a:p>
            <a:pPr algn="ctr"/>
            <a:r>
              <a:rPr lang="en-US" dirty="0" smtClean="0">
                <a:latin typeface="Arial"/>
                <a:cs typeface="Arial"/>
              </a:rPr>
              <a:t>two queries: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5FF561-222E-4B46-9CBC-9AC2D4056C4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Need to be Careful…</a:t>
            </a:r>
            <a:endParaRPr lang="en-US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76200" y="1828800"/>
            <a:ext cx="4523895" cy="1200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/>
                <a:cs typeface="Arial"/>
              </a:rPr>
              <a:t> product, </a:t>
            </a:r>
            <a:r>
              <a:rPr lang="en-US" dirty="0" err="1" smtClean="0">
                <a:latin typeface="Arial"/>
                <a:cs typeface="Arial"/>
              </a:rPr>
              <a:t>max(quantity</a:t>
            </a:r>
            <a:r>
              <a:rPr lang="en-US" dirty="0" smtClean="0">
                <a:latin typeface="Arial"/>
                <a:cs typeface="Arial"/>
              </a:rPr>
              <a:t>) </a:t>
            </a:r>
          </a:p>
          <a:p>
            <a:pPr eaLnBrk="0" hangingPunct="0"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/>
                <a:cs typeface="Arial"/>
              </a:rPr>
              <a:t>         </a:t>
            </a:r>
            <a:r>
              <a:rPr lang="en-US" dirty="0">
                <a:latin typeface="Arial"/>
                <a:cs typeface="Arial"/>
              </a:rPr>
              <a:t>Purchase</a:t>
            </a:r>
          </a:p>
          <a:p>
            <a:pPr eaLnBrk="0" hangingPunct="0">
              <a:defRPr/>
            </a:pPr>
            <a:r>
              <a:rPr lang="en-US" dirty="0">
                <a:solidFill>
                  <a:srgbClr val="FF5050"/>
                </a:solidFill>
                <a:latin typeface="Arial"/>
                <a:cs typeface="Arial"/>
              </a:rPr>
              <a:t>GROUP BY</a:t>
            </a:r>
            <a:r>
              <a:rPr lang="en-US" dirty="0">
                <a:latin typeface="Arial"/>
                <a:cs typeface="Arial"/>
              </a:rPr>
              <a:t> product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5978" y="3276600"/>
            <a:ext cx="4165022" cy="12003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   </a:t>
            </a:r>
            <a:r>
              <a:rPr lang="en-US" dirty="0" smtClean="0">
                <a:latin typeface="Arial"/>
                <a:cs typeface="Arial"/>
              </a:rPr>
              <a:t>  product, quantity </a:t>
            </a:r>
          </a:p>
          <a:p>
            <a:pPr eaLnBrk="0" hangingPunct="0"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/>
                <a:cs typeface="Arial"/>
              </a:rPr>
              <a:t>         </a:t>
            </a:r>
            <a:r>
              <a:rPr lang="en-US" dirty="0">
                <a:latin typeface="Arial"/>
                <a:cs typeface="Arial"/>
              </a:rPr>
              <a:t>Purchase</a:t>
            </a:r>
          </a:p>
          <a:p>
            <a:pPr eaLnBrk="0" hangingPunct="0">
              <a:defRPr/>
            </a:pPr>
            <a:r>
              <a:rPr lang="en-US" dirty="0">
                <a:solidFill>
                  <a:srgbClr val="FF5050"/>
                </a:solidFill>
                <a:latin typeface="Arial"/>
                <a:cs typeface="Arial"/>
              </a:rPr>
              <a:t>GROUP BY</a:t>
            </a:r>
            <a:r>
              <a:rPr lang="en-US" dirty="0">
                <a:latin typeface="Arial"/>
                <a:cs typeface="Arial"/>
              </a:rPr>
              <a:t> product</a:t>
            </a:r>
          </a:p>
        </p:txBody>
      </p:sp>
      <p:sp>
        <p:nvSpPr>
          <p:cNvPr id="7" name="Oval Callout 6"/>
          <p:cNvSpPr/>
          <p:nvPr/>
        </p:nvSpPr>
        <p:spPr bwMode="auto">
          <a:xfrm>
            <a:off x="0" y="4800600"/>
            <a:ext cx="3442548" cy="1439333"/>
          </a:xfrm>
          <a:prstGeom prst="wedgeEllipseCallout">
            <a:avLst>
              <a:gd name="adj1" fmla="val 6712"/>
              <a:gd name="adj2" fmla="val -73970"/>
            </a:avLst>
          </a:prstGeom>
          <a:solidFill>
            <a:srgbClr val="C0C0C0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en-US" dirty="0" err="1" smtClean="0">
                <a:latin typeface="Calibri"/>
                <a:cs typeface="Calibri"/>
              </a:rPr>
              <a:t>Sqlite</a:t>
            </a:r>
            <a:r>
              <a:rPr lang="en-US" dirty="0" smtClean="0">
                <a:latin typeface="Calibri"/>
                <a:cs typeface="Calibri"/>
              </a:rPr>
              <a:t> is WRONG on this query. 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9" name="Oval Callout 8"/>
          <p:cNvSpPr/>
          <p:nvPr/>
        </p:nvSpPr>
        <p:spPr bwMode="auto">
          <a:xfrm>
            <a:off x="3330674" y="5257800"/>
            <a:ext cx="5791200" cy="982133"/>
          </a:xfrm>
          <a:prstGeom prst="wedgeEllipseCallout">
            <a:avLst>
              <a:gd name="adj1" fmla="val -52530"/>
              <a:gd name="adj2" fmla="val -115767"/>
            </a:avLst>
          </a:prstGeom>
          <a:solidFill>
            <a:srgbClr val="C0C0C0">
              <a:alpha val="5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en-US" dirty="0" smtClean="0">
                <a:latin typeface="Calibri"/>
                <a:cs typeface="Calibri"/>
              </a:rPr>
              <a:t>SQL Server correctly gives an error</a:t>
            </a:r>
            <a:endParaRPr lang="en-US" dirty="0">
              <a:latin typeface="Calibri"/>
              <a:cs typeface="Calibri"/>
            </a:endParaRPr>
          </a:p>
        </p:txBody>
      </p:sp>
      <p:graphicFrame>
        <p:nvGraphicFramePr>
          <p:cNvPr id="11" name="Group 58"/>
          <p:cNvGraphicFramePr>
            <a:graphicFrameLocks noGrp="1"/>
          </p:cNvGraphicFramePr>
          <p:nvPr/>
        </p:nvGraphicFramePr>
        <p:xfrm>
          <a:off x="4724400" y="1752600"/>
          <a:ext cx="4248150" cy="3276600"/>
        </p:xfrm>
        <a:graphic>
          <a:graphicData uri="http://schemas.openxmlformats.org/drawingml/2006/table">
            <a:tbl>
              <a:tblPr/>
              <a:tblGrid>
                <a:gridCol w="1416050"/>
                <a:gridCol w="1416050"/>
                <a:gridCol w="1416050"/>
              </a:tblGrid>
              <a:tr h="5468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Product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/>
                          <a:cs typeface="Arial"/>
                        </a:rPr>
                        <a:t>Quantity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8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53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Bagel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1.50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53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53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8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Banana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E04AAC-6528-3748-806F-374DD08AAB7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Ordering Results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371600" y="2438400"/>
            <a:ext cx="6237605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dirty="0" smtClean="0">
                <a:latin typeface="Arial"/>
                <a:cs typeface="Arial"/>
              </a:rPr>
              <a:t>product, </a:t>
            </a:r>
            <a:r>
              <a:rPr lang="en-US" dirty="0" err="1" smtClean="0">
                <a:latin typeface="Arial"/>
                <a:cs typeface="Arial"/>
              </a:rPr>
              <a:t>sum(price</a:t>
            </a:r>
            <a:r>
              <a:rPr lang="en-US" dirty="0" smtClean="0">
                <a:latin typeface="Arial"/>
                <a:cs typeface="Arial"/>
              </a:rPr>
              <a:t>*quantity) as rev</a:t>
            </a:r>
          </a:p>
          <a:p>
            <a:pPr eaLnBrk="0" hangingPunct="0"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FROM    </a:t>
            </a:r>
            <a:r>
              <a:rPr lang="en-US" dirty="0" smtClean="0">
                <a:solidFill>
                  <a:srgbClr val="000000"/>
                </a:solidFill>
                <a:latin typeface="Arial"/>
                <a:cs typeface="Arial"/>
              </a:rPr>
              <a:t>purchase</a:t>
            </a:r>
          </a:p>
          <a:p>
            <a:pPr eaLnBrk="0" hangingPunct="0">
              <a:defRPr/>
            </a:pPr>
            <a:r>
              <a:rPr lang="en-US" dirty="0" smtClean="0">
                <a:solidFill>
                  <a:srgbClr val="FF0066"/>
                </a:solidFill>
                <a:latin typeface="Arial"/>
                <a:cs typeface="Arial"/>
              </a:rPr>
              <a:t>GROUP BY </a:t>
            </a:r>
            <a:r>
              <a:rPr lang="en-US" dirty="0" smtClean="0">
                <a:solidFill>
                  <a:srgbClr val="000000"/>
                </a:solidFill>
                <a:latin typeface="Arial"/>
                <a:cs typeface="Arial"/>
              </a:rPr>
              <a:t>product</a:t>
            </a:r>
          </a:p>
          <a:p>
            <a:pPr eaLnBrk="0" hangingPunct="0">
              <a:defRPr/>
            </a:pPr>
            <a:r>
              <a:rPr lang="en-US" dirty="0" smtClean="0">
                <a:solidFill>
                  <a:srgbClr val="FF0066"/>
                </a:solidFill>
                <a:latin typeface="Arial"/>
                <a:cs typeface="Arial"/>
              </a:rPr>
              <a:t>ORDER BY </a:t>
            </a:r>
            <a:r>
              <a:rPr lang="en-US" dirty="0" smtClean="0">
                <a:solidFill>
                  <a:srgbClr val="000000"/>
                </a:solidFill>
                <a:latin typeface="Arial"/>
                <a:cs typeface="Arial"/>
              </a:rPr>
              <a:t>rev </a:t>
            </a:r>
            <a:r>
              <a:rPr lang="en-US" dirty="0" err="1" smtClean="0">
                <a:solidFill>
                  <a:srgbClr val="000000"/>
                </a:solidFill>
                <a:latin typeface="Arial"/>
                <a:cs typeface="Arial"/>
              </a:rPr>
              <a:t>desc</a:t>
            </a: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E04AAC-6528-3748-806F-374DD08AAB7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HAVING Clause</a:t>
            </a:r>
          </a:p>
        </p:txBody>
      </p:sp>
      <p:sp>
        <p:nvSpPr>
          <p:cNvPr id="186371" name="Rectangle 3"/>
          <p:cNvSpPr>
            <a:spLocks noChangeArrowheads="1"/>
          </p:cNvSpPr>
          <p:nvPr/>
        </p:nvSpPr>
        <p:spPr bwMode="auto">
          <a:xfrm>
            <a:off x="914400" y="3124200"/>
            <a:ext cx="5857944" cy="193899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/>
                <a:cs typeface="Arial"/>
              </a:rPr>
              <a:t>       product, </a:t>
            </a:r>
            <a:r>
              <a:rPr lang="en-US" dirty="0" smtClean="0">
                <a:latin typeface="Arial"/>
                <a:cs typeface="Arial"/>
              </a:rPr>
              <a:t>sum(price*quantity</a:t>
            </a:r>
            <a:r>
              <a:rPr lang="en-US" dirty="0">
                <a:latin typeface="Arial"/>
                <a:cs typeface="Arial"/>
              </a:rPr>
              <a:t>)</a:t>
            </a:r>
          </a:p>
          <a:p>
            <a:pPr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         Purchase</a:t>
            </a:r>
          </a:p>
          <a:p>
            <a:pPr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/>
                <a:cs typeface="Arial"/>
              </a:rPr>
              <a:t>       price &gt; 1</a:t>
            </a:r>
          </a:p>
          <a:p>
            <a:pPr>
              <a:defRPr/>
            </a:pP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GROUP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BY</a:t>
            </a:r>
            <a:r>
              <a:rPr lang="en-US" dirty="0">
                <a:latin typeface="Arial"/>
                <a:cs typeface="Arial"/>
              </a:rPr>
              <a:t> product</a:t>
            </a:r>
          </a:p>
          <a:p>
            <a:pPr>
              <a:defRPr/>
            </a:pPr>
            <a:r>
              <a:rPr lang="en-US" dirty="0">
                <a:solidFill>
                  <a:srgbClr val="FF0066"/>
                </a:solidFill>
                <a:latin typeface="Arial"/>
                <a:cs typeface="Arial"/>
              </a:rPr>
              <a:t>HAVING</a:t>
            </a:r>
            <a:r>
              <a:rPr lang="en-US" dirty="0">
                <a:latin typeface="Arial"/>
                <a:cs typeface="Arial"/>
              </a:rPr>
              <a:t>      </a:t>
            </a:r>
            <a:r>
              <a:rPr lang="en-US" dirty="0" err="1">
                <a:latin typeface="Arial"/>
                <a:cs typeface="Arial"/>
              </a:rPr>
              <a:t>Sum(quantity</a:t>
            </a:r>
            <a:r>
              <a:rPr lang="en-US" dirty="0">
                <a:latin typeface="Arial"/>
                <a:cs typeface="Arial"/>
              </a:rPr>
              <a:t>) &gt; 30</a:t>
            </a: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609600" y="1600200"/>
            <a:ext cx="8498991" cy="120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endParaRPr lang="en-US" dirty="0">
              <a:latin typeface="Arial"/>
              <a:cs typeface="Arial"/>
            </a:endParaRPr>
          </a:p>
          <a:p>
            <a:pPr eaLnBrk="0" hangingPunct="0"/>
            <a:r>
              <a:rPr lang="en-US" dirty="0">
                <a:latin typeface="Arial"/>
                <a:cs typeface="Arial"/>
              </a:rPr>
              <a:t>Same </a:t>
            </a:r>
            <a:r>
              <a:rPr lang="en-US" dirty="0" smtClean="0">
                <a:latin typeface="Arial"/>
                <a:cs typeface="Arial"/>
              </a:rPr>
              <a:t>query as earlier, </a:t>
            </a:r>
            <a:r>
              <a:rPr lang="en-US" dirty="0">
                <a:latin typeface="Arial"/>
                <a:cs typeface="Arial"/>
              </a:rPr>
              <a:t>except that we consider only </a:t>
            </a:r>
            <a:r>
              <a:rPr lang="en-US" dirty="0" smtClean="0">
                <a:latin typeface="Arial"/>
                <a:cs typeface="Arial"/>
              </a:rPr>
              <a:t>products</a:t>
            </a:r>
          </a:p>
          <a:p>
            <a:pPr eaLnBrk="0" hangingPunct="0"/>
            <a:r>
              <a:rPr lang="en-US" dirty="0" smtClean="0">
                <a:latin typeface="Arial"/>
                <a:cs typeface="Arial"/>
              </a:rPr>
              <a:t>that had at </a:t>
            </a:r>
            <a:r>
              <a:rPr lang="en-US" dirty="0">
                <a:latin typeface="Arial"/>
                <a:cs typeface="Arial"/>
              </a:rPr>
              <a:t>least</a:t>
            </a:r>
            <a:r>
              <a:rPr lang="en-US" dirty="0" smtClean="0">
                <a:latin typeface="Arial"/>
                <a:cs typeface="Arial"/>
              </a:rPr>
              <a:t> 30 sales.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40966" name="Text Box 5"/>
          <p:cNvSpPr txBox="1">
            <a:spLocks noChangeArrowheads="1"/>
          </p:cNvSpPr>
          <p:nvPr/>
        </p:nvSpPr>
        <p:spPr bwMode="auto">
          <a:xfrm>
            <a:off x="689368" y="5603875"/>
            <a:ext cx="71592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HAVING clause contains conditions on aggregates.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5FF561-222E-4B46-9CBC-9AC2D4056C4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</a:t>
            </a:r>
            <a:r>
              <a:rPr lang="en-US" dirty="0" err="1" smtClean="0"/>
              <a:t>vs</a:t>
            </a:r>
            <a:r>
              <a:rPr lang="en-US" dirty="0" smtClean="0"/>
              <a:t> HAVING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0" y="1981200"/>
            <a:ext cx="8458200" cy="4114800"/>
          </a:xfrm>
        </p:spPr>
        <p:txBody>
          <a:bodyPr/>
          <a:lstStyle/>
          <a:p>
            <a:r>
              <a:rPr lang="en-US" dirty="0" smtClean="0"/>
              <a:t>WHERE condition is applied to individual rows</a:t>
            </a:r>
          </a:p>
          <a:p>
            <a:pPr lvl="1"/>
            <a:r>
              <a:rPr lang="en-US" dirty="0" smtClean="0"/>
              <a:t>The rows may or may not contribute to the aggregate</a:t>
            </a:r>
          </a:p>
          <a:p>
            <a:pPr lvl="1"/>
            <a:r>
              <a:rPr lang="en-US" dirty="0" smtClean="0"/>
              <a:t>No aggregates allowed here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HAVING condition is applied to the entire group</a:t>
            </a:r>
          </a:p>
          <a:p>
            <a:pPr lvl="1"/>
            <a:r>
              <a:rPr lang="en-US" dirty="0" smtClean="0"/>
              <a:t>Entire group is returned, or not al all</a:t>
            </a:r>
          </a:p>
          <a:p>
            <a:pPr lvl="1"/>
            <a:r>
              <a:rPr lang="en-US" dirty="0" smtClean="0"/>
              <a:t>May use aggregate functions in the group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E04AAC-6528-3748-806F-374DD08AAB7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Aggregates and Joins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0" y="1981200"/>
            <a:ext cx="8229600" cy="4114800"/>
          </a:xfrm>
        </p:spPr>
        <p:txBody>
          <a:bodyPr/>
          <a:lstStyle/>
          <a:p>
            <a:pPr>
              <a:buNone/>
            </a:pPr>
            <a:r>
              <a:rPr lang="en-US" sz="2400" dirty="0" smtClean="0"/>
              <a:t>create table Product (</a:t>
            </a:r>
            <a:r>
              <a:rPr lang="en-US" sz="2400" dirty="0" err="1" smtClean="0"/>
              <a:t>pid</a:t>
            </a:r>
            <a:r>
              <a:rPr lang="en-US" sz="2400" dirty="0" smtClean="0"/>
              <a:t> </a:t>
            </a:r>
            <a:r>
              <a:rPr lang="en-US" sz="2400" dirty="0" err="1" smtClean="0"/>
              <a:t>int</a:t>
            </a:r>
            <a:r>
              <a:rPr lang="en-US" sz="2400" dirty="0" smtClean="0"/>
              <a:t> primary key, </a:t>
            </a:r>
            <a:r>
              <a:rPr lang="en-US" sz="2400" dirty="0" err="1" smtClean="0"/>
              <a:t>pname</a:t>
            </a:r>
            <a:r>
              <a:rPr lang="en-US" sz="2400" dirty="0" smtClean="0"/>
              <a:t> varchar(15), manufacturer varchar(15));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insert into product values(1, 'bagel', 'Sunshine Co.');</a:t>
            </a:r>
          </a:p>
          <a:p>
            <a:pPr>
              <a:buNone/>
            </a:pPr>
            <a:r>
              <a:rPr lang="en-US" sz="2400" dirty="0" smtClean="0"/>
              <a:t>insert into product values(2, 'banana', '</a:t>
            </a:r>
            <a:r>
              <a:rPr lang="en-US" sz="2400" dirty="0" err="1" smtClean="0"/>
              <a:t>BusyHands</a:t>
            </a:r>
            <a:r>
              <a:rPr lang="en-US" sz="2400" dirty="0" smtClean="0"/>
              <a:t>');</a:t>
            </a:r>
          </a:p>
          <a:p>
            <a:pPr>
              <a:buNone/>
            </a:pPr>
            <a:r>
              <a:rPr lang="en-US" sz="2400" dirty="0" smtClean="0"/>
              <a:t>insert into product values(3, 'gizmo', '</a:t>
            </a:r>
            <a:r>
              <a:rPr lang="en-US" sz="2400" dirty="0" err="1" smtClean="0"/>
              <a:t>GizmoWorks</a:t>
            </a:r>
            <a:r>
              <a:rPr lang="en-US" sz="2400" dirty="0" smtClean="0"/>
              <a:t>');</a:t>
            </a:r>
          </a:p>
          <a:p>
            <a:pPr>
              <a:buNone/>
            </a:pPr>
            <a:r>
              <a:rPr lang="en-US" sz="2400" dirty="0" smtClean="0"/>
              <a:t>insert into product values(4, 'gadget', '</a:t>
            </a:r>
            <a:r>
              <a:rPr lang="en-US" sz="2400" dirty="0" err="1" smtClean="0"/>
              <a:t>BusyHands</a:t>
            </a:r>
            <a:r>
              <a:rPr lang="en-US" sz="2400" dirty="0" smtClean="0"/>
              <a:t>');</a:t>
            </a:r>
          </a:p>
          <a:p>
            <a:pPr>
              <a:buNone/>
            </a:pPr>
            <a:r>
              <a:rPr lang="en-US" sz="2400" dirty="0" smtClean="0"/>
              <a:t>insert into product values(5, '</a:t>
            </a:r>
            <a:r>
              <a:rPr lang="en-US" sz="2400" dirty="0" err="1"/>
              <a:t>powerGizmo</a:t>
            </a:r>
            <a:r>
              <a:rPr lang="en-US" sz="2400" dirty="0"/>
              <a:t>', '</a:t>
            </a:r>
            <a:r>
              <a:rPr lang="en-US" sz="2400" dirty="0" err="1" smtClean="0"/>
              <a:t>PowerWorks</a:t>
            </a:r>
            <a:r>
              <a:rPr lang="en-US" sz="2400" dirty="0"/>
              <a:t>')</a:t>
            </a:r>
            <a:r>
              <a:rPr lang="en-US" sz="2400" dirty="0" smtClean="0"/>
              <a:t>;</a:t>
            </a:r>
            <a:endParaRPr lang="en-US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E04AAC-6528-3748-806F-374DD08AAB7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Aggregate + Join Example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33400" y="2514600"/>
            <a:ext cx="4759135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dirty="0" err="1" smtClean="0">
                <a:latin typeface="Arial"/>
                <a:cs typeface="Arial"/>
              </a:rPr>
              <a:t>x.manufacturer</a:t>
            </a:r>
            <a:r>
              <a:rPr lang="en-US" dirty="0" smtClean="0">
                <a:latin typeface="Arial"/>
                <a:cs typeface="Arial"/>
              </a:rPr>
              <a:t>, count(*)</a:t>
            </a:r>
          </a:p>
          <a:p>
            <a:pPr eaLnBrk="0" hangingPunct="0"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dirty="0" smtClean="0">
                <a:solidFill>
                  <a:srgbClr val="000000"/>
                </a:solidFill>
                <a:latin typeface="Arial"/>
                <a:cs typeface="Arial"/>
              </a:rPr>
              <a:t>Product </a:t>
            </a:r>
            <a:r>
              <a:rPr lang="en-US" dirty="0" err="1" smtClean="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lang="en-US" dirty="0" smtClean="0">
                <a:solidFill>
                  <a:srgbClr val="000000"/>
                </a:solidFill>
                <a:latin typeface="Arial"/>
                <a:cs typeface="Arial"/>
              </a:rPr>
              <a:t>, Purchase </a:t>
            </a:r>
            <a:r>
              <a:rPr lang="en-US" dirty="0" err="1" smtClean="0">
                <a:solidFill>
                  <a:srgbClr val="000000"/>
                </a:solidFill>
                <a:latin typeface="Arial"/>
                <a:cs typeface="Arial"/>
              </a:rPr>
              <a:t>y</a:t>
            </a:r>
            <a:endParaRPr lang="en-US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WHERE </a:t>
            </a:r>
            <a:r>
              <a:rPr lang="en-US" dirty="0" err="1" smtClean="0">
                <a:solidFill>
                  <a:srgbClr val="000000"/>
                </a:solidFill>
                <a:latin typeface="Arial"/>
                <a:cs typeface="Arial"/>
              </a:rPr>
              <a:t>x.pname</a:t>
            </a:r>
            <a:r>
              <a:rPr lang="en-US" dirty="0" smtClean="0">
                <a:solidFill>
                  <a:srgbClr val="000000"/>
                </a:solidFill>
                <a:latin typeface="Arial"/>
                <a:cs typeface="Arial"/>
              </a:rPr>
              <a:t> = </a:t>
            </a:r>
            <a:r>
              <a:rPr lang="en-US" dirty="0" err="1" smtClean="0">
                <a:solidFill>
                  <a:srgbClr val="000000"/>
                </a:solidFill>
                <a:latin typeface="Arial"/>
                <a:cs typeface="Arial"/>
              </a:rPr>
              <a:t>y.product</a:t>
            </a:r>
            <a:endParaRPr lang="en-US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 smtClean="0">
                <a:solidFill>
                  <a:srgbClr val="FF0066"/>
                </a:solidFill>
                <a:latin typeface="Arial"/>
                <a:cs typeface="Arial"/>
              </a:rPr>
              <a:t>GROUP BY  </a:t>
            </a:r>
            <a:r>
              <a:rPr lang="en-US" dirty="0" err="1" smtClean="0">
                <a:solidFill>
                  <a:srgbClr val="000000"/>
                </a:solidFill>
                <a:latin typeface="Arial"/>
                <a:cs typeface="Arial"/>
              </a:rPr>
              <a:t>x.manufacturer</a:t>
            </a: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5334000" y="1828800"/>
            <a:ext cx="3050424" cy="1168539"/>
          </a:xfrm>
          <a:prstGeom prst="wedgeEllipseCallout">
            <a:avLst>
              <a:gd name="adj1" fmla="val -25312"/>
              <a:gd name="adj2" fmla="val 115886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Arial"/>
                <a:cs typeface="Arial"/>
              </a:rPr>
              <a:t>What do these </a:t>
            </a:r>
          </a:p>
          <a:p>
            <a:pPr algn="ctr"/>
            <a:r>
              <a:rPr lang="en-US" dirty="0" smtClean="0">
                <a:latin typeface="Arial"/>
                <a:cs typeface="Arial"/>
              </a:rPr>
              <a:t>query mean?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2760886" y="4297740"/>
            <a:ext cx="6002114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hangingPunct="0"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dirty="0" err="1" smtClean="0">
                <a:solidFill>
                  <a:srgbClr val="000000"/>
                </a:solidFill>
                <a:latin typeface="Arial"/>
                <a:cs typeface="Arial"/>
              </a:rPr>
              <a:t>x.manufacturer</a:t>
            </a:r>
            <a:r>
              <a:rPr lang="en-US" dirty="0" smtClean="0">
                <a:solidFill>
                  <a:srgbClr val="000000"/>
                </a:solidFill>
                <a:latin typeface="Arial"/>
                <a:cs typeface="Arial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latin typeface="Arial"/>
                <a:cs typeface="Arial"/>
              </a:rPr>
              <a:t>y.month</a:t>
            </a:r>
            <a:r>
              <a:rPr lang="en-US" dirty="0" smtClean="0">
                <a:solidFill>
                  <a:srgbClr val="000000"/>
                </a:solidFill>
                <a:latin typeface="Arial"/>
                <a:cs typeface="Arial"/>
              </a:rPr>
              <a:t>, count(*)</a:t>
            </a:r>
          </a:p>
          <a:p>
            <a:pPr eaLnBrk="0" hangingPunct="0"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dirty="0" smtClean="0">
                <a:solidFill>
                  <a:srgbClr val="000000"/>
                </a:solidFill>
                <a:latin typeface="Arial"/>
                <a:cs typeface="Arial"/>
              </a:rPr>
              <a:t>Product </a:t>
            </a:r>
            <a:r>
              <a:rPr lang="en-US" dirty="0" err="1" smtClean="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lang="en-US" dirty="0" smtClean="0">
                <a:solidFill>
                  <a:srgbClr val="000000"/>
                </a:solidFill>
                <a:latin typeface="Arial"/>
                <a:cs typeface="Arial"/>
              </a:rPr>
              <a:t>, Purchase </a:t>
            </a:r>
            <a:r>
              <a:rPr lang="en-US" dirty="0" err="1" smtClean="0">
                <a:solidFill>
                  <a:srgbClr val="000000"/>
                </a:solidFill>
                <a:latin typeface="Arial"/>
                <a:cs typeface="Arial"/>
              </a:rPr>
              <a:t>y</a:t>
            </a:r>
            <a:endParaRPr lang="en-US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 smtClean="0">
                <a:solidFill>
                  <a:schemeClr val="accent2"/>
                </a:solidFill>
                <a:latin typeface="Arial"/>
                <a:cs typeface="Arial"/>
              </a:rPr>
              <a:t>WHERE </a:t>
            </a:r>
            <a:r>
              <a:rPr lang="en-US" dirty="0" err="1" smtClean="0">
                <a:solidFill>
                  <a:srgbClr val="000000"/>
                </a:solidFill>
                <a:latin typeface="Arial"/>
                <a:cs typeface="Arial"/>
              </a:rPr>
              <a:t>x.pname</a:t>
            </a:r>
            <a:r>
              <a:rPr lang="en-US" dirty="0" smtClean="0">
                <a:solidFill>
                  <a:srgbClr val="000000"/>
                </a:solidFill>
                <a:latin typeface="Arial"/>
                <a:cs typeface="Arial"/>
              </a:rPr>
              <a:t> = </a:t>
            </a:r>
            <a:r>
              <a:rPr lang="en-US" dirty="0" err="1" smtClean="0">
                <a:solidFill>
                  <a:srgbClr val="000000"/>
                </a:solidFill>
                <a:latin typeface="Arial"/>
                <a:cs typeface="Arial"/>
              </a:rPr>
              <a:t>y.product</a:t>
            </a:r>
            <a:endParaRPr lang="en-US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eaLnBrk="0" hangingPunct="0">
              <a:defRPr/>
            </a:pPr>
            <a:r>
              <a:rPr lang="en-US" dirty="0" smtClean="0">
                <a:solidFill>
                  <a:srgbClr val="FF0066"/>
                </a:solidFill>
                <a:latin typeface="Arial"/>
                <a:cs typeface="Arial"/>
              </a:rPr>
              <a:t>GROUP BY  </a:t>
            </a:r>
            <a:r>
              <a:rPr lang="en-US" dirty="0" err="1" smtClean="0">
                <a:solidFill>
                  <a:srgbClr val="000000"/>
                </a:solidFill>
                <a:latin typeface="Arial"/>
                <a:cs typeface="Arial"/>
              </a:rPr>
              <a:t>x.manufacturer</a:t>
            </a:r>
            <a:r>
              <a:rPr lang="en-US" dirty="0" smtClean="0">
                <a:solidFill>
                  <a:srgbClr val="000000"/>
                </a:solidFill>
                <a:latin typeface="Arial"/>
                <a:cs typeface="Arial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latin typeface="Arial"/>
                <a:cs typeface="Arial"/>
              </a:rPr>
              <a:t>y.month</a:t>
            </a: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5FF561-222E-4B46-9CBC-9AC2D4056C4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General form of </a:t>
            </a:r>
            <a:r>
              <a:rPr lang="en-US" dirty="0" smtClean="0"/>
              <a:t>Grouping</a:t>
            </a:r>
            <a:br>
              <a:rPr lang="en-US" dirty="0" smtClean="0"/>
            </a:br>
            <a:r>
              <a:rPr lang="en-US" dirty="0" smtClean="0"/>
              <a:t>and </a:t>
            </a:r>
            <a:r>
              <a:rPr lang="en-US" dirty="0"/>
              <a:t>Aggregation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67200"/>
            <a:ext cx="7772400" cy="2057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 smtClean="0"/>
              <a:t>S </a:t>
            </a:r>
            <a:r>
              <a:rPr lang="en-US" sz="2400" dirty="0"/>
              <a:t>= may contain attributes a</a:t>
            </a:r>
            <a:r>
              <a:rPr lang="en-US" sz="2400" baseline="-25000" dirty="0"/>
              <a:t>1</a:t>
            </a:r>
            <a:r>
              <a:rPr lang="en-US" sz="2400" dirty="0"/>
              <a:t>,…,</a:t>
            </a:r>
            <a:r>
              <a:rPr lang="en-US" sz="2400" dirty="0" err="1"/>
              <a:t>a</a:t>
            </a:r>
            <a:r>
              <a:rPr lang="en-US" sz="2400" baseline="-25000" dirty="0" err="1"/>
              <a:t>k</a:t>
            </a:r>
            <a:r>
              <a:rPr lang="en-US" sz="2400" dirty="0"/>
              <a:t> and/or </a:t>
            </a:r>
            <a:r>
              <a:rPr lang="en-US" sz="2400" dirty="0" smtClean="0"/>
              <a:t>any aggregates </a:t>
            </a:r>
            <a:r>
              <a:rPr lang="en-US" sz="2400" dirty="0"/>
              <a:t>but NO OTHER ATTRIBUTES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/>
              <a:t>C1 = is any condition on the attributes in R</a:t>
            </a:r>
            <a:r>
              <a:rPr lang="en-US" sz="2400" baseline="-25000" dirty="0"/>
              <a:t>1</a:t>
            </a:r>
            <a:r>
              <a:rPr lang="en-US" sz="2400" dirty="0"/>
              <a:t>,…,</a:t>
            </a:r>
            <a:r>
              <a:rPr lang="en-US" sz="2400" dirty="0" err="1"/>
              <a:t>R</a:t>
            </a:r>
            <a:r>
              <a:rPr lang="en-US" sz="2400" baseline="-25000" dirty="0" err="1"/>
              <a:t>n</a:t>
            </a:r>
            <a:endParaRPr lang="en-US" sz="2400" baseline="-250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/>
              <a:t>C2 = is any condition on aggregate </a:t>
            </a:r>
            <a:r>
              <a:rPr lang="en-US" sz="2400" dirty="0" smtClean="0"/>
              <a:t>expressions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 smtClean="0"/>
              <a:t>	and on attributes a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,…,</a:t>
            </a:r>
            <a:r>
              <a:rPr lang="en-US" sz="2400" dirty="0" err="1" smtClean="0"/>
              <a:t>a</a:t>
            </a:r>
            <a:r>
              <a:rPr lang="en-US" sz="2400" baseline="-25000" dirty="0" err="1" smtClean="0"/>
              <a:t>k</a:t>
            </a:r>
            <a:endParaRPr lang="en-US" sz="2400" dirty="0"/>
          </a:p>
        </p:txBody>
      </p:sp>
      <p:sp>
        <p:nvSpPr>
          <p:cNvPr id="43013" name="AutoShape 4"/>
          <p:cNvSpPr>
            <a:spLocks noChangeArrowheads="1"/>
          </p:cNvSpPr>
          <p:nvPr/>
        </p:nvSpPr>
        <p:spPr bwMode="auto">
          <a:xfrm>
            <a:off x="7543800" y="3190875"/>
            <a:ext cx="1486202" cy="649188"/>
          </a:xfrm>
          <a:prstGeom prst="wedgeEllipseCallout">
            <a:avLst>
              <a:gd name="adj1" fmla="val -84789"/>
              <a:gd name="adj2" fmla="val 200223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Why ?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85800" y="1905000"/>
            <a:ext cx="3657600" cy="221958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2600" dirty="0" smtClean="0">
                <a:latin typeface="Arial"/>
                <a:cs typeface="Arial"/>
              </a:rPr>
              <a:t>	S</a:t>
            </a:r>
            <a:endParaRPr lang="en-US" sz="2600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600" dirty="0" smtClean="0">
                <a:latin typeface="Arial"/>
                <a:cs typeface="Arial"/>
              </a:rPr>
              <a:t>	R</a:t>
            </a:r>
            <a:r>
              <a:rPr lang="en-US" sz="2600" baseline="-25000" dirty="0" smtClean="0">
                <a:latin typeface="Arial"/>
                <a:cs typeface="Arial"/>
              </a:rPr>
              <a:t>1</a:t>
            </a:r>
            <a:r>
              <a:rPr lang="en-US" sz="2600" dirty="0">
                <a:latin typeface="Arial"/>
                <a:cs typeface="Arial"/>
              </a:rPr>
              <a:t>,…,</a:t>
            </a:r>
            <a:r>
              <a:rPr lang="en-US" sz="2600" dirty="0" err="1">
                <a:latin typeface="Arial"/>
                <a:cs typeface="Arial"/>
              </a:rPr>
              <a:t>R</a:t>
            </a:r>
            <a:r>
              <a:rPr lang="en-US" sz="2600" baseline="-25000" dirty="0" err="1">
                <a:latin typeface="Arial"/>
                <a:cs typeface="Arial"/>
              </a:rPr>
              <a:t>n</a:t>
            </a:r>
            <a:endParaRPr lang="en-US" sz="2600" baseline="-25000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600" dirty="0" smtClean="0">
                <a:latin typeface="Arial"/>
                <a:cs typeface="Arial"/>
              </a:rPr>
              <a:t>	C1</a:t>
            </a:r>
            <a:endParaRPr lang="en-US" sz="2600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>
                <a:solidFill>
                  <a:schemeClr val="accent2"/>
                </a:solidFill>
                <a:latin typeface="Arial"/>
                <a:cs typeface="Arial"/>
              </a:rPr>
              <a:t>GROUP BY</a:t>
            </a:r>
            <a:r>
              <a:rPr lang="en-US" sz="2600" dirty="0">
                <a:latin typeface="Arial"/>
                <a:cs typeface="Arial"/>
              </a:rPr>
              <a:t> a</a:t>
            </a:r>
            <a:r>
              <a:rPr lang="en-US" sz="2600" baseline="-25000" dirty="0">
                <a:latin typeface="Arial"/>
                <a:cs typeface="Arial"/>
              </a:rPr>
              <a:t>1</a:t>
            </a:r>
            <a:r>
              <a:rPr lang="en-US" sz="2600" dirty="0">
                <a:latin typeface="Arial"/>
                <a:cs typeface="Arial"/>
              </a:rPr>
              <a:t>,…,</a:t>
            </a:r>
            <a:r>
              <a:rPr lang="en-US" sz="2600" dirty="0" err="1">
                <a:latin typeface="Arial"/>
                <a:cs typeface="Arial"/>
              </a:rPr>
              <a:t>a</a:t>
            </a:r>
            <a:r>
              <a:rPr lang="en-US" sz="2600" baseline="-25000" dirty="0" err="1">
                <a:latin typeface="Arial"/>
                <a:cs typeface="Arial"/>
              </a:rPr>
              <a:t>k</a:t>
            </a:r>
            <a:endParaRPr lang="en-US" sz="2600" baseline="-25000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HAVING</a:t>
            </a:r>
            <a:r>
              <a:rPr lang="en-US" sz="2600" dirty="0" smtClean="0">
                <a:latin typeface="Arial"/>
                <a:cs typeface="Arial"/>
              </a:rPr>
              <a:t>	C2</a:t>
            </a:r>
            <a:endParaRPr lang="en-US" sz="2600" dirty="0">
              <a:latin typeface="Arial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E04AAC-6528-3748-806F-374DD08AAB7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Semantics of SQL </a:t>
            </a:r>
            <a:r>
              <a:rPr lang="en-US" smtClean="0"/>
              <a:t>With Group-By</a:t>
            </a:r>
            <a:endParaRPr lang="en-US" dirty="0"/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4114800"/>
            <a:ext cx="8571577" cy="2234458"/>
          </a:xfrm>
          <a:noFill/>
        </p:spPr>
        <p:txBody>
          <a:bodyPr wrap="none">
            <a:spAutoFit/>
          </a:bodyPr>
          <a:lstStyle/>
          <a:p>
            <a:pPr marL="609600" indent="-609600" eaLnBrk="1" hangingPunct="1">
              <a:buFontTx/>
              <a:buNone/>
            </a:pPr>
            <a:r>
              <a:rPr lang="en-US" sz="2400" dirty="0"/>
              <a:t>Evaluation steps: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sz="2400" dirty="0"/>
              <a:t>Evaluate FROM-</a:t>
            </a:r>
            <a:r>
              <a:rPr lang="en-US" sz="2400" dirty="0" smtClean="0"/>
              <a:t>WHERE</a:t>
            </a:r>
            <a:r>
              <a:rPr lang="en-US" sz="2400" dirty="0"/>
              <a:t> </a:t>
            </a:r>
            <a:r>
              <a:rPr lang="en-US" sz="2400" dirty="0" smtClean="0"/>
              <a:t>using Nested </a:t>
            </a:r>
            <a:r>
              <a:rPr lang="en-US" sz="2400" dirty="0"/>
              <a:t>L</a:t>
            </a:r>
            <a:r>
              <a:rPr lang="en-US" sz="2400" dirty="0" smtClean="0"/>
              <a:t>oop Semantics</a:t>
            </a:r>
            <a:endParaRPr lang="en-US" sz="2400" dirty="0"/>
          </a:p>
          <a:p>
            <a:pPr marL="609600" indent="-609600" eaLnBrk="1" hangingPunct="1">
              <a:buFontTx/>
              <a:buAutoNum type="arabicPeriod"/>
            </a:pPr>
            <a:r>
              <a:rPr lang="en-US" sz="2400" dirty="0"/>
              <a:t>Group by the attributes a</a:t>
            </a:r>
            <a:r>
              <a:rPr lang="en-US" sz="2400" baseline="-25000" dirty="0"/>
              <a:t>1</a:t>
            </a:r>
            <a:r>
              <a:rPr lang="en-US" sz="2400" dirty="0"/>
              <a:t>,…,</a:t>
            </a:r>
            <a:r>
              <a:rPr lang="en-US" sz="2400" dirty="0" err="1"/>
              <a:t>a</a:t>
            </a:r>
            <a:r>
              <a:rPr lang="en-US" sz="2400" baseline="-25000" dirty="0" err="1"/>
              <a:t>k</a:t>
            </a:r>
            <a:r>
              <a:rPr lang="en-US" baseline="-25000" dirty="0"/>
              <a:t> </a:t>
            </a:r>
            <a:endParaRPr lang="en-US" sz="2400" dirty="0"/>
          </a:p>
          <a:p>
            <a:pPr marL="609600" indent="-609600" eaLnBrk="1" hangingPunct="1">
              <a:buFontTx/>
              <a:buAutoNum type="arabicPeriod"/>
            </a:pPr>
            <a:r>
              <a:rPr lang="en-US" sz="2400" dirty="0"/>
              <a:t>Apply condition C2 to each group (may have aggregates)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sz="2400" dirty="0"/>
              <a:t>Compute aggregates in S and return the result</a:t>
            </a:r>
          </a:p>
        </p:txBody>
      </p:sp>
      <p:sp>
        <p:nvSpPr>
          <p:cNvPr id="188420" name="Rectangle 4"/>
          <p:cNvSpPr>
            <a:spLocks noChangeArrowheads="1"/>
          </p:cNvSpPr>
          <p:nvPr/>
        </p:nvSpPr>
        <p:spPr bwMode="auto">
          <a:xfrm>
            <a:off x="685800" y="1895218"/>
            <a:ext cx="3657600" cy="221958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SELECT</a:t>
            </a:r>
            <a:r>
              <a:rPr lang="en-US" sz="2600" dirty="0" smtClean="0">
                <a:latin typeface="Arial"/>
                <a:cs typeface="Arial"/>
              </a:rPr>
              <a:t>	S</a:t>
            </a:r>
            <a:endParaRPr lang="en-US" sz="2600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FROM</a:t>
            </a:r>
            <a:r>
              <a:rPr lang="en-US" sz="2600" dirty="0" smtClean="0">
                <a:latin typeface="Arial"/>
                <a:cs typeface="Arial"/>
              </a:rPr>
              <a:t>	R</a:t>
            </a:r>
            <a:r>
              <a:rPr lang="en-US" sz="2600" baseline="-25000" dirty="0" smtClean="0">
                <a:latin typeface="Arial"/>
                <a:cs typeface="Arial"/>
              </a:rPr>
              <a:t>1</a:t>
            </a:r>
            <a:r>
              <a:rPr lang="en-US" sz="2600" dirty="0">
                <a:latin typeface="Arial"/>
                <a:cs typeface="Arial"/>
              </a:rPr>
              <a:t>,…,</a:t>
            </a:r>
            <a:r>
              <a:rPr lang="en-US" sz="2600" dirty="0" err="1">
                <a:latin typeface="Arial"/>
                <a:cs typeface="Arial"/>
              </a:rPr>
              <a:t>R</a:t>
            </a:r>
            <a:r>
              <a:rPr lang="en-US" sz="2600" baseline="-25000" dirty="0" err="1">
                <a:latin typeface="Arial"/>
                <a:cs typeface="Arial"/>
              </a:rPr>
              <a:t>n</a:t>
            </a:r>
            <a:endParaRPr lang="en-US" sz="2600" baseline="-25000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WHERE</a:t>
            </a:r>
            <a:r>
              <a:rPr lang="en-US" sz="2600" dirty="0" smtClean="0">
                <a:latin typeface="Arial"/>
                <a:cs typeface="Arial"/>
              </a:rPr>
              <a:t>	C1</a:t>
            </a:r>
            <a:endParaRPr lang="en-US" sz="2600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>
                <a:solidFill>
                  <a:schemeClr val="accent2"/>
                </a:solidFill>
                <a:latin typeface="Arial"/>
                <a:cs typeface="Arial"/>
              </a:rPr>
              <a:t>GROUP BY</a:t>
            </a:r>
            <a:r>
              <a:rPr lang="en-US" sz="2600" dirty="0">
                <a:latin typeface="Arial"/>
                <a:cs typeface="Arial"/>
              </a:rPr>
              <a:t> a</a:t>
            </a:r>
            <a:r>
              <a:rPr lang="en-US" sz="2600" baseline="-25000" dirty="0">
                <a:latin typeface="Arial"/>
                <a:cs typeface="Arial"/>
              </a:rPr>
              <a:t>1</a:t>
            </a:r>
            <a:r>
              <a:rPr lang="en-US" sz="2600" dirty="0">
                <a:latin typeface="Arial"/>
                <a:cs typeface="Arial"/>
              </a:rPr>
              <a:t>,…,</a:t>
            </a:r>
            <a:r>
              <a:rPr lang="en-US" sz="2600" dirty="0" err="1">
                <a:latin typeface="Arial"/>
                <a:cs typeface="Arial"/>
              </a:rPr>
              <a:t>a</a:t>
            </a:r>
            <a:r>
              <a:rPr lang="en-US" sz="2600" baseline="-25000" dirty="0" err="1">
                <a:latin typeface="Arial"/>
                <a:cs typeface="Arial"/>
              </a:rPr>
              <a:t>k</a:t>
            </a:r>
            <a:endParaRPr lang="en-US" sz="2600" baseline="-25000" dirty="0"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HAVING</a:t>
            </a:r>
            <a:r>
              <a:rPr lang="en-US" sz="2600" dirty="0" smtClean="0">
                <a:latin typeface="Arial"/>
                <a:cs typeface="Arial"/>
              </a:rPr>
              <a:t>	C2</a:t>
            </a:r>
            <a:endParaRPr lang="en-US" sz="2600" dirty="0">
              <a:latin typeface="Arial"/>
              <a:cs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19400" y="6400800"/>
            <a:ext cx="3352800" cy="457200"/>
          </a:xfrm>
        </p:spPr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5FF561-222E-4B46-9CBC-9AC2D4056C4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Empty Groups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result of a group by query, there is one row per group in the result</a:t>
            </a:r>
          </a:p>
          <a:p>
            <a:r>
              <a:rPr lang="en-US" dirty="0" smtClean="0"/>
              <a:t>No group can be empty!</a:t>
            </a:r>
          </a:p>
          <a:p>
            <a:r>
              <a:rPr lang="en-US" dirty="0" smtClean="0"/>
              <a:t>In particular, count(*) is never 0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4191000"/>
            <a:ext cx="5257800" cy="17794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sz="2600" dirty="0" err="1" smtClean="0">
                <a:latin typeface="Arial"/>
                <a:cs typeface="Arial"/>
              </a:rPr>
              <a:t>x.manufacturer</a:t>
            </a:r>
            <a:r>
              <a:rPr lang="en-US" sz="2600" dirty="0" smtClean="0">
                <a:latin typeface="Arial"/>
                <a:cs typeface="Arial"/>
              </a:rPr>
              <a:t>, count(*)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sz="2600" dirty="0" smtClean="0">
                <a:solidFill>
                  <a:srgbClr val="000000"/>
                </a:solidFill>
                <a:latin typeface="Arial"/>
                <a:cs typeface="Arial"/>
              </a:rPr>
              <a:t>Product </a:t>
            </a:r>
            <a:r>
              <a:rPr lang="en-US" sz="2600" dirty="0" err="1" smtClean="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lang="en-US" sz="2600" dirty="0" smtClean="0">
                <a:solidFill>
                  <a:srgbClr val="000000"/>
                </a:solidFill>
                <a:latin typeface="Arial"/>
                <a:cs typeface="Arial"/>
              </a:rPr>
              <a:t>, Purchase </a:t>
            </a:r>
            <a:r>
              <a:rPr lang="en-US" sz="2600" dirty="0" err="1" smtClean="0">
                <a:solidFill>
                  <a:srgbClr val="000000"/>
                </a:solidFill>
                <a:latin typeface="Arial"/>
                <a:cs typeface="Arial"/>
              </a:rPr>
              <a:t>y</a:t>
            </a:r>
            <a:endParaRPr lang="en-US" sz="26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WHERE </a:t>
            </a:r>
            <a:r>
              <a:rPr lang="en-US" sz="2600" dirty="0" err="1" smtClean="0">
                <a:solidFill>
                  <a:srgbClr val="000000"/>
                </a:solidFill>
                <a:latin typeface="Arial"/>
                <a:cs typeface="Arial"/>
              </a:rPr>
              <a:t>x.pname</a:t>
            </a:r>
            <a:r>
              <a:rPr lang="en-US" sz="2600" dirty="0" smtClean="0">
                <a:solidFill>
                  <a:srgbClr val="000000"/>
                </a:solidFill>
                <a:latin typeface="Arial"/>
                <a:cs typeface="Arial"/>
              </a:rPr>
              <a:t> = </a:t>
            </a:r>
            <a:r>
              <a:rPr lang="en-US" sz="2600" dirty="0" err="1" smtClean="0">
                <a:solidFill>
                  <a:srgbClr val="000000"/>
                </a:solidFill>
                <a:latin typeface="Arial"/>
                <a:cs typeface="Arial"/>
              </a:rPr>
              <a:t>y.product</a:t>
            </a:r>
            <a:endParaRPr lang="en-US" sz="26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GROUP BY </a:t>
            </a:r>
            <a:r>
              <a:rPr lang="en-US" sz="2600" dirty="0" err="1" smtClean="0">
                <a:solidFill>
                  <a:srgbClr val="000000"/>
                </a:solidFill>
                <a:latin typeface="Arial"/>
                <a:cs typeface="Arial"/>
              </a:rPr>
              <a:t>x.manufacturer</a:t>
            </a:r>
            <a:endParaRPr lang="en-US" sz="26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6248400" y="2819400"/>
            <a:ext cx="2819400" cy="1861006"/>
          </a:xfrm>
          <a:prstGeom prst="wedgeEllipseCallout">
            <a:avLst>
              <a:gd name="adj1" fmla="val -61366"/>
              <a:gd name="adj2" fmla="val 68287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 smtClean="0">
                <a:latin typeface="Arial"/>
                <a:cs typeface="Arial"/>
              </a:rPr>
              <a:t>What if there are no purchases for a  manufacturer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E04AAC-6528-3748-806F-374DD08AAB7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Empty Groups: Example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7200" y="1981200"/>
            <a:ext cx="4038600" cy="133934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sz="2600" dirty="0" smtClean="0">
                <a:solidFill>
                  <a:srgbClr val="000000"/>
                </a:solidFill>
                <a:latin typeface="Arial"/>
                <a:cs typeface="Arial"/>
              </a:rPr>
              <a:t>product, count(*)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sz="2600" dirty="0" smtClean="0">
                <a:solidFill>
                  <a:srgbClr val="000000"/>
                </a:solidFill>
                <a:latin typeface="Arial"/>
                <a:cs typeface="Arial"/>
              </a:rPr>
              <a:t>purchase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GROUP BY </a:t>
            </a:r>
            <a:r>
              <a:rPr lang="en-US" sz="2600" dirty="0" smtClean="0">
                <a:solidFill>
                  <a:srgbClr val="000000"/>
                </a:solidFill>
                <a:latin typeface="Arial"/>
                <a:cs typeface="Arial"/>
              </a:rPr>
              <a:t>product</a:t>
            </a:r>
            <a:endParaRPr lang="en-US" sz="26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724400" y="1981200"/>
            <a:ext cx="4038600" cy="17794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sz="2600" dirty="0" smtClean="0">
                <a:solidFill>
                  <a:srgbClr val="000000"/>
                </a:solidFill>
                <a:latin typeface="Arial"/>
                <a:cs typeface="Arial"/>
              </a:rPr>
              <a:t>product, count(*)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sz="2600" dirty="0" smtClean="0">
                <a:solidFill>
                  <a:srgbClr val="000000"/>
                </a:solidFill>
                <a:latin typeface="Arial"/>
                <a:cs typeface="Arial"/>
              </a:rPr>
              <a:t>purchase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rgbClr val="3333CC"/>
                </a:solidFill>
                <a:latin typeface="Arial"/>
                <a:cs typeface="Arial"/>
              </a:rPr>
              <a:t>WHERE</a:t>
            </a:r>
            <a:r>
              <a:rPr lang="en-US" sz="2600" dirty="0" smtClean="0">
                <a:latin typeface="Arial"/>
                <a:cs typeface="Arial"/>
              </a:rPr>
              <a:t> price &gt; 2.0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GROUP BY </a:t>
            </a:r>
            <a:r>
              <a:rPr lang="en-US" sz="2600" dirty="0" smtClean="0">
                <a:solidFill>
                  <a:srgbClr val="000000"/>
                </a:solidFill>
                <a:latin typeface="Arial"/>
                <a:cs typeface="Arial"/>
              </a:rPr>
              <a:t>product</a:t>
            </a:r>
            <a:endParaRPr lang="en-US" sz="26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1066800" y="3962400"/>
            <a:ext cx="3124200" cy="995422"/>
          </a:xfrm>
          <a:prstGeom prst="wedgeEllipseCallout">
            <a:avLst>
              <a:gd name="adj1" fmla="val -13274"/>
              <a:gd name="adj2" fmla="val -93953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Arial"/>
                <a:cs typeface="Arial"/>
              </a:rPr>
              <a:t>5</a:t>
            </a:r>
            <a:r>
              <a:rPr lang="en-US" sz="2000" dirty="0" smtClean="0">
                <a:latin typeface="Arial"/>
                <a:cs typeface="Arial"/>
              </a:rPr>
              <a:t> groups in our example dataset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5334000" y="4800600"/>
            <a:ext cx="3124200" cy="995422"/>
          </a:xfrm>
          <a:prstGeom prst="wedgeEllipseCallout">
            <a:avLst>
              <a:gd name="adj1" fmla="val -10564"/>
              <a:gd name="adj2" fmla="val -131378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 smtClean="0">
                <a:latin typeface="Arial"/>
                <a:cs typeface="Arial"/>
              </a:rPr>
              <a:t>3 groups in our example dataset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E04AAC-6528-3748-806F-374DD08AAB7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Empty Group Problem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3124200"/>
            <a:ext cx="5257800" cy="17794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sz="2600" dirty="0" err="1" smtClean="0">
                <a:latin typeface="Arial"/>
                <a:cs typeface="Arial"/>
              </a:rPr>
              <a:t>x.manufacturer</a:t>
            </a:r>
            <a:r>
              <a:rPr lang="en-US" sz="2600" dirty="0" smtClean="0">
                <a:latin typeface="Arial"/>
                <a:cs typeface="Arial"/>
              </a:rPr>
              <a:t>, count(*)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sz="2600" dirty="0" smtClean="0">
                <a:solidFill>
                  <a:srgbClr val="000000"/>
                </a:solidFill>
                <a:latin typeface="Arial"/>
                <a:cs typeface="Arial"/>
              </a:rPr>
              <a:t>Product </a:t>
            </a:r>
            <a:r>
              <a:rPr lang="en-US" sz="2600" dirty="0" err="1" smtClean="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lang="en-US" sz="2600" dirty="0" smtClean="0">
                <a:solidFill>
                  <a:srgbClr val="000000"/>
                </a:solidFill>
                <a:latin typeface="Arial"/>
                <a:cs typeface="Arial"/>
              </a:rPr>
              <a:t>, Purchase </a:t>
            </a:r>
            <a:r>
              <a:rPr lang="en-US" sz="2600" dirty="0" err="1" smtClean="0">
                <a:solidFill>
                  <a:srgbClr val="000000"/>
                </a:solidFill>
                <a:latin typeface="Arial"/>
                <a:cs typeface="Arial"/>
              </a:rPr>
              <a:t>y</a:t>
            </a:r>
            <a:endParaRPr lang="en-US" sz="26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WHERE </a:t>
            </a:r>
            <a:r>
              <a:rPr lang="en-US" sz="2600" dirty="0" err="1" smtClean="0">
                <a:solidFill>
                  <a:srgbClr val="000000"/>
                </a:solidFill>
                <a:latin typeface="Arial"/>
                <a:cs typeface="Arial"/>
              </a:rPr>
              <a:t>x.pname</a:t>
            </a:r>
            <a:r>
              <a:rPr lang="en-US" sz="2600" dirty="0" smtClean="0">
                <a:solidFill>
                  <a:srgbClr val="000000"/>
                </a:solidFill>
                <a:latin typeface="Arial"/>
                <a:cs typeface="Arial"/>
              </a:rPr>
              <a:t> = </a:t>
            </a:r>
            <a:r>
              <a:rPr lang="en-US" sz="2600" dirty="0" err="1" smtClean="0">
                <a:solidFill>
                  <a:srgbClr val="000000"/>
                </a:solidFill>
                <a:latin typeface="Arial"/>
                <a:cs typeface="Arial"/>
              </a:rPr>
              <a:t>y.product</a:t>
            </a:r>
            <a:endParaRPr lang="en-US" sz="26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GROUP BY </a:t>
            </a:r>
            <a:r>
              <a:rPr lang="en-US" sz="2600" dirty="0" err="1" smtClean="0">
                <a:solidFill>
                  <a:srgbClr val="000000"/>
                </a:solidFill>
                <a:latin typeface="Arial"/>
                <a:cs typeface="Arial"/>
              </a:rPr>
              <a:t>x.manufacturer</a:t>
            </a:r>
            <a:endParaRPr lang="en-US" sz="26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6248400" y="1752600"/>
            <a:ext cx="2819400" cy="1861006"/>
          </a:xfrm>
          <a:prstGeom prst="wedgeEllipseCallout">
            <a:avLst>
              <a:gd name="adj1" fmla="val -61366"/>
              <a:gd name="adj2" fmla="val 68287"/>
            </a:avLst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 smtClean="0">
                <a:latin typeface="Arial"/>
                <a:cs typeface="Arial"/>
              </a:rPr>
              <a:t>What if there are no purchases for a  manufacturer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E04AAC-6528-3748-806F-374DD08AAB7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Empty Group Solution: </a:t>
            </a:r>
            <a:br>
              <a:rPr lang="en-US" dirty="0" smtClean="0"/>
            </a:br>
            <a:r>
              <a:rPr lang="en-US" dirty="0" smtClean="0"/>
              <a:t>Outer Join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Magda Balazinska - CSE 344, Fall 2012</a:t>
            </a: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33400" y="2438400"/>
            <a:ext cx="8077200" cy="17794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SELECT </a:t>
            </a:r>
            <a:r>
              <a:rPr lang="en-US" sz="2600" dirty="0" err="1" smtClean="0">
                <a:solidFill>
                  <a:srgbClr val="000000"/>
                </a:solidFill>
                <a:latin typeface="Arial"/>
                <a:cs typeface="Arial"/>
              </a:rPr>
              <a:t>x.manufacturer</a:t>
            </a:r>
            <a:r>
              <a:rPr lang="en-US" sz="2600" dirty="0" smtClean="0">
                <a:solidFill>
                  <a:srgbClr val="000000"/>
                </a:solidFill>
                <a:latin typeface="Arial"/>
                <a:cs typeface="Arial"/>
              </a:rPr>
              <a:t>, </a:t>
            </a:r>
            <a:r>
              <a:rPr lang="en-US" sz="2600" dirty="0" err="1" smtClean="0">
                <a:solidFill>
                  <a:srgbClr val="000000"/>
                </a:solidFill>
                <a:latin typeface="Arial"/>
                <a:cs typeface="Arial"/>
              </a:rPr>
              <a:t>count(y.pid</a:t>
            </a:r>
            <a:r>
              <a:rPr lang="en-US" sz="2600" dirty="0" smtClean="0">
                <a:solidFill>
                  <a:srgbClr val="000000"/>
                </a:solidFill>
                <a:latin typeface="Arial"/>
                <a:cs typeface="Arial"/>
              </a:rPr>
              <a:t>)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FROM </a:t>
            </a:r>
            <a:r>
              <a:rPr lang="en-US" sz="2600" dirty="0" smtClean="0">
                <a:solidFill>
                  <a:srgbClr val="000000"/>
                </a:solidFill>
                <a:latin typeface="Arial"/>
                <a:cs typeface="Arial"/>
              </a:rPr>
              <a:t>Product </a:t>
            </a:r>
            <a:r>
              <a:rPr lang="en-US" sz="2600" dirty="0" err="1" smtClean="0">
                <a:solidFill>
                  <a:srgbClr val="000000"/>
                </a:solidFill>
                <a:latin typeface="Arial"/>
                <a:cs typeface="Arial"/>
              </a:rPr>
              <a:t>x</a:t>
            </a: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 LEFT OUTER JOIN </a:t>
            </a:r>
            <a:r>
              <a:rPr lang="en-US" sz="2600" dirty="0" smtClean="0">
                <a:solidFill>
                  <a:srgbClr val="000000"/>
                </a:solidFill>
                <a:latin typeface="Arial"/>
                <a:cs typeface="Arial"/>
              </a:rPr>
              <a:t>Purchase </a:t>
            </a:r>
            <a:r>
              <a:rPr lang="en-US" sz="2600" dirty="0" err="1" smtClean="0">
                <a:solidFill>
                  <a:srgbClr val="000000"/>
                </a:solidFill>
                <a:latin typeface="Arial"/>
                <a:cs typeface="Arial"/>
              </a:rPr>
              <a:t>y</a:t>
            </a: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ON </a:t>
            </a:r>
            <a:r>
              <a:rPr lang="en-US" sz="2600" dirty="0" err="1" smtClean="0">
                <a:solidFill>
                  <a:srgbClr val="000000"/>
                </a:solidFill>
                <a:latin typeface="Arial"/>
                <a:cs typeface="Arial"/>
              </a:rPr>
              <a:t>x.pname</a:t>
            </a:r>
            <a:r>
              <a:rPr lang="en-US" sz="2600" dirty="0" smtClean="0">
                <a:solidFill>
                  <a:srgbClr val="000000"/>
                </a:solidFill>
                <a:latin typeface="Arial"/>
                <a:cs typeface="Arial"/>
              </a:rPr>
              <a:t> = </a:t>
            </a:r>
            <a:r>
              <a:rPr lang="en-US" sz="2600" dirty="0" err="1" smtClean="0">
                <a:solidFill>
                  <a:srgbClr val="000000"/>
                </a:solidFill>
                <a:latin typeface="Arial"/>
                <a:cs typeface="Arial"/>
              </a:rPr>
              <a:t>y.product</a:t>
            </a:r>
            <a:endParaRPr lang="en-US" sz="26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dirty="0" smtClean="0">
                <a:solidFill>
                  <a:schemeClr val="accent2"/>
                </a:solidFill>
                <a:latin typeface="Arial"/>
                <a:cs typeface="Arial"/>
              </a:rPr>
              <a:t>GROUP BY </a:t>
            </a:r>
            <a:r>
              <a:rPr lang="en-US" sz="2600" dirty="0" err="1" smtClean="0">
                <a:solidFill>
                  <a:srgbClr val="000000"/>
                </a:solidFill>
                <a:latin typeface="Arial"/>
                <a:cs typeface="Arial"/>
              </a:rPr>
              <a:t>x.manufacturer</a:t>
            </a:r>
            <a:endParaRPr lang="en-US" sz="26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E04AAC-6528-3748-806F-374DD08AAB7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>
            <a:alpha val="50000"/>
          </a:srgb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17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>
            <a:alpha val="50000"/>
          </a:srgbClr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17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4256</TotalTime>
  <Words>2112</Words>
  <Application>Microsoft Macintosh PowerPoint</Application>
  <PresentationFormat>On-screen Show (4:3)</PresentationFormat>
  <Paragraphs>462</Paragraphs>
  <Slides>31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Default Design</vt:lpstr>
      <vt:lpstr>Introduction to Data Management CSE 344 </vt:lpstr>
      <vt:lpstr>Announcements</vt:lpstr>
      <vt:lpstr>Outline</vt:lpstr>
      <vt:lpstr>Outerjoins</vt:lpstr>
      <vt:lpstr>Outerjoins</vt:lpstr>
      <vt:lpstr>PowerPoint Presentation</vt:lpstr>
      <vt:lpstr>Outer Joins</vt:lpstr>
      <vt:lpstr>Aggregation in SQL</vt:lpstr>
      <vt:lpstr>Comment about SQLite</vt:lpstr>
      <vt:lpstr>Simple Aggregations</vt:lpstr>
      <vt:lpstr>Aggregates and NULL Values</vt:lpstr>
      <vt:lpstr>Counting Duplicates</vt:lpstr>
      <vt:lpstr>More Examples</vt:lpstr>
      <vt:lpstr>Simple Aggregations</vt:lpstr>
      <vt:lpstr>Grouping and Aggregation</vt:lpstr>
      <vt:lpstr>Grouping and Aggregation</vt:lpstr>
      <vt:lpstr>1&amp;2. FROM-WHERE-GROUPBY</vt:lpstr>
      <vt:lpstr>3. SELECT</vt:lpstr>
      <vt:lpstr>Other Examples</vt:lpstr>
      <vt:lpstr>Need to be Careful…</vt:lpstr>
      <vt:lpstr>Ordering Results</vt:lpstr>
      <vt:lpstr>HAVING Clause</vt:lpstr>
      <vt:lpstr>WHERE vs HAVING</vt:lpstr>
      <vt:lpstr>Aggregates and Joins</vt:lpstr>
      <vt:lpstr>Aggregate + Join Example</vt:lpstr>
      <vt:lpstr>General form of Grouping and Aggregation</vt:lpstr>
      <vt:lpstr>Semantics of SQL With Group-By</vt:lpstr>
      <vt:lpstr>Empty Groups</vt:lpstr>
      <vt:lpstr>Empty Groups: Example</vt:lpstr>
      <vt:lpstr>Empty Group Problem</vt:lpstr>
      <vt:lpstr>Empty Group Solution:  Outer Join</vt:lpstr>
    </vt:vector>
  </TitlesOfParts>
  <Company>UW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Suciu</dc:creator>
  <cp:lastModifiedBy>Magdalena Balazinska</cp:lastModifiedBy>
  <cp:revision>495</cp:revision>
  <cp:lastPrinted>2009-04-03T18:39:35Z</cp:lastPrinted>
  <dcterms:created xsi:type="dcterms:W3CDTF">2011-10-06T23:57:32Z</dcterms:created>
  <dcterms:modified xsi:type="dcterms:W3CDTF">2012-10-03T19:24:54Z</dcterms:modified>
</cp:coreProperties>
</file>