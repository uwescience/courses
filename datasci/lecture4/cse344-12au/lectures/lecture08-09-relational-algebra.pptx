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1"/>
  </p:notesMasterIdLst>
  <p:handoutMasterIdLst>
    <p:handoutMasterId r:id="rId62"/>
  </p:handoutMasterIdLst>
  <p:sldIdLst>
    <p:sldId id="280" r:id="rId2"/>
    <p:sldId id="323" r:id="rId3"/>
    <p:sldId id="325" r:id="rId4"/>
    <p:sldId id="324" r:id="rId5"/>
    <p:sldId id="326" r:id="rId6"/>
    <p:sldId id="381" r:id="rId7"/>
    <p:sldId id="382" r:id="rId8"/>
    <p:sldId id="327" r:id="rId9"/>
    <p:sldId id="328" r:id="rId10"/>
    <p:sldId id="329" r:id="rId11"/>
    <p:sldId id="332" r:id="rId12"/>
    <p:sldId id="383" r:id="rId13"/>
    <p:sldId id="333" r:id="rId14"/>
    <p:sldId id="334" r:id="rId15"/>
    <p:sldId id="398" r:id="rId16"/>
    <p:sldId id="336" r:id="rId17"/>
    <p:sldId id="337" r:id="rId18"/>
    <p:sldId id="338" r:id="rId19"/>
    <p:sldId id="339" r:id="rId20"/>
    <p:sldId id="340" r:id="rId21"/>
    <p:sldId id="341" r:id="rId22"/>
    <p:sldId id="342" r:id="rId23"/>
    <p:sldId id="343" r:id="rId24"/>
    <p:sldId id="384" r:id="rId25"/>
    <p:sldId id="344" r:id="rId26"/>
    <p:sldId id="345" r:id="rId27"/>
    <p:sldId id="346" r:id="rId28"/>
    <p:sldId id="347" r:id="rId29"/>
    <p:sldId id="348" r:id="rId30"/>
    <p:sldId id="386" r:id="rId31"/>
    <p:sldId id="349" r:id="rId32"/>
    <p:sldId id="350" r:id="rId33"/>
    <p:sldId id="351" r:id="rId34"/>
    <p:sldId id="388" r:id="rId35"/>
    <p:sldId id="389" r:id="rId36"/>
    <p:sldId id="352" r:id="rId37"/>
    <p:sldId id="317" r:id="rId38"/>
    <p:sldId id="318" r:id="rId39"/>
    <p:sldId id="399" r:id="rId40"/>
    <p:sldId id="396" r:id="rId41"/>
    <p:sldId id="353" r:id="rId42"/>
    <p:sldId id="354" r:id="rId43"/>
    <p:sldId id="355" r:id="rId44"/>
    <p:sldId id="356" r:id="rId45"/>
    <p:sldId id="357" r:id="rId46"/>
    <p:sldId id="358" r:id="rId47"/>
    <p:sldId id="359" r:id="rId48"/>
    <p:sldId id="376" r:id="rId49"/>
    <p:sldId id="377" r:id="rId50"/>
    <p:sldId id="378" r:id="rId51"/>
    <p:sldId id="379" r:id="rId52"/>
    <p:sldId id="380" r:id="rId53"/>
    <p:sldId id="397" r:id="rId54"/>
    <p:sldId id="390" r:id="rId55"/>
    <p:sldId id="391" r:id="rId56"/>
    <p:sldId id="392" r:id="rId57"/>
    <p:sldId id="393" r:id="rId58"/>
    <p:sldId id="394" r:id="rId59"/>
    <p:sldId id="395" r:id="rId6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680" autoAdjust="0"/>
  </p:normalViewPr>
  <p:slideViewPr>
    <p:cSldViewPr>
      <p:cViewPr varScale="1">
        <p:scale>
          <a:sx n="83" d="100"/>
          <a:sy n="83" d="100"/>
        </p:scale>
        <p:origin x="-190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9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printerSettings" Target="printerSettings/printerSettings1.bin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50610F-9266-2846-8493-8600B895BAE2}" type="datetimeFigureOut">
              <a:rPr lang="en-US" smtClean="0">
                <a:latin typeface="Arial"/>
              </a:rPr>
              <a:pPr/>
              <a:t>10/14/12</a:t>
            </a:fld>
            <a:endParaRPr lang="en-US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B3AB50-C8E3-D74E-BBA9-F338418BA8A6}" type="slidenum">
              <a:rPr lang="en-US" smtClean="0">
                <a:latin typeface="Arial"/>
              </a:rPr>
              <a:pPr/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289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D07409E2-2083-B648-A129-32B2A07A606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4099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8AA29A-9FD8-3D46-B7AF-81F1B33D847F}" type="slidenum">
              <a:rPr lang="en-US"/>
              <a:pPr/>
              <a:t>1</a:t>
            </a:fld>
            <a:endParaRPr lang="en-US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5539AC-29BA-9F44-BFD1-294F18804895}" type="slidenum">
              <a:rPr lang="en-US"/>
              <a:pPr/>
              <a:t>4</a:t>
            </a:fld>
            <a:endParaRPr lang="en-US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C8B34E-4D02-0B48-927C-573388C3BCF2}" type="slidenum">
              <a:rPr lang="en-US"/>
              <a:pPr/>
              <a:t>5</a:t>
            </a:fld>
            <a:endParaRPr lang="en-US"/>
          </a:p>
        </p:txBody>
      </p:sp>
      <p:sp>
        <p:nvSpPr>
          <p:cNvPr id="242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5539AC-29BA-9F44-BFD1-294F18804895}" type="slidenum">
              <a:rPr lang="en-US"/>
              <a:pPr/>
              <a:t>6</a:t>
            </a:fld>
            <a:endParaRPr lang="en-US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Mention scalability by adding servers.</a:t>
            </a: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5539AC-29BA-9F44-BFD1-294F18804895}" type="slidenum">
              <a:rPr lang="en-US"/>
              <a:pPr/>
              <a:t>7</a:t>
            </a:fld>
            <a:endParaRPr lang="en-US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SQL Server on Windows Azure, the connection is per database because the databases are in different physical locations.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07409E2-2083-B648-A129-32B2A07A6062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279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FBD530-43E8-4B4E-B97D-CE6AEB198AB0}" type="slidenum">
              <a:rPr lang="en-US"/>
              <a:pPr/>
              <a:t>9</a:t>
            </a:fld>
            <a:endParaRPr lang="en-US"/>
          </a:p>
        </p:txBody>
      </p:sp>
      <p:sp>
        <p:nvSpPr>
          <p:cNvPr id="487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7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22A49D-BAC0-499D-8F94-8E24645FC034}" type="slidenum">
              <a:rPr lang="en-US"/>
              <a:pPr/>
              <a:t>13</a:t>
            </a:fld>
            <a:endParaRPr 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CD8733-48F6-4E36-B2A8-7755AD3A5E8B}" type="slidenum">
              <a:rPr lang="en-US"/>
              <a:pPr/>
              <a:t>14</a:t>
            </a:fld>
            <a:endParaRPr 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53BB2B-BFE0-4F0B-9512-6CA506A6CAE7}" type="slidenum">
              <a:rPr lang="en-US"/>
              <a:pPr/>
              <a:t>17</a:t>
            </a:fld>
            <a:endParaRPr lang="en-US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D86FD0-7A09-4D79-8240-DCAA6CC89B8C}" type="slidenum">
              <a:rPr lang="en-US"/>
              <a:pPr/>
              <a:t>18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D2D408-7EA2-4558-A784-B777C18A6DFF}" type="slidenum">
              <a:rPr lang="en-US"/>
              <a:pPr/>
              <a:t>19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EE2D1B-7350-4C26-9021-9EEC0B0D3975}" type="slidenum">
              <a:rPr lang="en-US"/>
              <a:pPr/>
              <a:t>20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F93F-C45A-44ED-8FF3-55B593385205}" type="slidenum">
              <a:rPr lang="en-US"/>
              <a:pPr/>
              <a:t>21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BC30D9-7844-420C-94D8-56F69A7F4AD3}" type="slidenum">
              <a:rPr lang="en-US"/>
              <a:pPr/>
              <a:t>22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F60D38F-F9C5-42AD-9B44-49AF3B7FAD8E}" type="slidenum">
              <a:rPr lang="en-US"/>
              <a:pPr/>
              <a:t>23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28D08A-CCA4-764F-971B-7C3782E75E1D}" type="slidenum">
              <a:rPr lang="en-US"/>
              <a:pPr/>
              <a:t>24</a:t>
            </a:fld>
            <a:endParaRPr lang="en-US"/>
          </a:p>
        </p:txBody>
      </p:sp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CFC426-2D38-47AC-815B-00D943624DDE}" type="slidenum">
              <a:rPr lang="en-US"/>
              <a:pPr/>
              <a:t>25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F2BB08-4435-42E5-8921-FDC3E84098B8}" type="slidenum">
              <a:rPr lang="en-US"/>
              <a:pPr/>
              <a:t>26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0F5E6C-A201-4713-8F0E-9FAAB0902565}" type="slidenum">
              <a:rPr lang="en-US"/>
              <a:pPr/>
              <a:t>27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5A73DF-C9CE-4B26-AE00-91B4A5102596}" type="slidenum">
              <a:rPr lang="en-US"/>
              <a:pPr/>
              <a:t>28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83F83E-327A-44FD-A88F-44492ED1C027}" type="slidenum">
              <a:rPr lang="en-US"/>
              <a:pPr/>
              <a:t>29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0B3624-B03D-AA4A-A127-C6AF5665DD0D}" type="slidenum">
              <a:rPr lang="en-US"/>
              <a:pPr/>
              <a:t>30</a:t>
            </a:fld>
            <a:endParaRPr lang="en-US"/>
          </a:p>
        </p:txBody>
      </p:sp>
      <p:sp>
        <p:nvSpPr>
          <p:cNvPr id="16691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343401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ABBCBF-CF08-464C-8C18-89436D12168E}" type="slidenum">
              <a:rPr lang="en-US"/>
              <a:pPr/>
              <a:t>31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7F6ECB3-7630-42A8-ABB8-2F673C4E4F13}" type="slidenum">
              <a:rPr lang="en-US"/>
              <a:pPr/>
              <a:t>32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01E7FD-3F5B-43CD-905C-894AB71F6465}" type="slidenum">
              <a:rPr lang="en-US"/>
              <a:pPr/>
              <a:t>33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C16F2B-495E-1244-A5CE-8F3FD478B0C7}" type="slidenum">
              <a:rPr lang="en-US"/>
              <a:pPr/>
              <a:t>34</a:t>
            </a:fld>
            <a:endParaRPr lang="en-US"/>
          </a:p>
        </p:txBody>
      </p:sp>
      <p:sp>
        <p:nvSpPr>
          <p:cNvPr id="16486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343401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2E970F-1603-0E40-BA5E-0C057E82C01A}" type="slidenum">
              <a:rPr lang="en-US"/>
              <a:pPr/>
              <a:t>35</a:t>
            </a:fld>
            <a:endParaRPr lang="en-US"/>
          </a:p>
        </p:txBody>
      </p:sp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51DE5A-D1B2-AF40-9E5D-DD918F130561}" type="slidenum">
              <a:rPr lang="en-US"/>
              <a:pPr/>
              <a:t>37</a:t>
            </a:fld>
            <a:endParaRPr lang="en-US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474AA6-ACB3-FD4E-9E24-DC0D6FAF0DDB}" type="slidenum">
              <a:rPr lang="en-US"/>
              <a:pPr/>
              <a:t>38</a:t>
            </a:fld>
            <a:endParaRPr lang="en-US"/>
          </a:p>
        </p:txBody>
      </p:sp>
      <p:sp>
        <p:nvSpPr>
          <p:cNvPr id="16896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3EEBC2-D771-6B49-8343-4A254B361F7D}" type="slidenum">
              <a:rPr lang="en-US"/>
              <a:pPr/>
              <a:t>39</a:t>
            </a:fld>
            <a:endParaRPr lang="en-US"/>
          </a:p>
        </p:txBody>
      </p:sp>
      <p:sp>
        <p:nvSpPr>
          <p:cNvPr id="310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0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EB1812-A475-994A-B351-F57997400A3D}" type="slidenum">
              <a:rPr lang="en-US"/>
              <a:pPr/>
              <a:t>41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07A951-53B8-7842-AB3F-8354B168EB64}" type="slidenum">
              <a:rPr lang="en-US"/>
              <a:pPr/>
              <a:t>42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36ED17B-ED9A-124D-B328-76C445ABE257}" type="slidenum">
              <a:rPr lang="en-US"/>
              <a:pPr/>
              <a:t>43</a:t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0BFC96-2CF9-814B-ABFF-52093F3A8C8A}" type="slidenum">
              <a:rPr lang="en-US"/>
              <a:pPr/>
              <a:t>44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8973D32-6BCB-5B46-9F89-D2C2EFAF7F67}" type="slidenum">
              <a:rPr lang="en-US"/>
              <a:pPr/>
              <a:t>45</a:t>
            </a:fld>
            <a:endParaRPr lang="en-U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ECCD90-67B1-0540-9C0B-A3E83BAB9F75}" type="slidenum">
              <a:rPr lang="en-US"/>
              <a:pPr/>
              <a:t>46</a:t>
            </a:fld>
            <a:endParaRPr lang="en-US"/>
          </a:p>
        </p:txBody>
      </p:sp>
      <p:sp>
        <p:nvSpPr>
          <p:cNvPr id="602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2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FDB8BF-8716-BB40-9B41-D7957005F7A9}" type="slidenum">
              <a:rPr lang="en-US"/>
              <a:pPr/>
              <a:t>47</a:t>
            </a:fld>
            <a:endParaRPr lang="en-US"/>
          </a:p>
        </p:txBody>
      </p:sp>
      <p:sp>
        <p:nvSpPr>
          <p:cNvPr id="603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3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79C4C0-0EBA-4241-8301-1839B6B348B2}" type="slidenum">
              <a:rPr lang="en-US"/>
              <a:pPr/>
              <a:t>48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79C4C0-0EBA-4241-8301-1839B6B348B2}" type="slidenum">
              <a:rPr lang="en-US"/>
              <a:pPr/>
              <a:t>49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79C4C0-0EBA-4241-8301-1839B6B348B2}" type="slidenum">
              <a:rPr lang="en-US"/>
              <a:pPr/>
              <a:t>50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79C4C0-0EBA-4241-8301-1839B6B348B2}" type="slidenum">
              <a:rPr lang="en-US"/>
              <a:pPr/>
              <a:t>51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6C626C-0767-4CD2-8E86-6F8D8368B620}" type="slidenum">
              <a:rPr lang="en-US"/>
              <a:pPr/>
              <a:t>52</a:t>
            </a:fld>
            <a:endParaRPr lang="en-US"/>
          </a:p>
        </p:txBody>
      </p:sp>
      <p:sp>
        <p:nvSpPr>
          <p:cNvPr id="10137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57A6DF50-ABFE-DD4E-9062-5DB2CB5C2AD7}" type="slidenum">
              <a:rPr lang="en-US" sz="1200">
                <a:latin typeface="Arial" charset="0"/>
              </a:rPr>
              <a:pPr eaLnBrk="1" hangingPunct="1"/>
              <a:t>54</a:t>
            </a:fld>
            <a:endParaRPr lang="en-US" sz="1200">
              <a:latin typeface="Arial" charset="0"/>
            </a:endParaRPr>
          </a:p>
        </p:txBody>
      </p:sp>
      <p:sp>
        <p:nvSpPr>
          <p:cNvPr id="20482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E667A301-B1F9-C04F-A138-4E25614AEAF3}" type="slidenum">
              <a:rPr lang="en-US" sz="1200">
                <a:latin typeface="Arial" charset="0"/>
              </a:rPr>
              <a:pPr eaLnBrk="1" hangingPunct="1"/>
              <a:t>55</a:t>
            </a:fld>
            <a:endParaRPr lang="en-US" sz="1200">
              <a:latin typeface="Arial" charset="0"/>
            </a:endParaRPr>
          </a:p>
        </p:txBody>
      </p:sp>
      <p:sp>
        <p:nvSpPr>
          <p:cNvPr id="22530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D114F9C5-874C-7649-B2F8-8966D06C4A3F}" type="slidenum">
              <a:rPr lang="en-US" sz="1200">
                <a:latin typeface="Arial" charset="0"/>
              </a:rPr>
              <a:pPr eaLnBrk="1" hangingPunct="1"/>
              <a:t>56</a:t>
            </a:fld>
            <a:endParaRPr lang="en-US" sz="1200">
              <a:latin typeface="Arial" charset="0"/>
            </a:endParaRPr>
          </a:p>
        </p:txBody>
      </p:sp>
      <p:sp>
        <p:nvSpPr>
          <p:cNvPr id="24578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C632C058-D347-D949-B637-68930DAE0278}" type="slidenum">
              <a:rPr lang="en-US" sz="1200">
                <a:latin typeface="Arial" charset="0"/>
              </a:rPr>
              <a:pPr eaLnBrk="1" hangingPunct="1"/>
              <a:t>57</a:t>
            </a:fld>
            <a:endParaRPr lang="en-US" sz="1200">
              <a:latin typeface="Arial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C6A16BD5-7245-5846-879A-530196D0EB0D}" type="slidenum">
              <a:rPr lang="en-US" sz="1200">
                <a:latin typeface="Arial" charset="0"/>
              </a:rPr>
              <a:pPr eaLnBrk="1" hangingPunct="1"/>
              <a:t>58</a:t>
            </a:fld>
            <a:endParaRPr lang="en-US" sz="1200">
              <a:latin typeface="Arial" charset="0"/>
            </a:endParaRPr>
          </a:p>
        </p:txBody>
      </p:sp>
      <p:sp>
        <p:nvSpPr>
          <p:cNvPr id="37890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1814C08D-D10E-A243-87D9-3CCE65BDE61A}" type="slidenum">
              <a:rPr lang="en-US" sz="1200">
                <a:latin typeface="Arial" charset="0"/>
              </a:rPr>
              <a:pPr eaLnBrk="1" hangingPunct="1"/>
              <a:t>59</a:t>
            </a:fld>
            <a:endParaRPr lang="en-US" sz="1200">
              <a:latin typeface="Arial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7BE187-62C2-2349-BC84-5A6C3AAA88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566A4E-9079-274B-8CBC-BED33EC11B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725110-6D87-7A4B-A383-EA8A0072FC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973307-EC9F-6D47-BED0-FB3024D715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7B104B-EDCE-B54D-9B1D-FC62BA6850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44C505-0347-8A4D-ABAD-7E39CA80EF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9EFE9D-D518-AA47-AA81-7E42D51C71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74C20E-A661-A543-922D-62CC6B8F8D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F90293-82B0-AD49-B52A-2BC731C860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A8D7B7-641D-7841-B9F2-E5C89A7E3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8950C5-787F-7A4F-9B94-5E7983B981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95600" y="6248400"/>
            <a:ext cx="3429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/>
                <a:cs typeface="Arial"/>
              </a:defRPr>
            </a:lvl1pPr>
          </a:lstStyle>
          <a:p>
            <a:pPr>
              <a:defRPr/>
            </a:pPr>
            <a:fld id="{8FC2D47B-177D-FA48-ADD4-5ABA37AEE91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/>
          <a:ea typeface="ＭＳ Ｐゴシック" charset="-128"/>
          <a:cs typeface="Arial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Arial"/>
          <a:ea typeface="ＭＳ Ｐゴシック" charset="-128"/>
          <a:cs typeface="Arial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60A74A2-54C0-E645-B4EC-2A4D9F4BC338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" y="2286000"/>
            <a:ext cx="86106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Introduction to Data Management</a:t>
            </a:r>
            <a:br>
              <a:rPr lang="en-US" dirty="0" smtClean="0"/>
            </a:br>
            <a:r>
              <a:rPr lang="en-US" dirty="0" smtClean="0"/>
              <a:t>CSE 344</a:t>
            </a:r>
            <a:endParaRPr lang="en-US" dirty="0"/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Lecture 8-9: Relational Algebra</a:t>
            </a:r>
            <a:br>
              <a:rPr lang="en-US" dirty="0" smtClean="0"/>
            </a:br>
            <a:r>
              <a:rPr lang="en-US" dirty="0" smtClean="0"/>
              <a:t>and Query Evaluation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We 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8229600" cy="4114800"/>
          </a:xfrm>
        </p:spPr>
        <p:txBody>
          <a:bodyPr/>
          <a:lstStyle/>
          <a:p>
            <a:r>
              <a:rPr lang="en-US" sz="2400" dirty="0" smtClean="0"/>
              <a:t>Motivation for using a DBMS for managing data</a:t>
            </a:r>
          </a:p>
          <a:p>
            <a:r>
              <a:rPr lang="en-US" sz="2400" dirty="0" smtClean="0"/>
              <a:t>SQL, SQL, SQL</a:t>
            </a:r>
          </a:p>
          <a:p>
            <a:pPr lvl="1"/>
            <a:r>
              <a:rPr lang="en-US" sz="2000" dirty="0" smtClean="0"/>
              <a:t>Declaring the schema for our data (CREATE TABLE)</a:t>
            </a:r>
          </a:p>
          <a:p>
            <a:pPr lvl="1"/>
            <a:r>
              <a:rPr lang="en-US" sz="2000" dirty="0" smtClean="0"/>
              <a:t>Inserting data one row at a time or in bulk (INSERT/.import)</a:t>
            </a:r>
          </a:p>
          <a:p>
            <a:pPr lvl="1"/>
            <a:r>
              <a:rPr lang="en-US" sz="2000" dirty="0" smtClean="0"/>
              <a:t>Modifying the schema and updating the data (ALTER/UPDATE)</a:t>
            </a:r>
          </a:p>
          <a:p>
            <a:pPr lvl="1"/>
            <a:r>
              <a:rPr lang="en-US" sz="2000" dirty="0" smtClean="0"/>
              <a:t>Querying the data (SELECT)</a:t>
            </a:r>
          </a:p>
          <a:p>
            <a:pPr lvl="1"/>
            <a:r>
              <a:rPr lang="en-US" sz="2000" dirty="0" smtClean="0"/>
              <a:t>Tuning queries (CREATE INDEX)</a:t>
            </a:r>
          </a:p>
          <a:p>
            <a:pPr lvl="1"/>
            <a:endParaRPr lang="en-US" sz="2000" dirty="0" smtClean="0"/>
          </a:p>
          <a:p>
            <a:r>
              <a:rPr lang="en-US" sz="2400" dirty="0" smtClean="0"/>
              <a:t>Next step: More knowledge of how </a:t>
            </a:r>
            <a:r>
              <a:rPr lang="en-US" sz="2400" dirty="0" err="1" smtClean="0"/>
              <a:t>DBMSs</a:t>
            </a:r>
            <a:r>
              <a:rPr lang="en-US" sz="2400" dirty="0" smtClean="0"/>
              <a:t> work</a:t>
            </a:r>
          </a:p>
          <a:p>
            <a:pPr lvl="1"/>
            <a:r>
              <a:rPr lang="en-US" sz="2000" dirty="0" smtClean="0"/>
              <a:t>Client-server architecture</a:t>
            </a:r>
          </a:p>
          <a:p>
            <a:pPr lvl="1"/>
            <a:r>
              <a:rPr lang="en-US" sz="2000" dirty="0" smtClean="0"/>
              <a:t>Relational algebra and query execution</a:t>
            </a:r>
          </a:p>
          <a:p>
            <a:pPr lvl="1"/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566A4E-9079-274B-8CBC-BED33EC11BF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09600" y="3124200"/>
            <a:ext cx="2895600" cy="25908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14" name="Can 13"/>
          <p:cNvSpPr/>
          <p:nvPr/>
        </p:nvSpPr>
        <p:spPr bwMode="auto">
          <a:xfrm>
            <a:off x="762000" y="4495800"/>
            <a:ext cx="2514600" cy="990600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Management with </a:t>
            </a:r>
            <a:r>
              <a:rPr lang="en-US" dirty="0" err="1" smtClean="0"/>
              <a:t>SQLite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566A4E-9079-274B-8CBC-BED33EC11BF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1676400" y="4836914"/>
            <a:ext cx="838200" cy="573286"/>
          </a:xfrm>
          <a:prstGeom prst="flowChartDocument">
            <a:avLst/>
          </a:prstGeom>
          <a:solidFill>
            <a:srgbClr val="C0C0C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smtClean="0">
                <a:latin typeface="Arial"/>
                <a:cs typeface="Arial"/>
              </a:rPr>
              <a:t>File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762000" y="3352800"/>
            <a:ext cx="2514600" cy="105070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/>
            <a:r>
              <a:rPr lang="en-US" dirty="0" smtClean="0">
                <a:latin typeface="Arial"/>
                <a:cs typeface="Arial"/>
              </a:rPr>
              <a:t>DBMS Application</a:t>
            </a:r>
          </a:p>
          <a:p>
            <a:pPr algn="ctr"/>
            <a:r>
              <a:rPr lang="en-US" dirty="0" smtClean="0">
                <a:latin typeface="Arial"/>
                <a:cs typeface="Arial"/>
              </a:rPr>
              <a:t>(</a:t>
            </a:r>
            <a:r>
              <a:rPr lang="en-US" dirty="0" err="1" smtClean="0">
                <a:latin typeface="Arial"/>
                <a:cs typeface="Arial"/>
              </a:rPr>
              <a:t>SQLite</a:t>
            </a:r>
            <a:r>
              <a:rPr lang="en-US" dirty="0" smtClean="0">
                <a:latin typeface="Arial"/>
                <a:cs typeface="Arial"/>
              </a:rPr>
              <a:t>)</a:t>
            </a:r>
            <a:endParaRPr lang="en-US" dirty="0">
              <a:latin typeface="Arial"/>
              <a:cs typeface="Arial"/>
            </a:endParaRPr>
          </a:p>
        </p:txBody>
      </p:sp>
      <p:pic>
        <p:nvPicPr>
          <p:cNvPr id="9" name="Picture 1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2209800"/>
            <a:ext cx="99060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 bwMode="auto">
          <a:xfrm>
            <a:off x="1066800" y="2286000"/>
            <a:ext cx="822960" cy="61148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3516629" y="5181600"/>
            <a:ext cx="1847355" cy="649188"/>
          </a:xfrm>
          <a:prstGeom prst="wedgeEllipseCallout">
            <a:avLst>
              <a:gd name="adj1" fmla="val -109874"/>
              <a:gd name="adj2" fmla="val -46320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dirty="0">
                <a:latin typeface="Arial"/>
                <a:cs typeface="Arial"/>
              </a:rPr>
              <a:t>Data </a:t>
            </a:r>
            <a:r>
              <a:rPr lang="en-US" dirty="0" smtClean="0">
                <a:latin typeface="Arial"/>
                <a:cs typeface="Arial"/>
              </a:rPr>
              <a:t>file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2" name="AutoShape 9"/>
          <p:cNvSpPr>
            <a:spLocks noChangeArrowheads="1"/>
          </p:cNvSpPr>
          <p:nvPr/>
        </p:nvSpPr>
        <p:spPr bwMode="auto">
          <a:xfrm>
            <a:off x="3299546" y="1981200"/>
            <a:ext cx="1179359" cy="649188"/>
          </a:xfrm>
          <a:prstGeom prst="wedgeEllipseCallout">
            <a:avLst>
              <a:gd name="adj1" fmla="val -103414"/>
              <a:gd name="adj2" fmla="val 22049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dirty="0" smtClean="0">
                <a:latin typeface="Arial"/>
                <a:cs typeface="Arial"/>
              </a:rPr>
              <a:t>User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3" name="AutoShape 9"/>
          <p:cNvSpPr>
            <a:spLocks noChangeArrowheads="1"/>
          </p:cNvSpPr>
          <p:nvPr/>
        </p:nvSpPr>
        <p:spPr bwMode="auto">
          <a:xfrm>
            <a:off x="79493" y="1600200"/>
            <a:ext cx="1847355" cy="649188"/>
          </a:xfrm>
          <a:prstGeom prst="wedgeEllipseCallout">
            <a:avLst>
              <a:gd name="adj1" fmla="val 22725"/>
              <a:gd name="adj2" fmla="val 182465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dirty="0" smtClean="0">
                <a:latin typeface="Arial"/>
                <a:cs typeface="Arial"/>
              </a:rPr>
              <a:t>Desktop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5" name="AutoShape 9"/>
          <p:cNvSpPr>
            <a:spLocks noChangeArrowheads="1"/>
          </p:cNvSpPr>
          <p:nvPr/>
        </p:nvSpPr>
        <p:spPr bwMode="auto">
          <a:xfrm>
            <a:off x="3603501" y="4343400"/>
            <a:ext cx="1107227" cy="649188"/>
          </a:xfrm>
          <a:prstGeom prst="wedgeEllipseCallout">
            <a:avLst>
              <a:gd name="adj1" fmla="val -100001"/>
              <a:gd name="adj2" fmla="val 37242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dirty="0" smtClean="0">
                <a:latin typeface="Arial"/>
                <a:cs typeface="Arial"/>
              </a:rPr>
              <a:t>Disk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4800600" y="1981200"/>
            <a:ext cx="4191000" cy="2514600"/>
          </a:xfrm>
        </p:spPr>
        <p:txBody>
          <a:bodyPr/>
          <a:lstStyle/>
          <a:p>
            <a:r>
              <a:rPr lang="en-US" sz="2000" dirty="0" smtClean="0"/>
              <a:t>So far, we have been managing data with </a:t>
            </a:r>
            <a:r>
              <a:rPr lang="en-US" sz="2000" dirty="0" err="1" smtClean="0"/>
              <a:t>SQLite</a:t>
            </a:r>
            <a:r>
              <a:rPr lang="en-US" sz="2000" dirty="0" smtClean="0"/>
              <a:t> as follows:</a:t>
            </a:r>
          </a:p>
          <a:p>
            <a:pPr lvl="1"/>
            <a:r>
              <a:rPr lang="en-US" sz="1600" dirty="0" smtClean="0"/>
              <a:t>One data file</a:t>
            </a:r>
          </a:p>
          <a:p>
            <a:pPr lvl="1"/>
            <a:r>
              <a:rPr lang="en-US" sz="1600" dirty="0" smtClean="0"/>
              <a:t>One user</a:t>
            </a:r>
          </a:p>
          <a:p>
            <a:pPr lvl="1"/>
            <a:r>
              <a:rPr lang="en-US" sz="1600" dirty="0" smtClean="0"/>
              <a:t>One DBMS application</a:t>
            </a:r>
            <a:endParaRPr lang="en-US" sz="2000" dirty="0" smtClean="0"/>
          </a:p>
          <a:p>
            <a:r>
              <a:rPr lang="en-US" sz="2000" dirty="0" smtClean="0"/>
              <a:t>But only a limited number of scenarios work with such model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1143000" y="2438400"/>
            <a:ext cx="3429000" cy="29718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23" name="Can 22"/>
          <p:cNvSpPr/>
          <p:nvPr/>
        </p:nvSpPr>
        <p:spPr bwMode="auto">
          <a:xfrm>
            <a:off x="1221484" y="3829692"/>
            <a:ext cx="3121916" cy="1580508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 dirty="0" smtClean="0"/>
              <a:t>Client-Server Architecture</a:t>
            </a:r>
            <a:endParaRPr lang="en-US" dirty="0"/>
          </a:p>
        </p:txBody>
      </p:sp>
      <p:sp>
        <p:nvSpPr>
          <p:cNvPr id="57350" name="AutoShape 6"/>
          <p:cNvSpPr>
            <a:spLocks noChangeArrowheads="1"/>
          </p:cNvSpPr>
          <p:nvPr/>
        </p:nvSpPr>
        <p:spPr bwMode="auto">
          <a:xfrm>
            <a:off x="3352800" y="4495800"/>
            <a:ext cx="838200" cy="573286"/>
          </a:xfrm>
          <a:prstGeom prst="flowChartDocument">
            <a:avLst/>
          </a:prstGeom>
          <a:solidFill>
            <a:srgbClr val="C0C0C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smtClean="0">
                <a:latin typeface="Arial"/>
                <a:cs typeface="Arial"/>
              </a:rPr>
              <a:t>…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57351" name="AutoShape 7"/>
          <p:cNvSpPr>
            <a:spLocks noChangeArrowheads="1"/>
          </p:cNvSpPr>
          <p:nvPr/>
        </p:nvSpPr>
        <p:spPr bwMode="auto">
          <a:xfrm>
            <a:off x="2362200" y="4266486"/>
            <a:ext cx="838200" cy="1031915"/>
          </a:xfrm>
          <a:prstGeom prst="flowChartDocument">
            <a:avLst/>
          </a:prstGeom>
          <a:solidFill>
            <a:srgbClr val="C0C0C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smtClean="0">
                <a:latin typeface="Arial"/>
                <a:cs typeface="Arial"/>
              </a:rPr>
              <a:t>File2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57352" name="AutoShape 8"/>
          <p:cNvSpPr>
            <a:spLocks noChangeArrowheads="1"/>
          </p:cNvSpPr>
          <p:nvPr/>
        </p:nvSpPr>
        <p:spPr bwMode="auto">
          <a:xfrm>
            <a:off x="1371600" y="4266486"/>
            <a:ext cx="838200" cy="1031915"/>
          </a:xfrm>
          <a:prstGeom prst="flowChartDocument">
            <a:avLst/>
          </a:prstGeom>
          <a:solidFill>
            <a:srgbClr val="C0C0C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smtClean="0">
                <a:latin typeface="Arial"/>
                <a:cs typeface="Arial"/>
              </a:rPr>
              <a:t>File1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57354" name="AutoShape 10"/>
          <p:cNvSpPr>
            <a:spLocks noChangeArrowheads="1"/>
          </p:cNvSpPr>
          <p:nvPr/>
        </p:nvSpPr>
        <p:spPr bwMode="auto">
          <a:xfrm>
            <a:off x="228600" y="1600200"/>
            <a:ext cx="3048000" cy="432792"/>
          </a:xfrm>
          <a:prstGeom prst="wedgeEllipseCallout">
            <a:avLst>
              <a:gd name="adj1" fmla="val 14141"/>
              <a:gd name="adj2" fmla="val 141939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000" dirty="0" smtClean="0">
                <a:latin typeface="Arial"/>
                <a:cs typeface="Arial"/>
              </a:rPr>
              <a:t>Server Machine</a:t>
            </a:r>
            <a:endParaRPr lang="en-US" sz="2000" dirty="0">
              <a:latin typeface="Arial"/>
              <a:cs typeface="Arial"/>
            </a:endParaRP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3733800" y="2209800"/>
            <a:ext cx="4805364" cy="3429000"/>
            <a:chOff x="2352" y="1392"/>
            <a:chExt cx="3027" cy="2160"/>
          </a:xfrm>
        </p:grpSpPr>
        <p:pic>
          <p:nvPicPr>
            <p:cNvPr id="57357" name="Picture 1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128" y="1392"/>
              <a:ext cx="624" cy="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7358" name="Picture 1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224" y="2244"/>
              <a:ext cx="624" cy="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7359" name="Picture 1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320" y="3108"/>
              <a:ext cx="624" cy="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7360" name="Line 16"/>
            <p:cNvSpPr>
              <a:spLocks noChangeShapeType="1"/>
            </p:cNvSpPr>
            <p:nvPr/>
          </p:nvSpPr>
          <p:spPr bwMode="auto">
            <a:xfrm flipV="1">
              <a:off x="2352" y="1728"/>
              <a:ext cx="168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57361" name="Line 17"/>
            <p:cNvSpPr>
              <a:spLocks noChangeShapeType="1"/>
            </p:cNvSpPr>
            <p:nvPr/>
          </p:nvSpPr>
          <p:spPr bwMode="auto">
            <a:xfrm>
              <a:off x="2736" y="2064"/>
              <a:ext cx="129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57362" name="Line 18"/>
            <p:cNvSpPr>
              <a:spLocks noChangeShapeType="1"/>
            </p:cNvSpPr>
            <p:nvPr/>
          </p:nvSpPr>
          <p:spPr bwMode="auto">
            <a:xfrm>
              <a:off x="2688" y="2304"/>
              <a:ext cx="1584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57363" name="Text Box 19"/>
            <p:cNvSpPr txBox="1">
              <a:spLocks noChangeArrowheads="1"/>
            </p:cNvSpPr>
            <p:nvPr/>
          </p:nvSpPr>
          <p:spPr bwMode="auto">
            <a:xfrm>
              <a:off x="2925" y="1920"/>
              <a:ext cx="245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dirty="0" smtClean="0">
                  <a:latin typeface="Arial"/>
                  <a:cs typeface="Arial"/>
                </a:rPr>
                <a:t>Connection (JDBC, ODBC)</a:t>
              </a:r>
              <a:endParaRPr lang="en-US" dirty="0">
                <a:latin typeface="Arial"/>
                <a:cs typeface="Arial"/>
              </a:endParaRPr>
            </a:p>
          </p:txBody>
        </p:sp>
      </p:grp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3A8CC-219E-7C4A-931F-F992E5F7CA0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7355" name="AutoShape 11"/>
          <p:cNvSpPr>
            <a:spLocks noChangeArrowheads="1"/>
          </p:cNvSpPr>
          <p:nvPr/>
        </p:nvSpPr>
        <p:spPr bwMode="auto">
          <a:xfrm>
            <a:off x="7086600" y="1344216"/>
            <a:ext cx="2057400" cy="865584"/>
          </a:xfrm>
          <a:prstGeom prst="wedgeEllipseCallout">
            <a:avLst>
              <a:gd name="adj1" fmla="val -32472"/>
              <a:gd name="adj2" fmla="val 81974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000" dirty="0" smtClean="0">
                <a:latin typeface="Arial"/>
                <a:cs typeface="Arial"/>
              </a:rPr>
              <a:t>Client Applications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1344780" y="2683096"/>
            <a:ext cx="2998620" cy="105070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/>
            <a:r>
              <a:rPr lang="en-US" dirty="0" smtClean="0">
                <a:latin typeface="Arial"/>
                <a:cs typeface="Arial"/>
              </a:rPr>
              <a:t>DBMS Server Process</a:t>
            </a:r>
          </a:p>
          <a:p>
            <a:pPr algn="ctr"/>
            <a:r>
              <a:rPr lang="en-US" dirty="0" smtClean="0">
                <a:latin typeface="Arial"/>
                <a:cs typeface="Arial"/>
              </a:rPr>
              <a:t>(SQL Server)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5" name="AutoShape 9"/>
          <p:cNvSpPr>
            <a:spLocks noChangeArrowheads="1"/>
          </p:cNvSpPr>
          <p:nvPr/>
        </p:nvSpPr>
        <p:spPr bwMode="auto">
          <a:xfrm>
            <a:off x="4466444" y="4724400"/>
            <a:ext cx="1269806" cy="649188"/>
          </a:xfrm>
          <a:prstGeom prst="wedgeEllipseCallout">
            <a:avLst>
              <a:gd name="adj1" fmla="val -96224"/>
              <a:gd name="adj2" fmla="val 23948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dirty="0" smtClean="0">
                <a:latin typeface="Arial"/>
                <a:cs typeface="Arial"/>
              </a:rPr>
              <a:t>DISK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7" name="Content Placeholder 2"/>
          <p:cNvSpPr>
            <a:spLocks noGrp="1"/>
          </p:cNvSpPr>
          <p:nvPr>
            <p:ph idx="1"/>
          </p:nvPr>
        </p:nvSpPr>
        <p:spPr>
          <a:xfrm>
            <a:off x="228600" y="5486400"/>
            <a:ext cx="8229600" cy="1066800"/>
          </a:xfrm>
        </p:spPr>
        <p:txBody>
          <a:bodyPr/>
          <a:lstStyle/>
          <a:p>
            <a:r>
              <a:rPr lang="en-US" sz="2000" dirty="0" smtClean="0"/>
              <a:t>One server running the database</a:t>
            </a:r>
          </a:p>
          <a:p>
            <a:r>
              <a:rPr lang="en-US" sz="2000" dirty="0" smtClean="0"/>
              <a:t>Many clients, connecting via the ODBC or JDBC </a:t>
            </a:r>
            <a:br>
              <a:rPr lang="en-US" sz="2000" dirty="0" smtClean="0"/>
            </a:br>
            <a:r>
              <a:rPr lang="en-US" sz="2000" dirty="0" smtClean="0"/>
              <a:t>(Java Database Connectivity) protocol</a:t>
            </a:r>
          </a:p>
        </p:txBody>
      </p:sp>
      <p:sp>
        <p:nvSpPr>
          <p:cNvPr id="57353" name="AutoShape 9"/>
          <p:cNvSpPr>
            <a:spLocks noChangeArrowheads="1"/>
          </p:cNvSpPr>
          <p:nvPr/>
        </p:nvSpPr>
        <p:spPr bwMode="auto">
          <a:xfrm>
            <a:off x="-88333" y="3657600"/>
            <a:ext cx="2063751" cy="649188"/>
          </a:xfrm>
          <a:prstGeom prst="wedgeEllipseCallout">
            <a:avLst>
              <a:gd name="adj1" fmla="val 25954"/>
              <a:gd name="adj2" fmla="val 88519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dirty="0">
                <a:latin typeface="Arial"/>
                <a:cs typeface="Arial"/>
              </a:rPr>
              <a:t>Data files</a:t>
            </a:r>
          </a:p>
        </p:txBody>
      </p:sp>
      <p:sp>
        <p:nvSpPr>
          <p:cNvPr id="26" name="Rounded Rectangle 25"/>
          <p:cNvSpPr/>
          <p:nvPr/>
        </p:nvSpPr>
        <p:spPr bwMode="auto">
          <a:xfrm>
            <a:off x="3124200" y="914400"/>
            <a:ext cx="4038600" cy="9906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en-US" dirty="0" smtClean="0">
                <a:latin typeface="Arial"/>
                <a:cs typeface="Arial"/>
              </a:rPr>
              <a:t>Supports many apps and many users simultaneously</a:t>
            </a:r>
            <a:endParaRPr lang="en-US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ECBBF-D6C6-6540-91B8-8D661559DA85}" type="slidenum">
              <a:rPr lang="en-US"/>
              <a:pPr/>
              <a:t>5</a:t>
            </a:fld>
            <a:endParaRPr lang="en-US"/>
          </a:p>
        </p:txBody>
      </p:sp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Client-Server Architecture</a:t>
            </a:r>
            <a:endParaRPr lang="en-US" sz="4000" dirty="0"/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981200"/>
            <a:ext cx="84582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 smtClean="0">
                <a:solidFill>
                  <a:srgbClr val="0000FF"/>
                </a:solidFill>
              </a:rPr>
              <a:t>One </a:t>
            </a:r>
            <a:r>
              <a:rPr lang="en-US" sz="2800" i="1" dirty="0" smtClean="0">
                <a:solidFill>
                  <a:srgbClr val="0000FF"/>
                </a:solidFill>
              </a:rPr>
              <a:t>server</a:t>
            </a:r>
            <a:r>
              <a:rPr lang="en-US" sz="2800" dirty="0" smtClean="0">
                <a:solidFill>
                  <a:srgbClr val="0000FF"/>
                </a:solidFill>
              </a:rPr>
              <a:t> </a:t>
            </a:r>
            <a:r>
              <a:rPr lang="en-US" sz="2800" dirty="0">
                <a:solidFill>
                  <a:srgbClr val="0000FF"/>
                </a:solidFill>
              </a:rPr>
              <a:t>that </a:t>
            </a:r>
            <a:r>
              <a:rPr lang="en-US" sz="2800" dirty="0" smtClean="0">
                <a:solidFill>
                  <a:srgbClr val="0000FF"/>
                </a:solidFill>
              </a:rPr>
              <a:t>runs the </a:t>
            </a:r>
            <a:r>
              <a:rPr lang="en-US" sz="2800" dirty="0">
                <a:solidFill>
                  <a:srgbClr val="0000FF"/>
                </a:solidFill>
              </a:rPr>
              <a:t>DBMS </a:t>
            </a:r>
            <a:r>
              <a:rPr lang="en-US" sz="2800" dirty="0" smtClean="0">
                <a:solidFill>
                  <a:srgbClr val="0000FF"/>
                </a:solidFill>
              </a:rPr>
              <a:t>(or RDBMS):</a:t>
            </a:r>
            <a:endParaRPr lang="en-US" sz="2800" dirty="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Your own desktop, or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Some beefy system, or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dirty="0" smtClean="0"/>
              <a:t>A cloud service (SQL Azure)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0000FF"/>
                </a:solidFill>
              </a:rPr>
              <a:t>Many </a:t>
            </a:r>
            <a:r>
              <a:rPr lang="en-US" sz="2800" i="1" dirty="0">
                <a:solidFill>
                  <a:srgbClr val="0000FF"/>
                </a:solidFill>
              </a:rPr>
              <a:t>clients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 smtClean="0">
                <a:solidFill>
                  <a:srgbClr val="0000FF"/>
                </a:solidFill>
              </a:rPr>
              <a:t>run </a:t>
            </a:r>
            <a:r>
              <a:rPr lang="en-US" sz="2800" dirty="0">
                <a:solidFill>
                  <a:srgbClr val="0000FF"/>
                </a:solidFill>
              </a:rPr>
              <a:t>apps and </a:t>
            </a:r>
            <a:r>
              <a:rPr lang="en-US" sz="2800" dirty="0" smtClean="0">
                <a:solidFill>
                  <a:srgbClr val="0000FF"/>
                </a:solidFill>
              </a:rPr>
              <a:t>connect </a:t>
            </a:r>
            <a:r>
              <a:rPr lang="en-US" sz="2800" dirty="0">
                <a:solidFill>
                  <a:srgbClr val="0000FF"/>
                </a:solidFill>
              </a:rPr>
              <a:t>to DBMS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Microsoft’s </a:t>
            </a:r>
            <a:r>
              <a:rPr lang="en-US" sz="2400" dirty="0"/>
              <a:t>Management </a:t>
            </a:r>
            <a:r>
              <a:rPr lang="en-US" sz="2400" dirty="0" smtClean="0"/>
              <a:t>Studio (for SQL Server), or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 err="1" smtClean="0"/>
              <a:t>psql</a:t>
            </a:r>
            <a:r>
              <a:rPr lang="en-US" sz="2400" dirty="0" smtClean="0"/>
              <a:t> </a:t>
            </a:r>
            <a:r>
              <a:rPr lang="en-US" sz="2400" dirty="0"/>
              <a:t>(for </a:t>
            </a:r>
            <a:r>
              <a:rPr lang="en-US" sz="2400" dirty="0" err="1"/>
              <a:t>postgres</a:t>
            </a:r>
            <a:r>
              <a:rPr lang="en-US" sz="2400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Some </a:t>
            </a:r>
            <a:r>
              <a:rPr lang="en-US" sz="2400" dirty="0"/>
              <a:t>Java </a:t>
            </a:r>
            <a:r>
              <a:rPr lang="en-US" dirty="0" smtClean="0"/>
              <a:t>program (HW5) </a:t>
            </a:r>
            <a:r>
              <a:rPr lang="en-US" sz="2400" dirty="0" smtClean="0"/>
              <a:t>or some </a:t>
            </a:r>
            <a:r>
              <a:rPr lang="en-US" sz="2400" dirty="0"/>
              <a:t>C++ program</a:t>
            </a:r>
            <a:endParaRPr lang="en-US" sz="2400" dirty="0" smtClean="0"/>
          </a:p>
          <a:p>
            <a:pPr>
              <a:lnSpc>
                <a:spcPct val="90000"/>
              </a:lnSpc>
            </a:pPr>
            <a:r>
              <a:rPr lang="en-US" sz="2800" dirty="0" smtClean="0">
                <a:solidFill>
                  <a:srgbClr val="0000FF"/>
                </a:solidFill>
              </a:rPr>
              <a:t>Clients </a:t>
            </a:r>
            <a:r>
              <a:rPr lang="en-US" sz="2800" dirty="0">
                <a:solidFill>
                  <a:srgbClr val="0000FF"/>
                </a:solidFill>
              </a:rPr>
              <a:t>“</a:t>
            </a:r>
            <a:r>
              <a:rPr lang="en-US" sz="2800" dirty="0" smtClean="0">
                <a:solidFill>
                  <a:srgbClr val="0000FF"/>
                </a:solidFill>
              </a:rPr>
              <a:t>talk” </a:t>
            </a:r>
            <a:r>
              <a:rPr lang="en-US" sz="2800" dirty="0">
                <a:solidFill>
                  <a:srgbClr val="0000FF"/>
                </a:solidFill>
              </a:rPr>
              <a:t>to</a:t>
            </a:r>
            <a:r>
              <a:rPr lang="en-US" sz="2800" dirty="0" smtClean="0">
                <a:solidFill>
                  <a:srgbClr val="0000FF"/>
                </a:solidFill>
              </a:rPr>
              <a:t> server </a:t>
            </a:r>
            <a:r>
              <a:rPr lang="en-US" sz="2800" dirty="0">
                <a:solidFill>
                  <a:srgbClr val="0000FF"/>
                </a:solidFill>
              </a:rPr>
              <a:t>using </a:t>
            </a:r>
            <a:r>
              <a:rPr lang="en-US" sz="2800" dirty="0" smtClean="0">
                <a:solidFill>
                  <a:srgbClr val="0000FF"/>
                </a:solidFill>
              </a:rPr>
              <a:t>JDBC/ODBC </a:t>
            </a:r>
            <a:r>
              <a:rPr lang="en-US" sz="2800" dirty="0">
                <a:solidFill>
                  <a:srgbClr val="0000FF"/>
                </a:solidFill>
              </a:rPr>
              <a:t>protocol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DBMS Deployment: 3 Tiers</a:t>
            </a:r>
            <a:endParaRPr lang="en-US" dirty="0"/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609600" y="2438400"/>
            <a:ext cx="2895600" cy="29718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734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33600" y="2667000"/>
            <a:ext cx="1144588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7350" name="AutoShape 6"/>
          <p:cNvSpPr>
            <a:spLocks noChangeArrowheads="1"/>
          </p:cNvSpPr>
          <p:nvPr/>
        </p:nvSpPr>
        <p:spPr bwMode="auto">
          <a:xfrm>
            <a:off x="838200" y="2667000"/>
            <a:ext cx="838200" cy="685800"/>
          </a:xfrm>
          <a:prstGeom prst="flowChartDocument">
            <a:avLst/>
          </a:prstGeom>
          <a:solidFill>
            <a:srgbClr val="C0C0C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7351" name="AutoShape 7"/>
          <p:cNvSpPr>
            <a:spLocks noChangeArrowheads="1"/>
          </p:cNvSpPr>
          <p:nvPr/>
        </p:nvSpPr>
        <p:spPr bwMode="auto">
          <a:xfrm>
            <a:off x="838200" y="3581400"/>
            <a:ext cx="838200" cy="685800"/>
          </a:xfrm>
          <a:prstGeom prst="flowChartDocument">
            <a:avLst/>
          </a:prstGeom>
          <a:solidFill>
            <a:srgbClr val="C0C0C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7352" name="AutoShape 8"/>
          <p:cNvSpPr>
            <a:spLocks noChangeArrowheads="1"/>
          </p:cNvSpPr>
          <p:nvPr/>
        </p:nvSpPr>
        <p:spPr bwMode="auto">
          <a:xfrm>
            <a:off x="838200" y="4572000"/>
            <a:ext cx="838200" cy="685800"/>
          </a:xfrm>
          <a:prstGeom prst="flowChartDocument">
            <a:avLst/>
          </a:prstGeom>
          <a:solidFill>
            <a:srgbClr val="C0C0C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7353" name="AutoShape 9"/>
          <p:cNvSpPr>
            <a:spLocks noChangeArrowheads="1"/>
          </p:cNvSpPr>
          <p:nvPr/>
        </p:nvSpPr>
        <p:spPr bwMode="auto">
          <a:xfrm>
            <a:off x="228600" y="5638800"/>
            <a:ext cx="2063751" cy="649188"/>
          </a:xfrm>
          <a:prstGeom prst="wedgeEllipseCallout">
            <a:avLst>
              <a:gd name="adj1" fmla="val -171"/>
              <a:gd name="adj2" fmla="val -122819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  <a:buNone/>
            </a:pPr>
            <a:r>
              <a:rPr lang="en-US" dirty="0">
                <a:latin typeface="Arial"/>
                <a:cs typeface="Arial"/>
              </a:rPr>
              <a:t>Data files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6553200" y="2209800"/>
            <a:ext cx="2514600" cy="3429000"/>
            <a:chOff x="2256" y="1392"/>
            <a:chExt cx="2688" cy="2160"/>
          </a:xfrm>
        </p:grpSpPr>
        <p:pic>
          <p:nvPicPr>
            <p:cNvPr id="57357" name="Picture 1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128" y="1392"/>
              <a:ext cx="624" cy="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7358" name="Picture 1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224" y="2244"/>
              <a:ext cx="624" cy="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7359" name="Picture 15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320" y="3108"/>
              <a:ext cx="624" cy="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7360" name="Line 16"/>
            <p:cNvSpPr>
              <a:spLocks noChangeShapeType="1"/>
            </p:cNvSpPr>
            <p:nvPr/>
          </p:nvSpPr>
          <p:spPr bwMode="auto">
            <a:xfrm flipV="1">
              <a:off x="2256" y="1728"/>
              <a:ext cx="177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61" name="Line 17"/>
            <p:cNvSpPr>
              <a:spLocks noChangeShapeType="1"/>
            </p:cNvSpPr>
            <p:nvPr/>
          </p:nvSpPr>
          <p:spPr bwMode="auto">
            <a:xfrm>
              <a:off x="2304" y="2448"/>
              <a:ext cx="172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62" name="Line 18"/>
            <p:cNvSpPr>
              <a:spLocks noChangeShapeType="1"/>
            </p:cNvSpPr>
            <p:nvPr/>
          </p:nvSpPr>
          <p:spPr bwMode="auto">
            <a:xfrm>
              <a:off x="2400" y="2880"/>
              <a:ext cx="182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3A8CC-219E-7C4A-931F-F992E5F7CA0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7355" name="AutoShape 11"/>
          <p:cNvSpPr>
            <a:spLocks noChangeArrowheads="1"/>
          </p:cNvSpPr>
          <p:nvPr/>
        </p:nvSpPr>
        <p:spPr bwMode="auto">
          <a:xfrm>
            <a:off x="7297068" y="6208812"/>
            <a:ext cx="1846932" cy="649188"/>
          </a:xfrm>
          <a:prstGeom prst="wedgeEllipseCallout">
            <a:avLst>
              <a:gd name="adj1" fmla="val 15899"/>
              <a:gd name="adj2" fmla="val -127962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  <a:buNone/>
            </a:pPr>
            <a:r>
              <a:rPr lang="en-US" dirty="0" smtClean="0">
                <a:latin typeface="Arial"/>
                <a:cs typeface="Arial"/>
              </a:rPr>
              <a:t>Browser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3" name="AutoShape 9"/>
          <p:cNvSpPr>
            <a:spLocks noChangeArrowheads="1"/>
          </p:cNvSpPr>
          <p:nvPr/>
        </p:nvSpPr>
        <p:spPr bwMode="auto">
          <a:xfrm>
            <a:off x="2362200" y="5562600"/>
            <a:ext cx="2261339" cy="649188"/>
          </a:xfrm>
          <a:prstGeom prst="wedgeEllipseCallout">
            <a:avLst>
              <a:gd name="adj1" fmla="val -35388"/>
              <a:gd name="adj2" fmla="val -229708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  <a:buNone/>
            </a:pPr>
            <a:r>
              <a:rPr lang="en-US" dirty="0" smtClean="0">
                <a:latin typeface="Arial"/>
                <a:cs typeface="Arial"/>
              </a:rPr>
              <a:t>DB Server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5334000" y="2438400"/>
            <a:ext cx="1752600" cy="29718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  <a:cs typeface="Arial"/>
            </a:endParaRPr>
          </a:p>
        </p:txBody>
      </p:sp>
      <p:sp>
        <p:nvSpPr>
          <p:cNvPr id="24" name="Rounded Rectangle 23"/>
          <p:cNvSpPr/>
          <p:nvPr/>
        </p:nvSpPr>
        <p:spPr bwMode="auto">
          <a:xfrm>
            <a:off x="2743200" y="1600200"/>
            <a:ext cx="3726874" cy="9906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en-US" dirty="0" smtClean="0">
                <a:latin typeface="Arial"/>
                <a:cs typeface="Arial"/>
              </a:rPr>
              <a:t>Great for web-based applications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6" name="Line 17"/>
          <p:cNvSpPr>
            <a:spLocks noChangeShapeType="1"/>
          </p:cNvSpPr>
          <p:nvPr/>
        </p:nvSpPr>
        <p:spPr bwMode="auto">
          <a:xfrm flipV="1">
            <a:off x="3581400" y="3733800"/>
            <a:ext cx="161652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38800" y="2743200"/>
            <a:ext cx="1144588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8" name="AutoShape 9"/>
          <p:cNvSpPr>
            <a:spLocks noChangeArrowheads="1"/>
          </p:cNvSpPr>
          <p:nvPr/>
        </p:nvSpPr>
        <p:spPr bwMode="auto">
          <a:xfrm>
            <a:off x="4724400" y="5563029"/>
            <a:ext cx="2685932" cy="1142571"/>
          </a:xfrm>
          <a:prstGeom prst="wedgeEllipseCallout">
            <a:avLst>
              <a:gd name="adj1" fmla="val 4328"/>
              <a:gd name="adj2" fmla="val -119007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  <a:buNone/>
            </a:pPr>
            <a:r>
              <a:rPr lang="en-US" dirty="0" smtClean="0">
                <a:latin typeface="Arial"/>
                <a:cs typeface="Arial"/>
              </a:rPr>
              <a:t>Web Server &amp; </a:t>
            </a:r>
          </a:p>
          <a:p>
            <a:pPr algn="ctr">
              <a:spcBef>
                <a:spcPct val="20000"/>
              </a:spcBef>
              <a:buNone/>
            </a:pPr>
            <a:r>
              <a:rPr lang="en-US" dirty="0" smtClean="0">
                <a:latin typeface="Arial"/>
                <a:cs typeface="Arial"/>
              </a:rPr>
              <a:t>App Server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9" name="Text Box 19"/>
          <p:cNvSpPr txBox="1">
            <a:spLocks noChangeArrowheads="1"/>
          </p:cNvSpPr>
          <p:nvPr/>
        </p:nvSpPr>
        <p:spPr bwMode="auto">
          <a:xfrm>
            <a:off x="3581400" y="3276600"/>
            <a:ext cx="1877738" cy="9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  <a:buNone/>
            </a:pPr>
            <a:r>
              <a:rPr lang="en-US" dirty="0" smtClean="0">
                <a:latin typeface="Arial"/>
                <a:cs typeface="Arial"/>
              </a:rPr>
              <a:t>Connection</a:t>
            </a:r>
          </a:p>
          <a:p>
            <a:pPr>
              <a:spcBef>
                <a:spcPct val="20000"/>
              </a:spcBef>
              <a:buNone/>
            </a:pPr>
            <a:r>
              <a:rPr lang="en-US" dirty="0" smtClean="0">
                <a:latin typeface="Arial"/>
                <a:cs typeface="Arial"/>
              </a:rPr>
              <a:t>(e.g., JDBC</a:t>
            </a:r>
            <a:r>
              <a:rPr lang="en-US" dirty="0">
                <a:latin typeface="Arial"/>
                <a:cs typeface="Arial"/>
              </a:rPr>
              <a:t>)</a:t>
            </a:r>
          </a:p>
        </p:txBody>
      </p:sp>
      <p:sp>
        <p:nvSpPr>
          <p:cNvPr id="30" name="Text Box 19"/>
          <p:cNvSpPr txBox="1">
            <a:spLocks noChangeArrowheads="1"/>
          </p:cNvSpPr>
          <p:nvPr/>
        </p:nvSpPr>
        <p:spPr bwMode="auto">
          <a:xfrm>
            <a:off x="7162800" y="4262735"/>
            <a:ext cx="16440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  <a:buNone/>
            </a:pPr>
            <a:r>
              <a:rPr lang="en-US" dirty="0" smtClean="0">
                <a:latin typeface="Arial"/>
                <a:cs typeface="Arial"/>
              </a:rPr>
              <a:t>HTTP/SSL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93790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</a:t>
            </a:r>
            <a:endParaRPr lang="en-US" dirty="0"/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DBMS Deployment: Cloud</a:t>
            </a:r>
            <a:endParaRPr lang="en-US" dirty="0"/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6553200" y="2209800"/>
            <a:ext cx="2514600" cy="3429000"/>
            <a:chOff x="2256" y="1392"/>
            <a:chExt cx="2688" cy="2160"/>
          </a:xfrm>
        </p:grpSpPr>
        <p:pic>
          <p:nvPicPr>
            <p:cNvPr id="57357" name="Picture 1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128" y="1392"/>
              <a:ext cx="624" cy="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7358" name="Picture 1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224" y="2244"/>
              <a:ext cx="624" cy="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7359" name="Picture 1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320" y="3108"/>
              <a:ext cx="624" cy="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7360" name="Line 16"/>
            <p:cNvSpPr>
              <a:spLocks noChangeShapeType="1"/>
            </p:cNvSpPr>
            <p:nvPr/>
          </p:nvSpPr>
          <p:spPr bwMode="auto">
            <a:xfrm flipV="1">
              <a:off x="2256" y="1728"/>
              <a:ext cx="177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61" name="Line 17"/>
            <p:cNvSpPr>
              <a:spLocks noChangeShapeType="1"/>
            </p:cNvSpPr>
            <p:nvPr/>
          </p:nvSpPr>
          <p:spPr bwMode="auto">
            <a:xfrm>
              <a:off x="2304" y="2448"/>
              <a:ext cx="172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62" name="Line 18"/>
            <p:cNvSpPr>
              <a:spLocks noChangeShapeType="1"/>
            </p:cNvSpPr>
            <p:nvPr/>
          </p:nvSpPr>
          <p:spPr bwMode="auto">
            <a:xfrm>
              <a:off x="2400" y="2880"/>
              <a:ext cx="182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3A8CC-219E-7C4A-931F-F992E5F7CA0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7355" name="AutoShape 11"/>
          <p:cNvSpPr>
            <a:spLocks noChangeArrowheads="1"/>
          </p:cNvSpPr>
          <p:nvPr/>
        </p:nvSpPr>
        <p:spPr bwMode="auto">
          <a:xfrm>
            <a:off x="7601762" y="6208812"/>
            <a:ext cx="1389838" cy="649188"/>
          </a:xfrm>
          <a:prstGeom prst="wedgeEllipseCallout">
            <a:avLst>
              <a:gd name="adj1" fmla="val 15899"/>
              <a:gd name="adj2" fmla="val -127962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  <a:buNone/>
            </a:pPr>
            <a:r>
              <a:rPr lang="en-US" dirty="0" smtClean="0">
                <a:latin typeface="Arial"/>
                <a:cs typeface="Arial"/>
              </a:rPr>
              <a:t>Users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4" name="Rounded Rectangle 23"/>
          <p:cNvSpPr/>
          <p:nvPr/>
        </p:nvSpPr>
        <p:spPr bwMode="auto">
          <a:xfrm>
            <a:off x="304800" y="1676400"/>
            <a:ext cx="3726874" cy="9906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en-US" dirty="0" smtClean="0">
                <a:latin typeface="Arial"/>
                <a:cs typeface="Arial"/>
              </a:rPr>
              <a:t>Great for web-based applications too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30" name="Text Box 19"/>
          <p:cNvSpPr txBox="1">
            <a:spLocks noChangeArrowheads="1"/>
          </p:cNvSpPr>
          <p:nvPr/>
        </p:nvSpPr>
        <p:spPr bwMode="auto">
          <a:xfrm>
            <a:off x="7162800" y="4262735"/>
            <a:ext cx="16440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  <a:buNone/>
            </a:pPr>
            <a:r>
              <a:rPr lang="en-US" dirty="0" smtClean="0">
                <a:latin typeface="Arial"/>
                <a:cs typeface="Arial"/>
              </a:rPr>
              <a:t>HTTP/SSL</a:t>
            </a:r>
            <a:endParaRPr lang="en-US" dirty="0">
              <a:latin typeface="Arial"/>
              <a:cs typeface="Arial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2819400"/>
            <a:ext cx="3179255" cy="2024126"/>
          </a:xfrm>
          <a:prstGeom prst="rect">
            <a:avLst/>
          </a:prstGeom>
        </p:spPr>
      </p:pic>
      <p:pic>
        <p:nvPicPr>
          <p:cNvPr id="32" name="Picture 1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1600" y="4800600"/>
            <a:ext cx="583746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" name="Picture 1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3276600"/>
            <a:ext cx="583746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4" name="Line 17"/>
          <p:cNvSpPr>
            <a:spLocks noChangeShapeType="1"/>
          </p:cNvSpPr>
          <p:nvPr/>
        </p:nvSpPr>
        <p:spPr bwMode="auto">
          <a:xfrm>
            <a:off x="2209800" y="3581400"/>
            <a:ext cx="1616529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Line 17"/>
          <p:cNvSpPr>
            <a:spLocks noChangeShapeType="1"/>
          </p:cNvSpPr>
          <p:nvPr/>
        </p:nvSpPr>
        <p:spPr bwMode="auto">
          <a:xfrm flipV="1">
            <a:off x="2133601" y="4724400"/>
            <a:ext cx="1676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AutoShape 11"/>
          <p:cNvSpPr>
            <a:spLocks noChangeArrowheads="1"/>
          </p:cNvSpPr>
          <p:nvPr/>
        </p:nvSpPr>
        <p:spPr bwMode="auto">
          <a:xfrm>
            <a:off x="533400" y="5943600"/>
            <a:ext cx="2448784" cy="649188"/>
          </a:xfrm>
          <a:prstGeom prst="wedgeEllipseCallout">
            <a:avLst>
              <a:gd name="adj1" fmla="val -956"/>
              <a:gd name="adj2" fmla="val -123071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  <a:buNone/>
            </a:pPr>
            <a:r>
              <a:rPr lang="en-US" dirty="0" smtClean="0">
                <a:latin typeface="Arial"/>
                <a:cs typeface="Arial"/>
              </a:rPr>
              <a:t>Developers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57353" name="AutoShape 9"/>
          <p:cNvSpPr>
            <a:spLocks noChangeArrowheads="1"/>
          </p:cNvSpPr>
          <p:nvPr/>
        </p:nvSpPr>
        <p:spPr bwMode="auto">
          <a:xfrm>
            <a:off x="6023939" y="1676400"/>
            <a:ext cx="2207874" cy="649188"/>
          </a:xfrm>
          <a:prstGeom prst="wedgeEllipseCallout">
            <a:avLst>
              <a:gd name="adj1" fmla="val -42479"/>
              <a:gd name="adj2" fmla="val 151062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  <a:buNone/>
            </a:pPr>
            <a:r>
              <a:rPr lang="en-US" dirty="0">
                <a:latin typeface="Arial"/>
                <a:cs typeface="Arial"/>
              </a:rPr>
              <a:t>Data </a:t>
            </a:r>
            <a:r>
              <a:rPr lang="en-US" dirty="0" smtClean="0">
                <a:latin typeface="Arial"/>
                <a:cs typeface="Arial"/>
              </a:rPr>
              <a:t>Files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3" name="AutoShape 9"/>
          <p:cNvSpPr>
            <a:spLocks noChangeArrowheads="1"/>
          </p:cNvSpPr>
          <p:nvPr/>
        </p:nvSpPr>
        <p:spPr bwMode="auto">
          <a:xfrm>
            <a:off x="3048000" y="5334000"/>
            <a:ext cx="2261339" cy="649188"/>
          </a:xfrm>
          <a:prstGeom prst="wedgeEllipseCallout">
            <a:avLst>
              <a:gd name="adj1" fmla="val 36009"/>
              <a:gd name="adj2" fmla="val -210418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  <a:buNone/>
            </a:pPr>
            <a:r>
              <a:rPr lang="en-US" dirty="0" smtClean="0">
                <a:latin typeface="Arial"/>
                <a:cs typeface="Arial"/>
              </a:rPr>
              <a:t>DB Server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8" name="AutoShape 9"/>
          <p:cNvSpPr>
            <a:spLocks noChangeArrowheads="1"/>
          </p:cNvSpPr>
          <p:nvPr/>
        </p:nvSpPr>
        <p:spPr bwMode="auto">
          <a:xfrm>
            <a:off x="4924860" y="5257800"/>
            <a:ext cx="3812178" cy="649188"/>
          </a:xfrm>
          <a:prstGeom prst="wedgeEllipseCallout">
            <a:avLst>
              <a:gd name="adj1" fmla="val -25003"/>
              <a:gd name="adj2" fmla="val -166401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  <a:buNone/>
            </a:pPr>
            <a:r>
              <a:rPr lang="en-US" dirty="0" smtClean="0">
                <a:latin typeface="Arial"/>
                <a:cs typeface="Arial"/>
              </a:rPr>
              <a:t>Web &amp; App Server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6642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a DBMS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Client application establishes connection to server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Client must authenticate self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Client submits SQL commands to server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Server executes commands and returns results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566A4E-9079-274B-8CBC-BED33EC11BF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6" name="Picture 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81600" y="4552950"/>
            <a:ext cx="99060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216916" y="4018908"/>
            <a:ext cx="1752600" cy="17526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8" name="Can 7"/>
          <p:cNvSpPr/>
          <p:nvPr/>
        </p:nvSpPr>
        <p:spPr bwMode="auto">
          <a:xfrm>
            <a:off x="1295400" y="4876800"/>
            <a:ext cx="1597916" cy="742308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9" name="Rectangle 8"/>
          <p:cNvSpPr/>
          <p:nvPr/>
        </p:nvSpPr>
        <p:spPr bwMode="auto">
          <a:xfrm>
            <a:off x="1418696" y="4171308"/>
            <a:ext cx="1398420" cy="609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/>
            <a:r>
              <a:rPr lang="en-US" dirty="0" smtClean="0">
                <a:latin typeface="Arial"/>
                <a:cs typeface="Arial"/>
              </a:rPr>
              <a:t>DBMS</a:t>
            </a:r>
            <a:endParaRPr lang="en-US" dirty="0">
              <a:latin typeface="Arial"/>
              <a:cs typeface="Arial"/>
            </a:endParaRPr>
          </a:p>
        </p:txBody>
      </p:sp>
      <p:cxnSp>
        <p:nvCxnSpPr>
          <p:cNvPr id="11" name="Straight Connector 10"/>
          <p:cNvCxnSpPr>
            <a:stCxn id="6" idx="1"/>
            <a:endCxn id="7" idx="3"/>
          </p:cNvCxnSpPr>
          <p:nvPr/>
        </p:nvCxnSpPr>
        <p:spPr bwMode="auto">
          <a:xfrm rot="10800000">
            <a:off x="2969516" y="4895209"/>
            <a:ext cx="2212084" cy="1016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77200" cy="1143000"/>
          </a:xfrm>
        </p:spPr>
        <p:txBody>
          <a:bodyPr/>
          <a:lstStyle/>
          <a:p>
            <a:r>
              <a:rPr lang="en-US" dirty="0"/>
              <a:t>Query Evaluation </a:t>
            </a:r>
            <a:r>
              <a:rPr lang="en-US" dirty="0" smtClean="0"/>
              <a:t>Steps Review</a:t>
            </a:r>
            <a:endParaRPr lang="en-US" dirty="0"/>
          </a:p>
        </p:txBody>
      </p:sp>
      <p:sp>
        <p:nvSpPr>
          <p:cNvPr id="400387" name="AutoShape 3"/>
          <p:cNvSpPr>
            <a:spLocks noChangeArrowheads="1"/>
          </p:cNvSpPr>
          <p:nvPr/>
        </p:nvSpPr>
        <p:spPr bwMode="auto">
          <a:xfrm>
            <a:off x="2819400" y="2209800"/>
            <a:ext cx="3352800" cy="510778"/>
          </a:xfrm>
          <a:prstGeom prst="roundRect">
            <a:avLst>
              <a:gd name="adj" fmla="val 16667"/>
            </a:avLst>
          </a:prstGeom>
          <a:solidFill>
            <a:srgbClr val="006600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anchor="ctr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US" sz="2400" dirty="0">
                <a:latin typeface="Arial"/>
                <a:cs typeface="Arial"/>
              </a:rPr>
              <a:t>Parse &amp;</a:t>
            </a:r>
            <a:r>
              <a:rPr lang="en-US" sz="2400" dirty="0" smtClean="0">
                <a:latin typeface="Arial"/>
                <a:cs typeface="Arial"/>
              </a:rPr>
              <a:t> Check </a:t>
            </a:r>
            <a:r>
              <a:rPr lang="en-US" sz="2400" dirty="0">
                <a:latin typeface="Arial"/>
                <a:cs typeface="Arial"/>
              </a:rPr>
              <a:t>Query</a:t>
            </a:r>
          </a:p>
        </p:txBody>
      </p:sp>
      <p:sp>
        <p:nvSpPr>
          <p:cNvPr id="400388" name="AutoShape 4"/>
          <p:cNvSpPr>
            <a:spLocks noChangeArrowheads="1"/>
          </p:cNvSpPr>
          <p:nvPr/>
        </p:nvSpPr>
        <p:spPr bwMode="auto">
          <a:xfrm>
            <a:off x="2819400" y="3167777"/>
            <a:ext cx="3352800" cy="1328023"/>
          </a:xfrm>
          <a:prstGeom prst="roundRect">
            <a:avLst>
              <a:gd name="adj" fmla="val 16667"/>
            </a:avLst>
          </a:prstGeom>
          <a:solidFill>
            <a:srgbClr val="006600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anchor="ctr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US" dirty="0" smtClean="0">
                <a:latin typeface="Arial"/>
                <a:cs typeface="Arial"/>
              </a:rPr>
              <a:t>Decide how best to answer query: query optimization 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400390" name="AutoShape 6"/>
          <p:cNvSpPr>
            <a:spLocks noChangeArrowheads="1"/>
          </p:cNvSpPr>
          <p:nvPr/>
        </p:nvSpPr>
        <p:spPr bwMode="auto">
          <a:xfrm>
            <a:off x="2819400" y="4876800"/>
            <a:ext cx="3352800" cy="508000"/>
          </a:xfrm>
          <a:prstGeom prst="roundRect">
            <a:avLst>
              <a:gd name="adj" fmla="val 16667"/>
            </a:avLst>
          </a:prstGeom>
          <a:solidFill>
            <a:srgbClr val="006600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anchor="ctr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US" sz="2400" dirty="0">
                <a:latin typeface="Arial"/>
                <a:cs typeface="Arial"/>
              </a:rPr>
              <a:t>Query Execution</a:t>
            </a:r>
          </a:p>
        </p:txBody>
      </p:sp>
      <p:cxnSp>
        <p:nvCxnSpPr>
          <p:cNvPr id="400392" name="AutoShape 8"/>
          <p:cNvCxnSpPr>
            <a:cxnSpLocks noChangeShapeType="1"/>
            <a:stCxn id="400387" idx="2"/>
            <a:endCxn id="400388" idx="0"/>
          </p:cNvCxnSpPr>
          <p:nvPr/>
        </p:nvCxnSpPr>
        <p:spPr bwMode="auto">
          <a:xfrm rot="5400000">
            <a:off x="4272201" y="2944177"/>
            <a:ext cx="447199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00394" name="AutoShape 10"/>
          <p:cNvCxnSpPr>
            <a:cxnSpLocks noChangeShapeType="1"/>
            <a:stCxn id="400388" idx="2"/>
            <a:endCxn id="400390" idx="0"/>
          </p:cNvCxnSpPr>
          <p:nvPr/>
        </p:nvCxnSpPr>
        <p:spPr bwMode="auto">
          <a:xfrm rot="5400000">
            <a:off x="4305300" y="4686300"/>
            <a:ext cx="38100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00395" name="AutoShape 11"/>
          <p:cNvCxnSpPr>
            <a:cxnSpLocks noChangeShapeType="1"/>
            <a:stCxn id="400390" idx="2"/>
            <a:endCxn id="25" idx="0"/>
          </p:cNvCxnSpPr>
          <p:nvPr/>
        </p:nvCxnSpPr>
        <p:spPr bwMode="auto">
          <a:xfrm rot="16200000" flipH="1">
            <a:off x="4292600" y="5587999"/>
            <a:ext cx="406400" cy="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400396" name="Text Box 12"/>
          <p:cNvSpPr txBox="1">
            <a:spLocks noChangeArrowheads="1"/>
          </p:cNvSpPr>
          <p:nvPr/>
        </p:nvSpPr>
        <p:spPr bwMode="auto">
          <a:xfrm>
            <a:off x="3657601" y="1443038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400" dirty="0">
                <a:latin typeface="Arial"/>
                <a:cs typeface="Arial"/>
              </a:rPr>
              <a:t>SQL query</a:t>
            </a:r>
          </a:p>
        </p:txBody>
      </p:sp>
      <p:cxnSp>
        <p:nvCxnSpPr>
          <p:cNvPr id="400397" name="AutoShape 13"/>
          <p:cNvCxnSpPr>
            <a:cxnSpLocks noChangeShapeType="1"/>
            <a:stCxn id="400396" idx="2"/>
            <a:endCxn id="400387" idx="0"/>
          </p:cNvCxnSpPr>
          <p:nvPr/>
        </p:nvCxnSpPr>
        <p:spPr bwMode="auto">
          <a:xfrm rot="5400000">
            <a:off x="4341020" y="2055019"/>
            <a:ext cx="309562" cy="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fld id="{813EA2BD-E1AE-594E-A251-763EDD7589B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5" name="Text Box 12"/>
          <p:cNvSpPr txBox="1">
            <a:spLocks noChangeArrowheads="1"/>
          </p:cNvSpPr>
          <p:nvPr/>
        </p:nvSpPr>
        <p:spPr bwMode="auto">
          <a:xfrm>
            <a:off x="3352801" y="5791200"/>
            <a:ext cx="2286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400" dirty="0" smtClean="0">
                <a:latin typeface="Arial"/>
                <a:cs typeface="Arial"/>
              </a:rPr>
              <a:t>Return </a:t>
            </a:r>
            <a:r>
              <a:rPr lang="en-US" dirty="0" smtClean="0">
                <a:latin typeface="Arial"/>
                <a:cs typeface="Arial"/>
              </a:rPr>
              <a:t>Results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41" name="Oval Callout 40"/>
          <p:cNvSpPr/>
          <p:nvPr/>
        </p:nvSpPr>
        <p:spPr bwMode="auto">
          <a:xfrm>
            <a:off x="242978" y="2387444"/>
            <a:ext cx="2562043" cy="1168539"/>
          </a:xfrm>
          <a:prstGeom prst="wedgeEllipseCallout">
            <a:avLst>
              <a:gd name="adj1" fmla="val 55761"/>
              <a:gd name="adj2" fmla="val -16528"/>
            </a:avLst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1800" dirty="0" smtClean="0">
                <a:latin typeface="Arial"/>
                <a:cs typeface="Arial"/>
              </a:rPr>
              <a:t>Translate query </a:t>
            </a:r>
            <a:br>
              <a:rPr lang="en-US" sz="1800" dirty="0" smtClean="0">
                <a:latin typeface="Arial"/>
                <a:cs typeface="Arial"/>
              </a:rPr>
            </a:br>
            <a:r>
              <a:rPr lang="en-US" sz="1800" dirty="0" smtClean="0">
                <a:latin typeface="Arial"/>
                <a:cs typeface="Arial"/>
              </a:rPr>
              <a:t>string into internal </a:t>
            </a:r>
            <a:br>
              <a:rPr lang="en-US" sz="1800" dirty="0" smtClean="0">
                <a:latin typeface="Arial"/>
                <a:cs typeface="Arial"/>
              </a:rPr>
            </a:br>
            <a:r>
              <a:rPr lang="en-US" sz="1800" dirty="0" smtClean="0">
                <a:latin typeface="Arial"/>
                <a:cs typeface="Arial"/>
              </a:rPr>
              <a:t>representation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42" name="Oval Callout 41"/>
          <p:cNvSpPr/>
          <p:nvPr/>
        </p:nvSpPr>
        <p:spPr bwMode="auto">
          <a:xfrm>
            <a:off x="6536469" y="2196944"/>
            <a:ext cx="2471861" cy="1168539"/>
          </a:xfrm>
          <a:prstGeom prst="wedgeEllipseCallout">
            <a:avLst>
              <a:gd name="adj1" fmla="val -63807"/>
              <a:gd name="adj2" fmla="val -7324"/>
            </a:avLst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1800" dirty="0" smtClean="0">
                <a:latin typeface="Arial"/>
                <a:cs typeface="Arial"/>
              </a:rPr>
              <a:t>Check syntax, </a:t>
            </a:r>
            <a:br>
              <a:rPr lang="en-US" sz="1800" dirty="0" smtClean="0">
                <a:latin typeface="Arial"/>
                <a:cs typeface="Arial"/>
              </a:rPr>
            </a:br>
            <a:r>
              <a:rPr lang="en-US" sz="1800" dirty="0" smtClean="0">
                <a:latin typeface="Arial"/>
                <a:cs typeface="Arial"/>
              </a:rPr>
              <a:t>access control, </a:t>
            </a:r>
            <a:br>
              <a:rPr lang="en-US" sz="1800" dirty="0" smtClean="0">
                <a:latin typeface="Arial"/>
                <a:cs typeface="Arial"/>
              </a:rPr>
            </a:br>
            <a:r>
              <a:rPr lang="en-US" sz="1800" dirty="0" smtClean="0">
                <a:latin typeface="Arial"/>
                <a:cs typeface="Arial"/>
              </a:rPr>
              <a:t>table names, etc.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5" name="Oval Callout 14"/>
          <p:cNvSpPr/>
          <p:nvPr/>
        </p:nvSpPr>
        <p:spPr bwMode="auto">
          <a:xfrm>
            <a:off x="6758316" y="4724400"/>
            <a:ext cx="2357957" cy="1211818"/>
          </a:xfrm>
          <a:prstGeom prst="wedgeEllipseCallout">
            <a:avLst>
              <a:gd name="adj1" fmla="val -51316"/>
              <a:gd name="adj2" fmla="val -45293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800" dirty="0" smtClean="0">
                <a:latin typeface="Arial"/>
                <a:cs typeface="Arial"/>
              </a:rPr>
              <a:t>Query</a:t>
            </a:r>
            <a:br>
              <a:rPr lang="en-US" sz="2800" dirty="0" smtClean="0">
                <a:latin typeface="Arial"/>
                <a:cs typeface="Arial"/>
              </a:rPr>
            </a:br>
            <a:r>
              <a:rPr lang="en-US" sz="2800" dirty="0" smtClean="0">
                <a:latin typeface="Arial"/>
                <a:cs typeface="Arial"/>
              </a:rPr>
              <a:t>Evaluation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2" name="Right Brace 1"/>
          <p:cNvSpPr/>
          <p:nvPr/>
        </p:nvSpPr>
        <p:spPr bwMode="auto">
          <a:xfrm>
            <a:off x="6096000" y="2971800"/>
            <a:ext cx="612648" cy="3352800"/>
          </a:xfrm>
          <a:prstGeom prst="rightBrace">
            <a:avLst>
              <a:gd name="adj1" fmla="val 98456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667000"/>
            <a:ext cx="7772400" cy="1143000"/>
          </a:xfrm>
        </p:spPr>
        <p:txBody>
          <a:bodyPr/>
          <a:lstStyle/>
          <a:p>
            <a:r>
              <a:rPr lang="en-US" dirty="0" smtClean="0"/>
              <a:t>Question: How does Query Evaluation Work?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44C505-0347-8A4D-ABAD-7E39CA80EF55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The WHAT and the HOW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In SQL we write </a:t>
            </a:r>
            <a:r>
              <a:rPr lang="en-US" sz="2800" dirty="0" smtClean="0">
                <a:solidFill>
                  <a:srgbClr val="0000FF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WHAT 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we want to get form the data</a:t>
            </a:r>
          </a:p>
          <a:p>
            <a:pPr eaLnBrk="1" hangingPunct="1"/>
            <a:endParaRPr lang="en-US" sz="2800" dirty="0" smtClean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The database system needs to figure out </a:t>
            </a:r>
            <a:r>
              <a:rPr lang="en-US" sz="2800" dirty="0" smtClean="0">
                <a:solidFill>
                  <a:srgbClr val="0000FF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HOW 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to get the data we want</a:t>
            </a:r>
          </a:p>
          <a:p>
            <a:pPr eaLnBrk="1" hangingPunct="1"/>
            <a:endParaRPr lang="en-US" sz="2800" dirty="0" smtClean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The passage from </a:t>
            </a:r>
            <a:r>
              <a:rPr lang="en-US" sz="2800" dirty="0" smtClean="0">
                <a:solidFill>
                  <a:srgbClr val="0000FF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WHAT 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to </a:t>
            </a:r>
            <a:r>
              <a:rPr lang="en-US" sz="2800" dirty="0" smtClean="0">
                <a:solidFill>
                  <a:srgbClr val="0000FF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HOW 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goes </a:t>
            </a:r>
            <a:r>
              <a:rPr lang="en-US" sz="2800" i="1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through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 the </a:t>
            </a:r>
            <a:r>
              <a:rPr lang="en-US" sz="2800" dirty="0" smtClean="0">
                <a:solidFill>
                  <a:srgbClr val="FF0000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Relational Algebra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566A4E-9079-274B-8CBC-BED33EC11BF5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9044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Physical Data Independence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8153400" cy="4114800"/>
          </a:xfrm>
        </p:spPr>
        <p:txBody>
          <a:bodyPr/>
          <a:lstStyle/>
          <a:p>
            <a:r>
              <a:rPr lang="en-US" dirty="0" smtClean="0"/>
              <a:t>Means that applications </a:t>
            </a:r>
            <a:r>
              <a:rPr lang="en-US" dirty="0"/>
              <a:t>are insulated </a:t>
            </a:r>
            <a:r>
              <a:rPr lang="en-US" dirty="0" smtClean="0"/>
              <a:t>from </a:t>
            </a:r>
            <a:r>
              <a:rPr lang="en-US" dirty="0"/>
              <a:t>changes in physical storage </a:t>
            </a:r>
            <a:r>
              <a:rPr lang="en-US" dirty="0" smtClean="0"/>
              <a:t>details</a:t>
            </a:r>
          </a:p>
          <a:p>
            <a:pPr lvl="1"/>
            <a:r>
              <a:rPr lang="en-US" dirty="0" smtClean="0"/>
              <a:t>E.g., can add/remove indexes without changing apps</a:t>
            </a:r>
          </a:p>
          <a:p>
            <a:pPr lvl="1"/>
            <a:r>
              <a:rPr lang="en-US" dirty="0" smtClean="0"/>
              <a:t>Can do other physical tunings for performance</a:t>
            </a:r>
          </a:p>
          <a:p>
            <a:pPr lvl="1"/>
            <a:endParaRPr lang="en-US" dirty="0"/>
          </a:p>
          <a:p>
            <a:r>
              <a:rPr lang="en-US" dirty="0" smtClean="0"/>
              <a:t>SQL and relational algebra facilitate physical data independence because both languages are “set-at-a-time”: Relations as input and output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566A4E-9079-274B-8CBC-BED33EC11BF5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8516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Overview: SQL  = WHAT</a:t>
            </a:r>
          </a:p>
        </p:txBody>
      </p:sp>
      <p:sp>
        <p:nvSpPr>
          <p:cNvPr id="59395" name="Rectangle 3"/>
          <p:cNvSpPr>
            <a:spLocks noChangeArrowheads="1"/>
          </p:cNvSpPr>
          <p:nvPr/>
        </p:nvSpPr>
        <p:spPr bwMode="auto">
          <a:xfrm>
            <a:off x="304800" y="3048000"/>
            <a:ext cx="8131032" cy="206274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rgbClr val="0000FF"/>
                </a:solidFill>
                <a:latin typeface="Arial"/>
              </a:rPr>
              <a:t>SELECT</a:t>
            </a:r>
            <a:r>
              <a:rPr lang="en-US" sz="3200" dirty="0">
                <a:latin typeface="Arial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Arial"/>
              </a:rPr>
              <a:t>DISTINCT</a:t>
            </a:r>
            <a:r>
              <a:rPr lang="en-US" sz="3200" dirty="0">
                <a:latin typeface="Arial"/>
              </a:rPr>
              <a:t> </a:t>
            </a:r>
            <a:r>
              <a:rPr lang="en-US" sz="3200" dirty="0" err="1">
                <a:latin typeface="Arial"/>
              </a:rPr>
              <a:t>x.name</a:t>
            </a:r>
            <a:r>
              <a:rPr lang="en-US" sz="3200" dirty="0">
                <a:latin typeface="Arial"/>
              </a:rPr>
              <a:t>, </a:t>
            </a:r>
            <a:r>
              <a:rPr lang="en-US" sz="3200" dirty="0" err="1">
                <a:latin typeface="Arial"/>
              </a:rPr>
              <a:t>z.name</a:t>
            </a:r>
            <a:endParaRPr lang="en-US" sz="3200" dirty="0">
              <a:latin typeface="Arial"/>
            </a:endParaRPr>
          </a:p>
          <a:p>
            <a:r>
              <a:rPr lang="en-US" sz="3200" dirty="0">
                <a:solidFill>
                  <a:srgbClr val="0000FF"/>
                </a:solidFill>
                <a:latin typeface="Arial"/>
              </a:rPr>
              <a:t>FROM</a:t>
            </a:r>
            <a:r>
              <a:rPr lang="en-US" sz="3200" dirty="0">
                <a:latin typeface="Arial"/>
              </a:rPr>
              <a:t> Product </a:t>
            </a:r>
            <a:r>
              <a:rPr lang="en-US" sz="3200" dirty="0" err="1">
                <a:latin typeface="Arial"/>
              </a:rPr>
              <a:t>x</a:t>
            </a:r>
            <a:r>
              <a:rPr lang="en-US" sz="3200" dirty="0">
                <a:latin typeface="Arial"/>
              </a:rPr>
              <a:t>, Purchase </a:t>
            </a:r>
            <a:r>
              <a:rPr lang="en-US" sz="3200" dirty="0" err="1">
                <a:latin typeface="Arial"/>
              </a:rPr>
              <a:t>y</a:t>
            </a:r>
            <a:r>
              <a:rPr lang="en-US" sz="3200" dirty="0">
                <a:latin typeface="Arial"/>
              </a:rPr>
              <a:t>, Customer </a:t>
            </a:r>
            <a:r>
              <a:rPr lang="en-US" sz="3200" dirty="0" err="1">
                <a:latin typeface="Arial"/>
              </a:rPr>
              <a:t>z</a:t>
            </a:r>
            <a:endParaRPr lang="en-US" sz="3200" dirty="0">
              <a:latin typeface="Arial"/>
            </a:endParaRPr>
          </a:p>
          <a:p>
            <a:r>
              <a:rPr lang="en-US" sz="3200" dirty="0">
                <a:solidFill>
                  <a:srgbClr val="0000FF"/>
                </a:solidFill>
                <a:latin typeface="Arial"/>
              </a:rPr>
              <a:t>WHERE</a:t>
            </a:r>
            <a:r>
              <a:rPr lang="en-US" sz="3200" dirty="0">
                <a:latin typeface="Arial"/>
              </a:rPr>
              <a:t> </a:t>
            </a:r>
            <a:r>
              <a:rPr lang="en-US" sz="3200" dirty="0" err="1">
                <a:latin typeface="Arial"/>
              </a:rPr>
              <a:t>x.pid</a:t>
            </a:r>
            <a:r>
              <a:rPr lang="en-US" sz="3200" dirty="0">
                <a:latin typeface="Arial"/>
              </a:rPr>
              <a:t> = </a:t>
            </a:r>
            <a:r>
              <a:rPr lang="en-US" sz="3200" dirty="0" err="1">
                <a:latin typeface="Arial"/>
              </a:rPr>
              <a:t>y.pid</a:t>
            </a:r>
            <a:r>
              <a:rPr lang="en-US" sz="3200" dirty="0">
                <a:latin typeface="Arial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Arial"/>
              </a:rPr>
              <a:t>and</a:t>
            </a:r>
            <a:r>
              <a:rPr lang="en-US" sz="3200" dirty="0">
                <a:latin typeface="Arial"/>
              </a:rPr>
              <a:t> </a:t>
            </a:r>
            <a:r>
              <a:rPr lang="en-US" sz="3200" dirty="0" err="1">
                <a:latin typeface="Arial"/>
              </a:rPr>
              <a:t>y.cid</a:t>
            </a:r>
            <a:r>
              <a:rPr lang="en-US" sz="3200" dirty="0">
                <a:latin typeface="Arial"/>
              </a:rPr>
              <a:t> = </a:t>
            </a:r>
            <a:r>
              <a:rPr lang="en-US" sz="3200" dirty="0" err="1">
                <a:latin typeface="Arial"/>
              </a:rPr>
              <a:t>y.cid</a:t>
            </a:r>
            <a:r>
              <a:rPr lang="en-US" sz="3200" dirty="0">
                <a:latin typeface="Arial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Arial"/>
              </a:rPr>
              <a:t>and</a:t>
            </a:r>
            <a:r>
              <a:rPr lang="en-US" sz="3200" dirty="0">
                <a:latin typeface="Arial"/>
              </a:rPr>
              <a:t/>
            </a:r>
            <a:br>
              <a:rPr lang="en-US" sz="3200" dirty="0">
                <a:latin typeface="Arial"/>
              </a:rPr>
            </a:br>
            <a:r>
              <a:rPr lang="en-US" sz="3200" dirty="0">
                <a:latin typeface="Arial"/>
              </a:rPr>
              <a:t>                </a:t>
            </a:r>
            <a:r>
              <a:rPr lang="en-US" sz="3200" dirty="0" err="1">
                <a:latin typeface="Arial"/>
              </a:rPr>
              <a:t>x.price</a:t>
            </a:r>
            <a:r>
              <a:rPr lang="en-US" sz="3200" dirty="0">
                <a:latin typeface="Arial"/>
              </a:rPr>
              <a:t> &gt; 100 </a:t>
            </a:r>
            <a:r>
              <a:rPr lang="en-US" sz="3200" dirty="0">
                <a:solidFill>
                  <a:srgbClr val="0000FF"/>
                </a:solidFill>
                <a:latin typeface="Arial"/>
              </a:rPr>
              <a:t>and</a:t>
            </a:r>
            <a:r>
              <a:rPr lang="en-US" sz="3200" dirty="0">
                <a:latin typeface="Arial"/>
              </a:rPr>
              <a:t> </a:t>
            </a:r>
            <a:r>
              <a:rPr lang="en-US" sz="3200" dirty="0" err="1">
                <a:latin typeface="Arial"/>
              </a:rPr>
              <a:t>z.city</a:t>
            </a:r>
            <a:r>
              <a:rPr lang="en-US" sz="3200" dirty="0">
                <a:latin typeface="Arial"/>
              </a:rPr>
              <a:t> = ‘Seattle’</a:t>
            </a:r>
          </a:p>
        </p:txBody>
      </p:sp>
      <p:sp>
        <p:nvSpPr>
          <p:cNvPr id="20486" name="Rounded Rectangle 30"/>
          <p:cNvSpPr>
            <a:spLocks noChangeArrowheads="1"/>
          </p:cNvSpPr>
          <p:nvPr/>
        </p:nvSpPr>
        <p:spPr bwMode="auto">
          <a:xfrm>
            <a:off x="541337" y="5562600"/>
            <a:ext cx="7688263" cy="579438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Arial" pitchFamily="112" charset="0"/>
              </a:rPr>
              <a:t>It’s clear WHAT we want, unclear HOW to get it</a:t>
            </a:r>
          </a:p>
        </p:txBody>
      </p:sp>
      <p:sp>
        <p:nvSpPr>
          <p:cNvPr id="8" name="Text Box 27"/>
          <p:cNvSpPr txBox="1">
            <a:spLocks noChangeArrowheads="1"/>
          </p:cNvSpPr>
          <p:nvPr/>
        </p:nvSpPr>
        <p:spPr bwMode="auto">
          <a:xfrm>
            <a:off x="228600" y="1295400"/>
            <a:ext cx="3690734" cy="1200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dirty="0" err="1">
                <a:latin typeface="Arial"/>
              </a:rPr>
              <a:t>Product(</a:t>
            </a:r>
            <a:r>
              <a:rPr lang="en-US" u="sng" dirty="0" err="1">
                <a:latin typeface="Arial"/>
              </a:rPr>
              <a:t>pid</a:t>
            </a:r>
            <a:r>
              <a:rPr lang="en-US" dirty="0">
                <a:latin typeface="Arial"/>
              </a:rPr>
              <a:t>, name, price)</a:t>
            </a:r>
            <a:br>
              <a:rPr lang="en-US" dirty="0">
                <a:latin typeface="Arial"/>
              </a:rPr>
            </a:br>
            <a:r>
              <a:rPr lang="en-US" dirty="0" err="1">
                <a:latin typeface="Arial"/>
              </a:rPr>
              <a:t>Purchase(</a:t>
            </a:r>
            <a:r>
              <a:rPr lang="en-US" u="sng" dirty="0" err="1">
                <a:latin typeface="Arial"/>
              </a:rPr>
              <a:t>pid</a:t>
            </a:r>
            <a:r>
              <a:rPr lang="en-US" u="sng" dirty="0">
                <a:latin typeface="Arial"/>
              </a:rPr>
              <a:t>, cid</a:t>
            </a:r>
            <a:r>
              <a:rPr lang="en-US" dirty="0">
                <a:latin typeface="Arial"/>
              </a:rPr>
              <a:t>, store)</a:t>
            </a:r>
          </a:p>
          <a:p>
            <a:pPr eaLnBrk="1" hangingPunct="1"/>
            <a:r>
              <a:rPr lang="en-US" dirty="0" err="1">
                <a:latin typeface="Arial"/>
              </a:rPr>
              <a:t>Customer(</a:t>
            </a:r>
            <a:r>
              <a:rPr lang="en-US" u="sng" dirty="0" err="1">
                <a:latin typeface="Arial"/>
              </a:rPr>
              <a:t>cid</a:t>
            </a:r>
            <a:r>
              <a:rPr lang="en-US" dirty="0">
                <a:latin typeface="Arial"/>
              </a:rPr>
              <a:t>, name, city)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44C505-0347-8A4D-ABAD-7E39CA80EF55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5989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6868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Overview: Relational Algebra = HOW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302000" y="5338763"/>
            <a:ext cx="349250" cy="123825"/>
            <a:chOff x="3112" y="2223"/>
            <a:chExt cx="220" cy="78"/>
          </a:xfrm>
        </p:grpSpPr>
        <p:sp>
          <p:nvSpPr>
            <p:cNvPr id="22562" name="Freeform 8"/>
            <p:cNvSpPr>
              <a:spLocks/>
            </p:cNvSpPr>
            <p:nvPr/>
          </p:nvSpPr>
          <p:spPr bwMode="auto">
            <a:xfrm>
              <a:off x="3112" y="2223"/>
              <a:ext cx="1" cy="78"/>
            </a:xfrm>
            <a:custGeom>
              <a:avLst/>
              <a:gdLst>
                <a:gd name="T0" fmla="*/ 0 w 1"/>
                <a:gd name="T1" fmla="*/ 0 h 78"/>
                <a:gd name="T2" fmla="*/ 0 w 1"/>
                <a:gd name="T3" fmla="*/ 77 h 78"/>
                <a:gd name="T4" fmla="*/ 0 w 1"/>
                <a:gd name="T5" fmla="*/ 0 h 78"/>
                <a:gd name="T6" fmla="*/ 0 60000 65536"/>
                <a:gd name="T7" fmla="*/ 0 60000 65536"/>
                <a:gd name="T8" fmla="*/ 0 60000 65536"/>
                <a:gd name="T9" fmla="*/ 0 w 1"/>
                <a:gd name="T10" fmla="*/ 0 h 78"/>
                <a:gd name="T11" fmla="*/ 1 w 1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">
                  <a:moveTo>
                    <a:pt x="0" y="0"/>
                  </a:moveTo>
                  <a:lnTo>
                    <a:pt x="0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Arial" pitchFamily="112" charset="0"/>
              </a:endParaRPr>
            </a:p>
          </p:txBody>
        </p:sp>
        <p:sp>
          <p:nvSpPr>
            <p:cNvPr id="22563" name="Freeform 9"/>
            <p:cNvSpPr>
              <a:spLocks/>
            </p:cNvSpPr>
            <p:nvPr/>
          </p:nvSpPr>
          <p:spPr bwMode="auto">
            <a:xfrm>
              <a:off x="3331" y="2223"/>
              <a:ext cx="1" cy="78"/>
            </a:xfrm>
            <a:custGeom>
              <a:avLst/>
              <a:gdLst>
                <a:gd name="T0" fmla="*/ 0 w 1"/>
                <a:gd name="T1" fmla="*/ 0 h 78"/>
                <a:gd name="T2" fmla="*/ 0 w 1"/>
                <a:gd name="T3" fmla="*/ 77 h 78"/>
                <a:gd name="T4" fmla="*/ 0 w 1"/>
                <a:gd name="T5" fmla="*/ 0 h 78"/>
                <a:gd name="T6" fmla="*/ 0 60000 65536"/>
                <a:gd name="T7" fmla="*/ 0 60000 65536"/>
                <a:gd name="T8" fmla="*/ 0 60000 65536"/>
                <a:gd name="T9" fmla="*/ 0 w 1"/>
                <a:gd name="T10" fmla="*/ 0 h 78"/>
                <a:gd name="T11" fmla="*/ 1 w 1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">
                  <a:moveTo>
                    <a:pt x="0" y="0"/>
                  </a:moveTo>
                  <a:lnTo>
                    <a:pt x="0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Arial" pitchFamily="112" charset="0"/>
              </a:endParaRPr>
            </a:p>
          </p:txBody>
        </p:sp>
        <p:sp>
          <p:nvSpPr>
            <p:cNvPr id="22564" name="Freeform 10"/>
            <p:cNvSpPr>
              <a:spLocks/>
            </p:cNvSpPr>
            <p:nvPr/>
          </p:nvSpPr>
          <p:spPr bwMode="auto">
            <a:xfrm>
              <a:off x="3112" y="2223"/>
              <a:ext cx="220" cy="78"/>
            </a:xfrm>
            <a:custGeom>
              <a:avLst/>
              <a:gdLst>
                <a:gd name="T0" fmla="*/ 0 w 220"/>
                <a:gd name="T1" fmla="*/ 0 h 78"/>
                <a:gd name="T2" fmla="*/ 219 w 220"/>
                <a:gd name="T3" fmla="*/ 77 h 78"/>
                <a:gd name="T4" fmla="*/ 0 w 220"/>
                <a:gd name="T5" fmla="*/ 0 h 78"/>
                <a:gd name="T6" fmla="*/ 0 60000 65536"/>
                <a:gd name="T7" fmla="*/ 0 60000 65536"/>
                <a:gd name="T8" fmla="*/ 0 60000 65536"/>
                <a:gd name="T9" fmla="*/ 0 w 220"/>
                <a:gd name="T10" fmla="*/ 0 h 78"/>
                <a:gd name="T11" fmla="*/ 220 w 220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" h="78">
                  <a:moveTo>
                    <a:pt x="0" y="0"/>
                  </a:moveTo>
                  <a:lnTo>
                    <a:pt x="219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Arial" pitchFamily="112" charset="0"/>
              </a:endParaRPr>
            </a:p>
          </p:txBody>
        </p:sp>
        <p:sp>
          <p:nvSpPr>
            <p:cNvPr id="22565" name="Freeform 11"/>
            <p:cNvSpPr>
              <a:spLocks/>
            </p:cNvSpPr>
            <p:nvPr/>
          </p:nvSpPr>
          <p:spPr bwMode="auto">
            <a:xfrm>
              <a:off x="3112" y="2223"/>
              <a:ext cx="220" cy="78"/>
            </a:xfrm>
            <a:custGeom>
              <a:avLst/>
              <a:gdLst>
                <a:gd name="T0" fmla="*/ 0 w 220"/>
                <a:gd name="T1" fmla="*/ 77 h 78"/>
                <a:gd name="T2" fmla="*/ 219 w 220"/>
                <a:gd name="T3" fmla="*/ 0 h 78"/>
                <a:gd name="T4" fmla="*/ 0 w 220"/>
                <a:gd name="T5" fmla="*/ 77 h 78"/>
                <a:gd name="T6" fmla="*/ 0 60000 65536"/>
                <a:gd name="T7" fmla="*/ 0 60000 65536"/>
                <a:gd name="T8" fmla="*/ 0 60000 65536"/>
                <a:gd name="T9" fmla="*/ 0 w 220"/>
                <a:gd name="T10" fmla="*/ 0 h 78"/>
                <a:gd name="T11" fmla="*/ 220 w 220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" h="78">
                  <a:moveTo>
                    <a:pt x="0" y="77"/>
                  </a:moveTo>
                  <a:lnTo>
                    <a:pt x="219" y="0"/>
                  </a:lnTo>
                  <a:lnTo>
                    <a:pt x="0" y="77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Arial" pitchFamily="112" charset="0"/>
              </a:endParaRPr>
            </a:p>
          </p:txBody>
        </p:sp>
      </p:grpSp>
      <p:sp>
        <p:nvSpPr>
          <p:cNvPr id="22533" name="Rectangle 18"/>
          <p:cNvSpPr>
            <a:spLocks noChangeArrowheads="1"/>
          </p:cNvSpPr>
          <p:nvPr/>
        </p:nvSpPr>
        <p:spPr bwMode="auto">
          <a:xfrm>
            <a:off x="2149475" y="6289675"/>
            <a:ext cx="1203325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2100" b="1">
                <a:solidFill>
                  <a:srgbClr val="000000"/>
                </a:solidFill>
                <a:latin typeface="Arial" pitchFamily="112" charset="0"/>
              </a:rPr>
              <a:t>Product</a:t>
            </a:r>
          </a:p>
        </p:txBody>
      </p:sp>
      <p:sp>
        <p:nvSpPr>
          <p:cNvPr id="22534" name="Rectangle 19"/>
          <p:cNvSpPr>
            <a:spLocks noChangeArrowheads="1"/>
          </p:cNvSpPr>
          <p:nvPr/>
        </p:nvSpPr>
        <p:spPr bwMode="auto">
          <a:xfrm>
            <a:off x="3935413" y="6273800"/>
            <a:ext cx="1398587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2100" b="1">
                <a:solidFill>
                  <a:srgbClr val="000000"/>
                </a:solidFill>
                <a:latin typeface="Arial" pitchFamily="112" charset="0"/>
              </a:rPr>
              <a:t>Purchase</a:t>
            </a:r>
          </a:p>
        </p:txBody>
      </p:sp>
      <p:sp>
        <p:nvSpPr>
          <p:cNvPr id="22535" name="Rectangle 20"/>
          <p:cNvSpPr>
            <a:spLocks noChangeArrowheads="1"/>
          </p:cNvSpPr>
          <p:nvPr/>
        </p:nvSpPr>
        <p:spPr bwMode="auto">
          <a:xfrm>
            <a:off x="3635375" y="5330825"/>
            <a:ext cx="10128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Arial" pitchFamily="112" charset="0"/>
              </a:rPr>
              <a:t>pid=pid</a:t>
            </a:r>
          </a:p>
        </p:txBody>
      </p:sp>
      <p:sp>
        <p:nvSpPr>
          <p:cNvPr id="22536" name="Rectangle 21"/>
          <p:cNvSpPr>
            <a:spLocks noChangeArrowheads="1"/>
          </p:cNvSpPr>
          <p:nvPr/>
        </p:nvSpPr>
        <p:spPr bwMode="auto">
          <a:xfrm>
            <a:off x="4938713" y="3733800"/>
            <a:ext cx="32146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Arial" pitchFamily="112" charset="0"/>
              </a:rPr>
              <a:t>price&gt;100 and city=‘Seattle’</a:t>
            </a:r>
          </a:p>
        </p:txBody>
      </p:sp>
      <p:sp>
        <p:nvSpPr>
          <p:cNvPr id="22537" name="Rectangle 23"/>
          <p:cNvSpPr>
            <a:spLocks noChangeArrowheads="1"/>
          </p:cNvSpPr>
          <p:nvPr/>
        </p:nvSpPr>
        <p:spPr bwMode="auto">
          <a:xfrm>
            <a:off x="4811713" y="2674938"/>
            <a:ext cx="18288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Arial" pitchFamily="112" charset="0"/>
              </a:rPr>
              <a:t>x.name,z.name</a:t>
            </a:r>
          </a:p>
        </p:txBody>
      </p:sp>
      <p:sp>
        <p:nvSpPr>
          <p:cNvPr id="22538" name="TextBox 28"/>
          <p:cNvSpPr txBox="1">
            <a:spLocks noChangeArrowheads="1"/>
          </p:cNvSpPr>
          <p:nvPr/>
        </p:nvSpPr>
        <p:spPr bwMode="auto">
          <a:xfrm>
            <a:off x="4543425" y="1519238"/>
            <a:ext cx="3365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Symbol" pitchFamily="112" charset="2"/>
                <a:ea typeface="Symbol" pitchFamily="112" charset="2"/>
                <a:cs typeface="Symbol" pitchFamily="112" charset="2"/>
              </a:rPr>
              <a:t>δ</a:t>
            </a:r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4546600" y="4416425"/>
            <a:ext cx="349250" cy="123825"/>
            <a:chOff x="3112" y="2223"/>
            <a:chExt cx="220" cy="78"/>
          </a:xfrm>
        </p:grpSpPr>
        <p:sp>
          <p:nvSpPr>
            <p:cNvPr id="22558" name="Freeform 8"/>
            <p:cNvSpPr>
              <a:spLocks/>
            </p:cNvSpPr>
            <p:nvPr/>
          </p:nvSpPr>
          <p:spPr bwMode="auto">
            <a:xfrm>
              <a:off x="3112" y="2223"/>
              <a:ext cx="1" cy="78"/>
            </a:xfrm>
            <a:custGeom>
              <a:avLst/>
              <a:gdLst>
                <a:gd name="T0" fmla="*/ 0 w 1"/>
                <a:gd name="T1" fmla="*/ 0 h 78"/>
                <a:gd name="T2" fmla="*/ 0 w 1"/>
                <a:gd name="T3" fmla="*/ 77 h 78"/>
                <a:gd name="T4" fmla="*/ 0 w 1"/>
                <a:gd name="T5" fmla="*/ 0 h 78"/>
                <a:gd name="T6" fmla="*/ 0 60000 65536"/>
                <a:gd name="T7" fmla="*/ 0 60000 65536"/>
                <a:gd name="T8" fmla="*/ 0 60000 65536"/>
                <a:gd name="T9" fmla="*/ 0 w 1"/>
                <a:gd name="T10" fmla="*/ 0 h 78"/>
                <a:gd name="T11" fmla="*/ 1 w 1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">
                  <a:moveTo>
                    <a:pt x="0" y="0"/>
                  </a:moveTo>
                  <a:lnTo>
                    <a:pt x="0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Arial" pitchFamily="112" charset="0"/>
              </a:endParaRPr>
            </a:p>
          </p:txBody>
        </p:sp>
        <p:sp>
          <p:nvSpPr>
            <p:cNvPr id="22559" name="Freeform 9"/>
            <p:cNvSpPr>
              <a:spLocks/>
            </p:cNvSpPr>
            <p:nvPr/>
          </p:nvSpPr>
          <p:spPr bwMode="auto">
            <a:xfrm>
              <a:off x="3331" y="2223"/>
              <a:ext cx="1" cy="78"/>
            </a:xfrm>
            <a:custGeom>
              <a:avLst/>
              <a:gdLst>
                <a:gd name="T0" fmla="*/ 0 w 1"/>
                <a:gd name="T1" fmla="*/ 0 h 78"/>
                <a:gd name="T2" fmla="*/ 0 w 1"/>
                <a:gd name="T3" fmla="*/ 77 h 78"/>
                <a:gd name="T4" fmla="*/ 0 w 1"/>
                <a:gd name="T5" fmla="*/ 0 h 78"/>
                <a:gd name="T6" fmla="*/ 0 60000 65536"/>
                <a:gd name="T7" fmla="*/ 0 60000 65536"/>
                <a:gd name="T8" fmla="*/ 0 60000 65536"/>
                <a:gd name="T9" fmla="*/ 0 w 1"/>
                <a:gd name="T10" fmla="*/ 0 h 78"/>
                <a:gd name="T11" fmla="*/ 1 w 1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">
                  <a:moveTo>
                    <a:pt x="0" y="0"/>
                  </a:moveTo>
                  <a:lnTo>
                    <a:pt x="0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Arial" pitchFamily="112" charset="0"/>
              </a:endParaRPr>
            </a:p>
          </p:txBody>
        </p:sp>
        <p:sp>
          <p:nvSpPr>
            <p:cNvPr id="22560" name="Freeform 10"/>
            <p:cNvSpPr>
              <a:spLocks/>
            </p:cNvSpPr>
            <p:nvPr/>
          </p:nvSpPr>
          <p:spPr bwMode="auto">
            <a:xfrm>
              <a:off x="3112" y="2223"/>
              <a:ext cx="220" cy="78"/>
            </a:xfrm>
            <a:custGeom>
              <a:avLst/>
              <a:gdLst>
                <a:gd name="T0" fmla="*/ 0 w 220"/>
                <a:gd name="T1" fmla="*/ 0 h 78"/>
                <a:gd name="T2" fmla="*/ 219 w 220"/>
                <a:gd name="T3" fmla="*/ 77 h 78"/>
                <a:gd name="T4" fmla="*/ 0 w 220"/>
                <a:gd name="T5" fmla="*/ 0 h 78"/>
                <a:gd name="T6" fmla="*/ 0 60000 65536"/>
                <a:gd name="T7" fmla="*/ 0 60000 65536"/>
                <a:gd name="T8" fmla="*/ 0 60000 65536"/>
                <a:gd name="T9" fmla="*/ 0 w 220"/>
                <a:gd name="T10" fmla="*/ 0 h 78"/>
                <a:gd name="T11" fmla="*/ 220 w 220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" h="78">
                  <a:moveTo>
                    <a:pt x="0" y="0"/>
                  </a:moveTo>
                  <a:lnTo>
                    <a:pt x="219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Arial" pitchFamily="112" charset="0"/>
              </a:endParaRPr>
            </a:p>
          </p:txBody>
        </p:sp>
        <p:sp>
          <p:nvSpPr>
            <p:cNvPr id="22561" name="Freeform 11"/>
            <p:cNvSpPr>
              <a:spLocks/>
            </p:cNvSpPr>
            <p:nvPr/>
          </p:nvSpPr>
          <p:spPr bwMode="auto">
            <a:xfrm>
              <a:off x="3112" y="2223"/>
              <a:ext cx="220" cy="78"/>
            </a:xfrm>
            <a:custGeom>
              <a:avLst/>
              <a:gdLst>
                <a:gd name="T0" fmla="*/ 0 w 220"/>
                <a:gd name="T1" fmla="*/ 77 h 78"/>
                <a:gd name="T2" fmla="*/ 219 w 220"/>
                <a:gd name="T3" fmla="*/ 0 h 78"/>
                <a:gd name="T4" fmla="*/ 0 w 220"/>
                <a:gd name="T5" fmla="*/ 77 h 78"/>
                <a:gd name="T6" fmla="*/ 0 60000 65536"/>
                <a:gd name="T7" fmla="*/ 0 60000 65536"/>
                <a:gd name="T8" fmla="*/ 0 60000 65536"/>
                <a:gd name="T9" fmla="*/ 0 w 220"/>
                <a:gd name="T10" fmla="*/ 0 h 78"/>
                <a:gd name="T11" fmla="*/ 220 w 220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" h="78">
                  <a:moveTo>
                    <a:pt x="0" y="77"/>
                  </a:moveTo>
                  <a:lnTo>
                    <a:pt x="219" y="0"/>
                  </a:lnTo>
                  <a:lnTo>
                    <a:pt x="0" y="77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Arial" pitchFamily="112" charset="0"/>
              </a:endParaRPr>
            </a:p>
          </p:txBody>
        </p:sp>
      </p:grpSp>
      <p:cxnSp>
        <p:nvCxnSpPr>
          <p:cNvPr id="22541" name="Straight Connector 36"/>
          <p:cNvCxnSpPr>
            <a:cxnSpLocks noChangeShapeType="1"/>
          </p:cNvCxnSpPr>
          <p:nvPr/>
        </p:nvCxnSpPr>
        <p:spPr bwMode="auto">
          <a:xfrm flipV="1">
            <a:off x="3521075" y="4568825"/>
            <a:ext cx="1066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2542" name="Straight Connector 39"/>
          <p:cNvCxnSpPr>
            <a:cxnSpLocks noChangeShapeType="1"/>
            <a:stCxn id="22533" idx="0"/>
          </p:cNvCxnSpPr>
          <p:nvPr/>
        </p:nvCxnSpPr>
        <p:spPr bwMode="auto">
          <a:xfrm rot="5400000" flipH="1" flipV="1">
            <a:off x="2648744" y="5585619"/>
            <a:ext cx="806450" cy="601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2543" name="Straight Connector 41"/>
          <p:cNvCxnSpPr>
            <a:cxnSpLocks noChangeShapeType="1"/>
            <a:stCxn id="22534" idx="0"/>
            <a:endCxn id="22535" idx="1"/>
          </p:cNvCxnSpPr>
          <p:nvPr/>
        </p:nvCxnSpPr>
        <p:spPr bwMode="auto">
          <a:xfrm rot="16200000" flipV="1">
            <a:off x="3756025" y="5394325"/>
            <a:ext cx="758825" cy="1000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2544" name="Rectangle 20"/>
          <p:cNvSpPr>
            <a:spLocks noChangeArrowheads="1"/>
          </p:cNvSpPr>
          <p:nvPr/>
        </p:nvSpPr>
        <p:spPr bwMode="auto">
          <a:xfrm>
            <a:off x="4953000" y="4416425"/>
            <a:ext cx="9874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Arial" pitchFamily="112" charset="0"/>
              </a:rPr>
              <a:t>cid=cid</a:t>
            </a:r>
          </a:p>
        </p:txBody>
      </p:sp>
      <p:sp>
        <p:nvSpPr>
          <p:cNvPr id="22545" name="Rectangle 19"/>
          <p:cNvSpPr>
            <a:spLocks noChangeArrowheads="1"/>
          </p:cNvSpPr>
          <p:nvPr/>
        </p:nvSpPr>
        <p:spPr bwMode="auto">
          <a:xfrm>
            <a:off x="6019800" y="5635625"/>
            <a:ext cx="1443038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2100" b="1">
                <a:solidFill>
                  <a:srgbClr val="000000"/>
                </a:solidFill>
                <a:latin typeface="Arial" pitchFamily="112" charset="0"/>
              </a:rPr>
              <a:t>Customer</a:t>
            </a:r>
          </a:p>
        </p:txBody>
      </p:sp>
      <p:cxnSp>
        <p:nvCxnSpPr>
          <p:cNvPr id="22546" name="Straight Connector 45"/>
          <p:cNvCxnSpPr>
            <a:cxnSpLocks noChangeShapeType="1"/>
            <a:stCxn id="22545" idx="0"/>
            <a:endCxn id="22544" idx="1"/>
          </p:cNvCxnSpPr>
          <p:nvPr/>
        </p:nvCxnSpPr>
        <p:spPr bwMode="auto">
          <a:xfrm rot="16200000" flipV="1">
            <a:off x="5329238" y="4224337"/>
            <a:ext cx="1035050" cy="1787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2547" name="TextBox 48"/>
          <p:cNvSpPr txBox="1">
            <a:spLocks noChangeArrowheads="1"/>
          </p:cNvSpPr>
          <p:nvPr/>
        </p:nvSpPr>
        <p:spPr bwMode="auto">
          <a:xfrm>
            <a:off x="4518025" y="2438400"/>
            <a:ext cx="4206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Symbol" pitchFamily="112" charset="2"/>
                <a:ea typeface="Symbol" pitchFamily="112" charset="2"/>
                <a:cs typeface="Symbol" pitchFamily="112" charset="2"/>
              </a:rPr>
              <a:t>Π</a:t>
            </a:r>
          </a:p>
        </p:txBody>
      </p:sp>
      <p:sp>
        <p:nvSpPr>
          <p:cNvPr id="22548" name="TextBox 49"/>
          <p:cNvSpPr txBox="1">
            <a:spLocks noChangeArrowheads="1"/>
          </p:cNvSpPr>
          <p:nvPr/>
        </p:nvSpPr>
        <p:spPr bwMode="auto">
          <a:xfrm>
            <a:off x="4533900" y="3429000"/>
            <a:ext cx="3746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Symbol" pitchFamily="112" charset="2"/>
                <a:ea typeface="Symbol" pitchFamily="112" charset="2"/>
                <a:cs typeface="Symbol" pitchFamily="112" charset="2"/>
              </a:rPr>
              <a:t>σ</a:t>
            </a:r>
          </a:p>
        </p:txBody>
      </p:sp>
      <p:cxnSp>
        <p:nvCxnSpPr>
          <p:cNvPr id="22549" name="Straight Connector 51"/>
          <p:cNvCxnSpPr>
            <a:cxnSpLocks noChangeShapeType="1"/>
            <a:endCxn id="22548" idx="2"/>
          </p:cNvCxnSpPr>
          <p:nvPr/>
        </p:nvCxnSpPr>
        <p:spPr bwMode="auto">
          <a:xfrm rot="16200000" flipV="1">
            <a:off x="4496594" y="4115594"/>
            <a:ext cx="452437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2550" name="Straight Connector 53"/>
          <p:cNvCxnSpPr>
            <a:cxnSpLocks noChangeShapeType="1"/>
            <a:stCxn id="22548" idx="0"/>
            <a:endCxn id="22547" idx="2"/>
          </p:cNvCxnSpPr>
          <p:nvPr/>
        </p:nvCxnSpPr>
        <p:spPr bwMode="auto">
          <a:xfrm rot="5400000" flipH="1" flipV="1">
            <a:off x="4460081" y="3161507"/>
            <a:ext cx="528637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2551" name="Straight Connector 56"/>
          <p:cNvCxnSpPr>
            <a:cxnSpLocks noChangeShapeType="1"/>
            <a:stCxn id="22547" idx="0"/>
            <a:endCxn id="22538" idx="2"/>
          </p:cNvCxnSpPr>
          <p:nvPr/>
        </p:nvCxnSpPr>
        <p:spPr bwMode="auto">
          <a:xfrm rot="16200000" flipV="1">
            <a:off x="4491038" y="2201862"/>
            <a:ext cx="457200" cy="15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2552" name="Line Callout 1 58"/>
          <p:cNvSpPr>
            <a:spLocks/>
          </p:cNvSpPr>
          <p:nvPr/>
        </p:nvSpPr>
        <p:spPr bwMode="auto">
          <a:xfrm>
            <a:off x="228600" y="4278312"/>
            <a:ext cx="3430588" cy="369888"/>
          </a:xfrm>
          <a:prstGeom prst="borderCallout1">
            <a:avLst>
              <a:gd name="adj1" fmla="val 60250"/>
              <a:gd name="adj2" fmla="val 101481"/>
              <a:gd name="adj3" fmla="val 131616"/>
              <a:gd name="adj4" fmla="val 114921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Arial" pitchFamily="112" charset="0"/>
              </a:rPr>
              <a:t>T1(</a:t>
            </a:r>
            <a:r>
              <a:rPr lang="en-US" sz="1800" dirty="0" err="1">
                <a:latin typeface="Arial" pitchFamily="112" charset="0"/>
              </a:rPr>
              <a:t>pid,name,price,pid,cid,store</a:t>
            </a:r>
            <a:r>
              <a:rPr lang="en-US" sz="1800" dirty="0">
                <a:latin typeface="Arial" pitchFamily="112" charset="0"/>
              </a:rPr>
              <a:t>)</a:t>
            </a:r>
          </a:p>
        </p:txBody>
      </p:sp>
      <p:sp>
        <p:nvSpPr>
          <p:cNvPr id="22553" name="Line Callout 1 59"/>
          <p:cNvSpPr>
            <a:spLocks/>
          </p:cNvSpPr>
          <p:nvPr/>
        </p:nvSpPr>
        <p:spPr bwMode="auto">
          <a:xfrm>
            <a:off x="2057400" y="3429000"/>
            <a:ext cx="1120775" cy="369888"/>
          </a:xfrm>
          <a:prstGeom prst="borderCallout1">
            <a:avLst>
              <a:gd name="adj1" fmla="val 60250"/>
              <a:gd name="adj2" fmla="val 101481"/>
              <a:gd name="adj3" fmla="val 166389"/>
              <a:gd name="adj4" fmla="val 236491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>
                <a:latin typeface="Arial" pitchFamily="112" charset="0"/>
              </a:rPr>
              <a:t>T2( . . . .)</a:t>
            </a:r>
          </a:p>
        </p:txBody>
      </p:sp>
      <p:sp>
        <p:nvSpPr>
          <p:cNvPr id="22554" name="Line Callout 1 60"/>
          <p:cNvSpPr>
            <a:spLocks/>
          </p:cNvSpPr>
          <p:nvPr/>
        </p:nvSpPr>
        <p:spPr bwMode="auto">
          <a:xfrm>
            <a:off x="5867400" y="1752600"/>
            <a:ext cx="1827213" cy="369888"/>
          </a:xfrm>
          <a:prstGeom prst="borderCallout1">
            <a:avLst>
              <a:gd name="adj1" fmla="val 52523"/>
              <a:gd name="adj2" fmla="val -2528"/>
              <a:gd name="adj3" fmla="val 106060"/>
              <a:gd name="adj4" fmla="val -49852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>
                <a:latin typeface="Arial" pitchFamily="112" charset="0"/>
              </a:rPr>
              <a:t>T4(name,name)</a:t>
            </a:r>
          </a:p>
        </p:txBody>
      </p:sp>
      <p:sp>
        <p:nvSpPr>
          <p:cNvPr id="22555" name="Line Callout 1 61"/>
          <p:cNvSpPr>
            <a:spLocks/>
          </p:cNvSpPr>
          <p:nvPr/>
        </p:nvSpPr>
        <p:spPr bwMode="auto">
          <a:xfrm>
            <a:off x="5867400" y="1143000"/>
            <a:ext cx="1493838" cy="369888"/>
          </a:xfrm>
          <a:prstGeom prst="borderCallout1">
            <a:avLst>
              <a:gd name="adj1" fmla="val 52523"/>
              <a:gd name="adj2" fmla="val -2528"/>
              <a:gd name="adj3" fmla="val 96847"/>
              <a:gd name="adj4" fmla="val -71662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Arial" pitchFamily="112" charset="0"/>
              </a:rPr>
              <a:t>Final answer</a:t>
            </a:r>
          </a:p>
        </p:txBody>
      </p:sp>
      <p:sp>
        <p:nvSpPr>
          <p:cNvPr id="22556" name="Line Callout 1 62"/>
          <p:cNvSpPr>
            <a:spLocks/>
          </p:cNvSpPr>
          <p:nvPr/>
        </p:nvSpPr>
        <p:spPr bwMode="auto">
          <a:xfrm>
            <a:off x="7010400" y="3059113"/>
            <a:ext cx="992188" cy="369887"/>
          </a:xfrm>
          <a:prstGeom prst="borderCallout1">
            <a:avLst>
              <a:gd name="adj1" fmla="val 52523"/>
              <a:gd name="adj2" fmla="val -2528"/>
              <a:gd name="adj3" fmla="val 28060"/>
              <a:gd name="adj4" fmla="val -194042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>
                <a:latin typeface="Arial" pitchFamily="112" charset="0"/>
              </a:rPr>
              <a:t>T3(. . . )</a:t>
            </a:r>
          </a:p>
        </p:txBody>
      </p:sp>
      <p:sp>
        <p:nvSpPr>
          <p:cNvPr id="22557" name="Rounded Rectangle 63"/>
          <p:cNvSpPr>
            <a:spLocks noChangeArrowheads="1"/>
          </p:cNvSpPr>
          <p:nvPr/>
        </p:nvSpPr>
        <p:spPr bwMode="auto">
          <a:xfrm>
            <a:off x="152400" y="4876800"/>
            <a:ext cx="2453472" cy="132802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smtClean="0">
                <a:latin typeface="Arial" pitchFamily="112" charset="0"/>
              </a:rPr>
              <a:t>Execution order</a:t>
            </a:r>
            <a:br>
              <a:rPr lang="en-US" dirty="0" smtClean="0">
                <a:latin typeface="Arial" pitchFamily="112" charset="0"/>
              </a:rPr>
            </a:br>
            <a:r>
              <a:rPr lang="en-US" dirty="0" smtClean="0">
                <a:latin typeface="Arial" pitchFamily="112" charset="0"/>
              </a:rPr>
              <a:t>is now clearly</a:t>
            </a:r>
            <a:br>
              <a:rPr lang="en-US" dirty="0" smtClean="0">
                <a:latin typeface="Arial" pitchFamily="112" charset="0"/>
              </a:rPr>
            </a:br>
            <a:r>
              <a:rPr lang="en-US" dirty="0" smtClean="0">
                <a:latin typeface="Arial" pitchFamily="112" charset="0"/>
              </a:rPr>
              <a:t>specified</a:t>
            </a:r>
            <a:endParaRPr lang="en-US" dirty="0">
              <a:latin typeface="Arial" pitchFamily="112" charset="0"/>
            </a:endParaRPr>
          </a:p>
        </p:txBody>
      </p:sp>
      <p:sp>
        <p:nvSpPr>
          <p:cNvPr id="38" name="Text Box 27"/>
          <p:cNvSpPr txBox="1">
            <a:spLocks noChangeArrowheads="1"/>
          </p:cNvSpPr>
          <p:nvPr/>
        </p:nvSpPr>
        <p:spPr bwMode="auto">
          <a:xfrm>
            <a:off x="228600" y="1295400"/>
            <a:ext cx="3690734" cy="1200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dirty="0" err="1">
                <a:latin typeface="Arial"/>
              </a:rPr>
              <a:t>Product(</a:t>
            </a:r>
            <a:r>
              <a:rPr lang="en-US" u="sng" dirty="0" err="1">
                <a:latin typeface="Arial"/>
              </a:rPr>
              <a:t>pid</a:t>
            </a:r>
            <a:r>
              <a:rPr lang="en-US" dirty="0">
                <a:latin typeface="Arial"/>
              </a:rPr>
              <a:t>, name, price)</a:t>
            </a:r>
            <a:br>
              <a:rPr lang="en-US" dirty="0">
                <a:latin typeface="Arial"/>
              </a:rPr>
            </a:br>
            <a:r>
              <a:rPr lang="en-US" dirty="0" err="1">
                <a:latin typeface="Arial"/>
              </a:rPr>
              <a:t>Purchase(</a:t>
            </a:r>
            <a:r>
              <a:rPr lang="en-US" u="sng" dirty="0" err="1">
                <a:latin typeface="Arial"/>
              </a:rPr>
              <a:t>pid</a:t>
            </a:r>
            <a:r>
              <a:rPr lang="en-US" u="sng" dirty="0">
                <a:latin typeface="Arial"/>
              </a:rPr>
              <a:t>, cid</a:t>
            </a:r>
            <a:r>
              <a:rPr lang="en-US" dirty="0">
                <a:latin typeface="Arial"/>
              </a:rPr>
              <a:t>, store)</a:t>
            </a:r>
          </a:p>
          <a:p>
            <a:pPr eaLnBrk="1" hangingPunct="1"/>
            <a:r>
              <a:rPr lang="en-US" dirty="0" err="1">
                <a:latin typeface="Arial"/>
              </a:rPr>
              <a:t>Customer(</a:t>
            </a:r>
            <a:r>
              <a:rPr lang="en-US" u="sng" dirty="0" err="1">
                <a:latin typeface="Arial"/>
              </a:rPr>
              <a:t>cid</a:t>
            </a:r>
            <a:r>
              <a:rPr lang="en-US" dirty="0">
                <a:latin typeface="Arial"/>
              </a:rPr>
              <a:t>, name, city)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44C505-0347-8A4D-ABAD-7E39CA80EF55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39" name="Rounded Rectangle 63"/>
          <p:cNvSpPr>
            <a:spLocks noChangeArrowheads="1"/>
          </p:cNvSpPr>
          <p:nvPr/>
        </p:nvSpPr>
        <p:spPr bwMode="auto">
          <a:xfrm>
            <a:off x="6400800" y="4191000"/>
            <a:ext cx="2632762" cy="132802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smtClean="0">
                <a:latin typeface="Arial" pitchFamily="112" charset="0"/>
              </a:rPr>
              <a:t>But a lot of</a:t>
            </a:r>
          </a:p>
          <a:p>
            <a:r>
              <a:rPr lang="en-US" dirty="0" smtClean="0">
                <a:latin typeface="Arial" pitchFamily="112" charset="0"/>
              </a:rPr>
              <a:t>physical details</a:t>
            </a:r>
          </a:p>
          <a:p>
            <a:r>
              <a:rPr lang="en-US" dirty="0" smtClean="0">
                <a:latin typeface="Arial" pitchFamily="112" charset="0"/>
              </a:rPr>
              <a:t>are still left open!</a:t>
            </a:r>
            <a:endParaRPr lang="en-US" dirty="0">
              <a:latin typeface="Arial" pitchFamily="1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8594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819400"/>
            <a:ext cx="7772400" cy="1143000"/>
          </a:xfrm>
        </p:spPr>
        <p:txBody>
          <a:bodyPr/>
          <a:lstStyle/>
          <a:p>
            <a:r>
              <a:rPr lang="en-US" dirty="0" smtClean="0"/>
              <a:t>Relational Algebra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44C505-0347-8A4D-ABAD-7E39CA80EF55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66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Sets v.s. Bags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Sets: {</a:t>
            </a:r>
            <a:r>
              <a:rPr lang="en-US" sz="2800" dirty="0" err="1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a,b,c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}, {</a:t>
            </a:r>
            <a:r>
              <a:rPr lang="en-US" sz="2800" dirty="0" err="1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a,d,e,f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}, { }, . . .</a:t>
            </a:r>
          </a:p>
          <a:p>
            <a:pPr eaLnBrk="1" hangingPunct="1"/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Bags: {a, a, </a:t>
            </a:r>
            <a:r>
              <a:rPr lang="en-US" sz="2800" dirty="0" err="1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b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, </a:t>
            </a:r>
            <a:r>
              <a:rPr lang="en-US" sz="2800" dirty="0" err="1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c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}, {</a:t>
            </a:r>
            <a:r>
              <a:rPr lang="en-US" sz="2800" dirty="0" err="1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b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, </a:t>
            </a:r>
            <a:r>
              <a:rPr lang="en-US" sz="2800" dirty="0" err="1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b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, </a:t>
            </a:r>
            <a:r>
              <a:rPr lang="en-US" sz="2800" dirty="0" err="1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b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, </a:t>
            </a:r>
            <a:r>
              <a:rPr lang="en-US" sz="2800" dirty="0" err="1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b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, </a:t>
            </a:r>
            <a:r>
              <a:rPr lang="en-US" sz="2800" dirty="0" err="1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b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}, . . .</a:t>
            </a:r>
          </a:p>
          <a:p>
            <a:pPr eaLnBrk="1" hangingPunct="1"/>
            <a:endParaRPr lang="en-US" sz="2800" dirty="0" smtClean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>
              <a:buFontTx/>
              <a:buNone/>
            </a:pP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Relational Algebra has two semantics:</a:t>
            </a:r>
          </a:p>
          <a:p>
            <a:pPr eaLnBrk="1" hangingPunct="1"/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Set semantics  = standard Relational Algebra</a:t>
            </a:r>
          </a:p>
          <a:p>
            <a:pPr eaLnBrk="1" hangingPunct="1"/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Bag semantics = extended Relational Algebra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3EDE-8ECC-4186-A19A-CF00533B084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6052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Relational Algebra </a:t>
            </a:r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Operators</a:t>
            </a:r>
          </a:p>
        </p:txBody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Union </a:t>
            </a:r>
            <a:r>
              <a:rPr lang="en-US" sz="2800" dirty="0" err="1">
                <a:solidFill>
                  <a:srgbClr val="FF0000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  <a:sym typeface="Symbol" pitchFamily="112" charset="2"/>
              </a:rPr>
              <a:t></a:t>
            </a:r>
            <a:r>
              <a:rPr lang="en-US" sz="2800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,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intersection</a:t>
            </a:r>
            <a:r>
              <a:rPr lang="en-US" sz="2800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  <a:sym typeface="Symbol" pitchFamily="112" charset="2"/>
              </a:rPr>
              <a:t></a:t>
            </a:r>
            <a:r>
              <a:rPr lang="en-US" sz="2800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, difference</a:t>
            </a:r>
            <a:r>
              <a:rPr lang="en-US" sz="2800" dirty="0">
                <a:solidFill>
                  <a:srgbClr val="FF0000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 -</a:t>
            </a:r>
            <a:r>
              <a:rPr lang="en-US" sz="2800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 </a:t>
            </a:r>
          </a:p>
          <a:p>
            <a:r>
              <a:rPr lang="en-US" sz="2800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Selection  </a:t>
            </a:r>
            <a:r>
              <a:rPr lang="en-US" sz="2800" dirty="0" err="1">
                <a:solidFill>
                  <a:srgbClr val="FF0000"/>
                </a:solidFill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s</a:t>
            </a:r>
            <a:endParaRPr lang="en-US" sz="2800" dirty="0">
              <a:latin typeface="Symbol" pitchFamily="112" charset="2"/>
              <a:ea typeface="ＭＳ Ｐゴシック" pitchFamily="112" charset="-128"/>
              <a:cs typeface="ＭＳ Ｐゴシック" pitchFamily="112" charset="-128"/>
            </a:endParaRPr>
          </a:p>
          <a:p>
            <a:r>
              <a:rPr lang="en-US" sz="2800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Projection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  <a:sym typeface="Symbol" pitchFamily="112" charset="2"/>
              </a:rPr>
              <a:t>Π</a:t>
            </a:r>
            <a:endParaRPr lang="en-US" sz="2800" dirty="0" smtClean="0">
              <a:solidFill>
                <a:srgbClr val="FF0000"/>
              </a:solidFill>
              <a:latin typeface="Symbol" pitchFamily="112" charset="2"/>
              <a:ea typeface="ＭＳ Ｐゴシック" pitchFamily="112" charset="-128"/>
              <a:cs typeface="ＭＳ Ｐゴシック" pitchFamily="112" charset="-128"/>
            </a:endParaRPr>
          </a:p>
          <a:p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Cartesian product </a:t>
            </a:r>
            <a:r>
              <a:rPr lang="en-US" dirty="0" smtClean="0">
                <a:solidFill>
                  <a:srgbClr val="FF0000"/>
                </a:solidFill>
                <a:sym typeface="Symbol" pitchFamily="-65" charset="2"/>
              </a:rPr>
              <a:t></a:t>
            </a:r>
            <a:r>
              <a:rPr lang="en-US" dirty="0">
                <a:solidFill>
                  <a:srgbClr val="7F7F7F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  <a:sym typeface="Symbol" pitchFamily="-65" charset="2"/>
              </a:rPr>
              <a:t>,</a:t>
            </a:r>
            <a:r>
              <a:rPr lang="en-US" sz="2800" dirty="0" smtClean="0">
                <a:solidFill>
                  <a:srgbClr val="7F7F7F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 </a:t>
            </a:r>
            <a:r>
              <a:rPr lang="en-US" dirty="0">
                <a:solidFill>
                  <a:srgbClr val="7F7F7F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j</a:t>
            </a:r>
            <a:r>
              <a:rPr lang="en-US" sz="2800" dirty="0" smtClean="0">
                <a:solidFill>
                  <a:srgbClr val="7F7F7F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oin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⨝</a:t>
            </a:r>
            <a:endParaRPr lang="en-US" sz="2800" dirty="0" smtClean="0">
              <a:solidFill>
                <a:srgbClr val="FF0000"/>
              </a:solidFill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r>
              <a:rPr lang="en-US" sz="2800" dirty="0" smtClean="0">
                <a:solidFill>
                  <a:srgbClr val="7F7F7F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Rename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  <a:latin typeface="Symbol" pitchFamily="112" charset="2"/>
                <a:ea typeface="ＭＳ Ｐゴシック" pitchFamily="112" charset="-128"/>
                <a:cs typeface="ＭＳ Ｐゴシック" pitchFamily="112" charset="-128"/>
                <a:sym typeface="Symbol" pitchFamily="112" charset="2"/>
              </a:rPr>
              <a:t></a:t>
            </a:r>
            <a:endParaRPr lang="en-US" sz="2800" dirty="0" smtClean="0">
              <a:latin typeface="Symbol" pitchFamily="112" charset="2"/>
              <a:ea typeface="ＭＳ Ｐゴシック" pitchFamily="112" charset="-128"/>
              <a:cs typeface="ＭＳ Ｐゴシック" pitchFamily="112" charset="-128"/>
              <a:sym typeface="Symbol" pitchFamily="112" charset="2"/>
            </a:endParaRPr>
          </a:p>
          <a:p>
            <a:r>
              <a:rPr lang="en-US" sz="2800" dirty="0" smtClean="0">
                <a:solidFill>
                  <a:srgbClr val="0000FF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Duplicate </a:t>
            </a:r>
            <a:r>
              <a:rPr lang="en-US" sz="2800" dirty="0">
                <a:solidFill>
                  <a:srgbClr val="0000FF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elimination </a:t>
            </a:r>
            <a:r>
              <a:rPr lang="en-US" sz="2800" dirty="0" err="1">
                <a:solidFill>
                  <a:srgbClr val="FF0000"/>
                </a:solidFill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d</a:t>
            </a:r>
            <a:endParaRPr lang="en-US" sz="2800" dirty="0">
              <a:latin typeface="Symbol" pitchFamily="112" charset="2"/>
              <a:ea typeface="ＭＳ Ｐゴシック" pitchFamily="112" charset="-128"/>
              <a:cs typeface="ＭＳ Ｐゴシック" pitchFamily="112" charset="-128"/>
            </a:endParaRPr>
          </a:p>
          <a:p>
            <a:r>
              <a:rPr lang="en-US" sz="2800" dirty="0">
                <a:solidFill>
                  <a:srgbClr val="0000FF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Grouping and aggregation </a:t>
            </a:r>
            <a:r>
              <a:rPr lang="en-US" sz="2800" dirty="0" err="1">
                <a:solidFill>
                  <a:srgbClr val="FF0000"/>
                </a:solidFill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g</a:t>
            </a:r>
            <a:endParaRPr lang="en-US" sz="2800" dirty="0">
              <a:solidFill>
                <a:srgbClr val="FF0000"/>
              </a:solidFill>
              <a:latin typeface="Symbol" pitchFamily="112" charset="2"/>
              <a:ea typeface="ＭＳ Ｐゴシック" pitchFamily="112" charset="-128"/>
              <a:cs typeface="ＭＳ Ｐゴシック" pitchFamily="112" charset="-128"/>
            </a:endParaRPr>
          </a:p>
          <a:p>
            <a:r>
              <a:rPr lang="en-US" sz="2800" dirty="0">
                <a:solidFill>
                  <a:srgbClr val="0000FF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Sorting</a:t>
            </a:r>
            <a:r>
              <a:rPr lang="en-US" sz="2800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t</a:t>
            </a:r>
            <a:endParaRPr lang="en-US" sz="2800" dirty="0">
              <a:solidFill>
                <a:srgbClr val="FF0000"/>
              </a:solidFill>
              <a:latin typeface="Symbol" pitchFamily="112" charset="2"/>
              <a:ea typeface="ＭＳ Ｐゴシック" pitchFamily="112" charset="-128"/>
              <a:cs typeface="ＭＳ Ｐゴシック" pitchFamily="112" charset="-128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3EDE-8ECC-4186-A19A-CF00533B0845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Right Brace 3"/>
          <p:cNvSpPr/>
          <p:nvPr/>
        </p:nvSpPr>
        <p:spPr bwMode="auto">
          <a:xfrm>
            <a:off x="6781800" y="2133600"/>
            <a:ext cx="612648" cy="2286000"/>
          </a:xfrm>
          <a:prstGeom prst="rightBrace">
            <a:avLst>
              <a:gd name="adj1" fmla="val 68451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91400" y="2819400"/>
            <a:ext cx="607859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>
                <a:latin typeface="Arial"/>
              </a:rPr>
              <a:t>RA</a:t>
            </a:r>
            <a:endParaRPr lang="en-US" dirty="0">
              <a:latin typeface="Arial"/>
            </a:endParaRPr>
          </a:p>
        </p:txBody>
      </p:sp>
      <p:sp>
        <p:nvSpPr>
          <p:cNvPr id="9" name="Right Brace 8"/>
          <p:cNvSpPr/>
          <p:nvPr/>
        </p:nvSpPr>
        <p:spPr bwMode="auto">
          <a:xfrm>
            <a:off x="8153400" y="2133600"/>
            <a:ext cx="612648" cy="3962400"/>
          </a:xfrm>
          <a:prstGeom prst="rightBrace">
            <a:avLst>
              <a:gd name="adj1" fmla="val 23693"/>
              <a:gd name="adj2" fmla="val 74304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10400" y="5257800"/>
            <a:ext cx="1992853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>
                <a:latin typeface="Arial"/>
              </a:rPr>
              <a:t>Extended RA</a:t>
            </a:r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549556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Union and Difference</a:t>
            </a:r>
          </a:p>
        </p:txBody>
      </p:sp>
      <p:sp>
        <p:nvSpPr>
          <p:cNvPr id="32773" name="Rounded Rectangle 6"/>
          <p:cNvSpPr>
            <a:spLocks noChangeArrowheads="1"/>
          </p:cNvSpPr>
          <p:nvPr/>
        </p:nvSpPr>
        <p:spPr bwMode="auto">
          <a:xfrm>
            <a:off x="1828800" y="4343400"/>
            <a:ext cx="5326063" cy="579438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Arial" pitchFamily="112" charset="0"/>
              </a:rPr>
              <a:t>What do they mean over bags ?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6200" y="2514600"/>
            <a:ext cx="1777049" cy="10772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88900" dir="2700000" algn="tl" rotWithShape="0">
              <a:srgbClr val="000000">
                <a:alpha val="43000"/>
              </a:srgb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32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R1 </a:t>
            </a:r>
            <a:r>
              <a:rPr lang="en-US" sz="3200" dirty="0" err="1">
                <a:latin typeface="Arial"/>
                <a:ea typeface="ＭＳ Ｐゴシック" pitchFamily="112" charset="-128"/>
                <a:cs typeface="ＭＳ Ｐゴシック" pitchFamily="112" charset="-128"/>
                <a:sym typeface="Symbol" pitchFamily="112" charset="2"/>
              </a:rPr>
              <a:t></a:t>
            </a:r>
            <a:r>
              <a:rPr lang="en-US" sz="3200" dirty="0">
                <a:latin typeface="Arial"/>
                <a:ea typeface="ＭＳ Ｐゴシック" pitchFamily="112" charset="-128"/>
                <a:cs typeface="ＭＳ Ｐゴシック" pitchFamily="112" charset="-128"/>
                <a:sym typeface="Symbol" pitchFamily="112" charset="2"/>
              </a:rPr>
              <a:t> R2</a:t>
            </a:r>
            <a:endParaRPr lang="en-US" sz="3200" dirty="0">
              <a:latin typeface="Arial"/>
            </a:endParaRPr>
          </a:p>
          <a:p>
            <a:pPr eaLnBrk="1" hangingPunct="1"/>
            <a:r>
              <a:rPr lang="en-US" sz="32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R1 – R2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D8B9C-D12E-468D-82FA-05310ABD65E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284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772400" cy="914400"/>
          </a:xfrm>
        </p:spPr>
        <p:txBody>
          <a:bodyPr/>
          <a:lstStyle/>
          <a:p>
            <a:pPr eaLnBrk="1" hangingPunct="1"/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What about Intersection ?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524000"/>
            <a:ext cx="7772400" cy="44958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Derived operator using minus</a:t>
            </a:r>
          </a:p>
          <a:p>
            <a:pPr eaLnBrk="1" hangingPunct="1"/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endParaRPr lang="en-US" dirty="0" smtClean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r>
              <a:rPr lang="en-US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Derived using join </a:t>
            </a:r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(will</a:t>
            </a:r>
            <a:r>
              <a:rPr lang="en-US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 explain later</a:t>
            </a:r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2286000"/>
            <a:ext cx="5004294" cy="5847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88900" dir="2700000" algn="tl" rotWithShape="0">
              <a:srgbClr val="000000">
                <a:alpha val="43000"/>
              </a:srgb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32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R1 </a:t>
            </a:r>
            <a:r>
              <a:rPr lang="en-US" sz="3200" dirty="0" err="1">
                <a:latin typeface="Arial"/>
                <a:ea typeface="ＭＳ Ｐゴシック" pitchFamily="112" charset="-128"/>
                <a:cs typeface="ＭＳ Ｐゴシック" pitchFamily="112" charset="-128"/>
                <a:sym typeface="Symbol" pitchFamily="112" charset="2"/>
              </a:rPr>
              <a:t></a:t>
            </a:r>
            <a:r>
              <a:rPr lang="en-US" sz="32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 R2 = R1 – (R1 – R2)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4343400"/>
            <a:ext cx="3803846" cy="5847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88900" dir="2700000" algn="tl" rotWithShape="0">
              <a:srgbClr val="000000">
                <a:alpha val="43000"/>
              </a:srgb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32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R1 </a:t>
            </a:r>
            <a:r>
              <a:rPr lang="en-US" sz="3200" dirty="0" err="1">
                <a:latin typeface="Arial"/>
                <a:ea typeface="ＭＳ Ｐゴシック" pitchFamily="112" charset="-128"/>
                <a:cs typeface="ＭＳ Ｐゴシック" pitchFamily="112" charset="-128"/>
                <a:sym typeface="Symbol" pitchFamily="112" charset="2"/>
              </a:rPr>
              <a:t></a:t>
            </a:r>
            <a:r>
              <a:rPr lang="en-US" sz="32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 R2 =</a:t>
            </a:r>
            <a:r>
              <a:rPr lang="en-US" sz="3200" dirty="0" smtClean="0">
                <a:latin typeface="Arial"/>
                <a:ea typeface="ＭＳ Ｐゴシック" pitchFamily="112" charset="-128"/>
                <a:cs typeface="ＭＳ Ｐゴシック" pitchFamily="112" charset="-128"/>
              </a:rPr>
              <a:t> R1 </a:t>
            </a:r>
            <a:r>
              <a:rPr lang="en-US" sz="32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⨝ </a:t>
            </a:r>
            <a:r>
              <a:rPr lang="en-US" sz="3200" dirty="0" smtClean="0">
                <a:latin typeface="Arial"/>
                <a:ea typeface="ＭＳ Ｐゴシック" pitchFamily="112" charset="-128"/>
                <a:cs typeface="ＭＳ Ｐゴシック" pitchFamily="112" charset="-128"/>
              </a:rPr>
              <a:t>R2</a:t>
            </a:r>
            <a:endParaRPr lang="en-US" sz="3200" dirty="0">
              <a:latin typeface="Arial"/>
              <a:ea typeface="ＭＳ Ｐゴシック" pitchFamily="112" charset="-128"/>
              <a:cs typeface="ＭＳ Ｐゴシック" pitchFamily="112" charset="-128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3EDE-8ECC-4186-A19A-CF00533B084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1317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914400"/>
          </a:xfrm>
        </p:spPr>
        <p:txBody>
          <a:bodyPr/>
          <a:lstStyle/>
          <a:p>
            <a:pPr eaLnBrk="1" hangingPunct="1"/>
            <a:r>
              <a:rPr lang="en-US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Selection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Returns all </a:t>
            </a:r>
            <a:r>
              <a:rPr lang="en-US" dirty="0" err="1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tuples</a:t>
            </a:r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 which satisfy a condition</a:t>
            </a:r>
          </a:p>
          <a:p>
            <a:pPr eaLnBrk="1" hangingPunct="1"/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Examples</a:t>
            </a:r>
          </a:p>
          <a:p>
            <a:pPr lvl="1" eaLnBrk="1" hangingPunct="1"/>
            <a:r>
              <a:rPr lang="en-US" dirty="0">
                <a:latin typeface="Arial" pitchFamily="112" charset="0"/>
              </a:rPr>
              <a:t> </a:t>
            </a:r>
            <a:r>
              <a:rPr lang="en-US" dirty="0" err="1">
                <a:latin typeface="Symbol" pitchFamily="112" charset="2"/>
              </a:rPr>
              <a:t>s</a:t>
            </a:r>
            <a:r>
              <a:rPr lang="en-US" sz="1800" baseline="-25000" dirty="0" err="1">
                <a:latin typeface="Arial" pitchFamily="112" charset="0"/>
              </a:rPr>
              <a:t>Salary</a:t>
            </a:r>
            <a:r>
              <a:rPr lang="en-US" sz="1800" baseline="-25000" dirty="0">
                <a:latin typeface="Arial" pitchFamily="112" charset="0"/>
              </a:rPr>
              <a:t> &gt; 40000</a:t>
            </a:r>
            <a:r>
              <a:rPr lang="en-US" sz="1800" dirty="0">
                <a:latin typeface="Arial" pitchFamily="112" charset="0"/>
              </a:rPr>
              <a:t> </a:t>
            </a:r>
            <a:r>
              <a:rPr lang="en-US" dirty="0">
                <a:latin typeface="Arial" pitchFamily="112" charset="0"/>
              </a:rPr>
              <a:t>(Employee)</a:t>
            </a:r>
          </a:p>
          <a:p>
            <a:pPr lvl="1" eaLnBrk="1" hangingPunct="1"/>
            <a:r>
              <a:rPr lang="en-US" dirty="0">
                <a:latin typeface="Arial" pitchFamily="112" charset="0"/>
              </a:rPr>
              <a:t> </a:t>
            </a:r>
            <a:r>
              <a:rPr lang="en-US" dirty="0" err="1">
                <a:latin typeface="Symbol" pitchFamily="112" charset="2"/>
              </a:rPr>
              <a:t>s</a:t>
            </a:r>
            <a:r>
              <a:rPr lang="en-US" sz="1800" baseline="-25000" dirty="0" err="1">
                <a:latin typeface="Arial" pitchFamily="112" charset="0"/>
              </a:rPr>
              <a:t>name</a:t>
            </a:r>
            <a:r>
              <a:rPr lang="en-US" sz="1800" baseline="-25000" dirty="0">
                <a:latin typeface="Arial" pitchFamily="112" charset="0"/>
              </a:rPr>
              <a:t> = “Smith”</a:t>
            </a:r>
            <a:r>
              <a:rPr lang="en-US" sz="1800" dirty="0">
                <a:latin typeface="Arial" pitchFamily="112" charset="0"/>
              </a:rPr>
              <a:t> </a:t>
            </a:r>
            <a:r>
              <a:rPr lang="en-US" dirty="0">
                <a:latin typeface="Arial" pitchFamily="112" charset="0"/>
              </a:rPr>
              <a:t>(Employee)</a:t>
            </a:r>
          </a:p>
          <a:p>
            <a:pPr eaLnBrk="1" hangingPunct="1"/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The condition </a:t>
            </a:r>
            <a:r>
              <a:rPr lang="en-US" dirty="0" err="1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c</a:t>
            </a:r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 can be =, &lt;, </a:t>
            </a:r>
            <a:r>
              <a:rPr lang="en-US" dirty="0" err="1">
                <a:latin typeface="Arial" pitchFamily="112" charset="0"/>
                <a:ea typeface="Arial"/>
                <a:cs typeface="Arial"/>
                <a:sym typeface="Symbol" pitchFamily="112" charset="2"/>
              </a:rPr>
              <a:t></a:t>
            </a:r>
            <a:r>
              <a:rPr lang="en-US" dirty="0">
                <a:latin typeface="Arial" pitchFamily="112" charset="0"/>
                <a:ea typeface="Arial"/>
                <a:cs typeface="Arial"/>
                <a:sym typeface="Symbol" pitchFamily="112" charset="2"/>
              </a:rPr>
              <a:t>, &gt;,</a:t>
            </a:r>
            <a:r>
              <a:rPr lang="en-US" dirty="0">
                <a:latin typeface="Arial" pitchFamily="112" charset="0"/>
                <a:ea typeface="Arial"/>
                <a:cs typeface="Arial"/>
              </a:rPr>
              <a:t> </a:t>
            </a:r>
            <a:r>
              <a:rPr lang="en-US" dirty="0" err="1">
                <a:latin typeface="Arial" pitchFamily="112" charset="0"/>
                <a:ea typeface="Arial"/>
                <a:cs typeface="Arial"/>
                <a:sym typeface="Symbol" pitchFamily="112" charset="2"/>
              </a:rPr>
              <a:t></a:t>
            </a:r>
            <a:r>
              <a:rPr lang="en-US" dirty="0">
                <a:latin typeface="Arial" pitchFamily="112" charset="0"/>
                <a:ea typeface="Arial"/>
                <a:cs typeface="Arial"/>
                <a:sym typeface="Symbol" pitchFamily="112" charset="2"/>
              </a:rPr>
              <a:t>, &lt;&gt;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3276600" y="2514600"/>
            <a:ext cx="1377066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88900" dir="2700000" algn="tl" rotWithShape="0">
              <a:srgbClr val="000000">
                <a:alpha val="43000"/>
              </a:srgb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4000" dirty="0" err="1"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s</a:t>
            </a:r>
            <a:r>
              <a:rPr lang="en-US" sz="4000" baseline="-25000" dirty="0" err="1">
                <a:latin typeface="Arial"/>
                <a:ea typeface="ＭＳ Ｐゴシック" pitchFamily="112" charset="-128"/>
                <a:cs typeface="ＭＳ Ｐゴシック" pitchFamily="112" charset="-128"/>
              </a:rPr>
              <a:t>c</a:t>
            </a:r>
            <a:r>
              <a:rPr lang="en-US" sz="4000" dirty="0" err="1">
                <a:latin typeface="Arial"/>
                <a:ea typeface="ＭＳ Ｐゴシック" pitchFamily="112" charset="-128"/>
                <a:cs typeface="ＭＳ Ｐゴシック" pitchFamily="112" charset="-128"/>
              </a:rPr>
              <a:t>(R</a:t>
            </a:r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3EDE-8ECC-4186-A19A-CF00533B084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9579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4"/>
          <p:cNvSpPr>
            <a:spLocks noChangeArrowheads="1"/>
          </p:cNvSpPr>
          <p:nvPr/>
        </p:nvSpPr>
        <p:spPr bwMode="auto">
          <a:xfrm>
            <a:off x="533400" y="3505200"/>
            <a:ext cx="33401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sz="2800" dirty="0" err="1">
                <a:latin typeface="Symbol" pitchFamily="112" charset="2"/>
              </a:rPr>
              <a:t>s</a:t>
            </a:r>
            <a:r>
              <a:rPr lang="en-US" sz="1800" baseline="-25000" dirty="0" err="1">
                <a:latin typeface="Arial" pitchFamily="112" charset="0"/>
              </a:rPr>
              <a:t>Salary</a:t>
            </a:r>
            <a:r>
              <a:rPr lang="en-US" sz="1800" baseline="-25000" dirty="0">
                <a:latin typeface="Arial" pitchFamily="112" charset="0"/>
              </a:rPr>
              <a:t> &gt; 40000</a:t>
            </a:r>
            <a:r>
              <a:rPr lang="en-US" sz="1800" dirty="0">
                <a:latin typeface="Arial" pitchFamily="112" charset="0"/>
              </a:rPr>
              <a:t> </a:t>
            </a:r>
            <a:r>
              <a:rPr lang="en-US" sz="2800" dirty="0">
                <a:latin typeface="Arial" pitchFamily="112" charset="0"/>
              </a:rPr>
              <a:t>(Employee)</a:t>
            </a:r>
          </a:p>
        </p:txBody>
      </p:sp>
      <p:graphicFrame>
        <p:nvGraphicFramePr>
          <p:cNvPr id="7195" name="Group 27"/>
          <p:cNvGraphicFramePr>
            <a:graphicFrameLocks noGrp="1"/>
          </p:cNvGraphicFramePr>
          <p:nvPr/>
        </p:nvGraphicFramePr>
        <p:xfrm>
          <a:off x="2514600" y="533400"/>
          <a:ext cx="6019800" cy="2184400"/>
        </p:xfrm>
        <a:graphic>
          <a:graphicData uri="http://schemas.openxmlformats.org/drawingml/2006/table">
            <a:tbl>
              <a:tblPr/>
              <a:tblGrid>
                <a:gridCol w="2006600"/>
                <a:gridCol w="2006600"/>
                <a:gridCol w="2006600"/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SSN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Salary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1234545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200000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5423341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600000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4352342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Fred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500000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219" name="Group 51"/>
          <p:cNvGraphicFramePr>
            <a:graphicFrameLocks noGrp="1"/>
          </p:cNvGraphicFramePr>
          <p:nvPr/>
        </p:nvGraphicFramePr>
        <p:xfrm>
          <a:off x="2590800" y="4343400"/>
          <a:ext cx="6019800" cy="1638300"/>
        </p:xfrm>
        <a:graphic>
          <a:graphicData uri="http://schemas.openxmlformats.org/drawingml/2006/table">
            <a:tbl>
              <a:tblPr/>
              <a:tblGrid>
                <a:gridCol w="2006600"/>
                <a:gridCol w="2006600"/>
                <a:gridCol w="2006600"/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SSN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Salary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5423341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600000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4352342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Fred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500000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81000" y="609600"/>
            <a:ext cx="17813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Arial" pitchFamily="112" charset="0"/>
              </a:rPr>
              <a:t>Employee</a:t>
            </a:r>
            <a:endParaRPr lang="en-US" sz="2800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AF10E-DE6C-4D3A-9145-874BDBB8A574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998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90600"/>
          </a:xfrm>
        </p:spPr>
        <p:txBody>
          <a:bodyPr/>
          <a:lstStyle/>
          <a:p>
            <a:pPr eaLnBrk="1" hangingPunct="1"/>
            <a:r>
              <a:rPr lang="en-US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Projection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71600"/>
            <a:ext cx="7772400" cy="41148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Eliminates columns</a:t>
            </a:r>
          </a:p>
          <a:p>
            <a:pPr eaLnBrk="1" hangingPunct="1"/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Example: project social-security number and names:</a:t>
            </a:r>
          </a:p>
          <a:p>
            <a:pPr lvl="1" eaLnBrk="1" hangingPunct="1"/>
            <a:r>
              <a:rPr lang="en-US" dirty="0">
                <a:latin typeface="Arial" pitchFamily="112" charset="0"/>
              </a:rPr>
              <a:t>  </a:t>
            </a:r>
            <a:r>
              <a:rPr lang="en-US" dirty="0">
                <a:latin typeface="Symbol" pitchFamily="112" charset="2"/>
              </a:rPr>
              <a:t>P</a:t>
            </a:r>
            <a:r>
              <a:rPr lang="en-US" dirty="0">
                <a:latin typeface="Arial" pitchFamily="112" charset="0"/>
              </a:rPr>
              <a:t> </a:t>
            </a:r>
            <a:r>
              <a:rPr lang="en-US" baseline="-25000" dirty="0">
                <a:latin typeface="Arial" pitchFamily="112" charset="0"/>
              </a:rPr>
              <a:t>SSN, Name</a:t>
            </a:r>
            <a:r>
              <a:rPr lang="en-US" dirty="0">
                <a:latin typeface="Arial" pitchFamily="112" charset="0"/>
              </a:rPr>
              <a:t> (Employee)</a:t>
            </a:r>
            <a:endParaRPr lang="en-US" dirty="0" smtClean="0">
              <a:latin typeface="Arial" pitchFamily="112" charset="0"/>
            </a:endParaRPr>
          </a:p>
          <a:p>
            <a:pPr lvl="1" eaLnBrk="1" hangingPunct="1"/>
            <a:r>
              <a:rPr lang="en-US" dirty="0" smtClean="0">
                <a:latin typeface="Arial" pitchFamily="112" charset="0"/>
              </a:rPr>
              <a:t>  </a:t>
            </a:r>
            <a:r>
              <a:rPr lang="en-US" dirty="0" err="1" smtClean="0">
                <a:latin typeface="Arial" pitchFamily="112" charset="0"/>
              </a:rPr>
              <a:t>Answer</a:t>
            </a:r>
            <a:r>
              <a:rPr lang="en-US" dirty="0" err="1">
                <a:latin typeface="Arial" pitchFamily="112" charset="0"/>
              </a:rPr>
              <a:t>(SSN</a:t>
            </a:r>
            <a:r>
              <a:rPr lang="en-US" dirty="0">
                <a:latin typeface="Arial" pitchFamily="112" charset="0"/>
              </a:rPr>
              <a:t>, Name)</a:t>
            </a:r>
          </a:p>
          <a:p>
            <a:pPr lvl="1" eaLnBrk="1" hangingPunct="1"/>
            <a:endParaRPr lang="en-US" dirty="0">
              <a:latin typeface="Arial" pitchFamily="112" charset="0"/>
            </a:endParaRPr>
          </a:p>
          <a:p>
            <a:pPr eaLnBrk="1" hangingPunct="1"/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0" y="2057400"/>
            <a:ext cx="2858799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88900" dir="2700000" algn="tl" rotWithShape="0">
              <a:srgbClr val="000000">
                <a:alpha val="43000"/>
              </a:srgb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4000" dirty="0"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P </a:t>
            </a:r>
            <a:r>
              <a:rPr lang="en-US" sz="4000" baseline="-25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A1,…,An</a:t>
            </a:r>
            <a:r>
              <a:rPr lang="en-US" sz="2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 </a:t>
            </a:r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(R)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3EDE-8ECC-4186-A19A-CF00533B0845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0965" name="Rounded Rectangle 6"/>
          <p:cNvSpPr>
            <a:spLocks noChangeArrowheads="1"/>
          </p:cNvSpPr>
          <p:nvPr/>
        </p:nvSpPr>
        <p:spPr bwMode="auto">
          <a:xfrm>
            <a:off x="1066800" y="6019800"/>
            <a:ext cx="7322462" cy="578882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 dirty="0" smtClean="0">
                <a:latin typeface="Arial" pitchFamily="112" charset="0"/>
              </a:rPr>
              <a:t>Different semantics over sets </a:t>
            </a:r>
            <a:r>
              <a:rPr lang="en-US" sz="2800" dirty="0">
                <a:latin typeface="Arial" pitchFamily="112" charset="0"/>
              </a:rPr>
              <a:t>or </a:t>
            </a:r>
            <a:r>
              <a:rPr lang="en-US" sz="2800" dirty="0" smtClean="0">
                <a:latin typeface="Arial" pitchFamily="112" charset="0"/>
              </a:rPr>
              <a:t>bags!  Why?</a:t>
            </a:r>
            <a:endParaRPr lang="en-US" sz="2800" dirty="0">
              <a:latin typeface="Arial" pitchFamily="1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4507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4"/>
          <p:cNvSpPr>
            <a:spLocks noChangeArrowheads="1"/>
          </p:cNvSpPr>
          <p:nvPr/>
        </p:nvSpPr>
        <p:spPr bwMode="auto">
          <a:xfrm>
            <a:off x="304800" y="2743200"/>
            <a:ext cx="33512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dirty="0">
                <a:latin typeface="Symbol" pitchFamily="112" charset="2"/>
              </a:rPr>
              <a:t>P</a:t>
            </a:r>
            <a:r>
              <a:rPr lang="en-US" dirty="0">
                <a:latin typeface="Arial" pitchFamily="112" charset="0"/>
              </a:rPr>
              <a:t> </a:t>
            </a:r>
            <a:r>
              <a:rPr lang="en-US" baseline="-25000" dirty="0" err="1">
                <a:latin typeface="Arial" pitchFamily="112" charset="0"/>
              </a:rPr>
              <a:t>Name,Salary</a:t>
            </a:r>
            <a:r>
              <a:rPr lang="en-US" dirty="0">
                <a:latin typeface="Arial" pitchFamily="112" charset="0"/>
              </a:rPr>
              <a:t> (Employee)</a:t>
            </a:r>
          </a:p>
        </p:txBody>
      </p:sp>
      <p:graphicFrame>
        <p:nvGraphicFramePr>
          <p:cNvPr id="9222" name="Group 6"/>
          <p:cNvGraphicFramePr>
            <a:graphicFrameLocks noGrp="1"/>
          </p:cNvGraphicFramePr>
          <p:nvPr/>
        </p:nvGraphicFramePr>
        <p:xfrm>
          <a:off x="2514600" y="533400"/>
          <a:ext cx="6019800" cy="2184400"/>
        </p:xfrm>
        <a:graphic>
          <a:graphicData uri="http://schemas.openxmlformats.org/drawingml/2006/table">
            <a:tbl>
              <a:tblPr/>
              <a:tblGrid>
                <a:gridCol w="2006600"/>
                <a:gridCol w="2006600"/>
                <a:gridCol w="2006600"/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SSN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Salary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1234545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20000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11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5423341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60000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11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4352342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20000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11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262" name="Group 46"/>
          <p:cNvGraphicFramePr>
            <a:graphicFrameLocks noGrp="1"/>
          </p:cNvGraphicFramePr>
          <p:nvPr/>
        </p:nvGraphicFramePr>
        <p:xfrm>
          <a:off x="381000" y="3352800"/>
          <a:ext cx="4013200" cy="2184400"/>
        </p:xfrm>
        <a:graphic>
          <a:graphicData uri="http://schemas.openxmlformats.org/drawingml/2006/table">
            <a:tbl>
              <a:tblPr/>
              <a:tblGrid>
                <a:gridCol w="2006600"/>
                <a:gridCol w="2006600"/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Salary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John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20000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John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60000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John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20000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57200"/>
            <a:ext cx="17813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Arial" pitchFamily="112" charset="0"/>
              </a:rPr>
              <a:t>Employee</a:t>
            </a:r>
            <a:endParaRPr lang="en-US" sz="2800" dirty="0">
              <a:latin typeface="Arial"/>
            </a:endParaRPr>
          </a:p>
        </p:txBody>
      </p:sp>
      <p:graphicFrame>
        <p:nvGraphicFramePr>
          <p:cNvPr id="9" name="Group 46"/>
          <p:cNvGraphicFramePr>
            <a:graphicFrameLocks noGrp="1"/>
          </p:cNvGraphicFramePr>
          <p:nvPr/>
        </p:nvGraphicFramePr>
        <p:xfrm>
          <a:off x="4826000" y="3352800"/>
          <a:ext cx="4013200" cy="1638300"/>
        </p:xfrm>
        <a:graphic>
          <a:graphicData uri="http://schemas.openxmlformats.org/drawingml/2006/table">
            <a:tbl>
              <a:tblPr/>
              <a:tblGrid>
                <a:gridCol w="2006600"/>
                <a:gridCol w="2006600"/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Salary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John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20000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John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60000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457938" y="5562600"/>
            <a:ext cx="2203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/>
              </a:rPr>
              <a:t>Bag semantics</a:t>
            </a:r>
            <a:endParaRPr lang="en-US" dirty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91200" y="5486400"/>
            <a:ext cx="2117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/>
              </a:rPr>
              <a:t>Set semantics</a:t>
            </a:r>
            <a:endParaRPr lang="en-US" dirty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28800" y="6172200"/>
            <a:ext cx="3989644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 smtClean="0">
                <a:latin typeface="Arial"/>
              </a:rPr>
              <a:t>Which is more efficient?</a:t>
            </a:r>
            <a:endParaRPr lang="en-US" sz="2800" dirty="0">
              <a:latin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9EFE9D-D518-AA47-AA81-7E42D51C7142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6430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Composing RA Operators</a:t>
            </a:r>
            <a:endParaRPr lang="en-US" dirty="0"/>
          </a:p>
        </p:txBody>
      </p:sp>
      <p:graphicFrame>
        <p:nvGraphicFramePr>
          <p:cNvPr id="146610" name="Group 1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13985"/>
              </p:ext>
            </p:extLst>
          </p:nvPr>
        </p:nvGraphicFramePr>
        <p:xfrm>
          <a:off x="457200" y="2074860"/>
          <a:ext cx="4572000" cy="1879602"/>
        </p:xfrm>
        <a:graphic>
          <a:graphicData uri="http://schemas.openxmlformats.org/drawingml/2006/table">
            <a:tbl>
              <a:tblPr/>
              <a:tblGrid>
                <a:gridCol w="709613"/>
                <a:gridCol w="966787"/>
                <a:gridCol w="1143000"/>
                <a:gridCol w="1752600"/>
              </a:tblGrid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zip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disease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p1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flu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p2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heart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p3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lung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p4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heart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6468" name="Text Box 36"/>
          <p:cNvSpPr txBox="1">
            <a:spLocks noChangeArrowheads="1"/>
          </p:cNvSpPr>
          <p:nvPr/>
        </p:nvSpPr>
        <p:spPr bwMode="auto">
          <a:xfrm>
            <a:off x="381000" y="1617660"/>
            <a:ext cx="11464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2400" dirty="0">
                <a:latin typeface="Arial"/>
                <a:cs typeface="Arial"/>
              </a:rPr>
              <a:t>Patient</a:t>
            </a:r>
          </a:p>
        </p:txBody>
      </p:sp>
      <p:sp>
        <p:nvSpPr>
          <p:cNvPr id="146481" name="Rectangle 49"/>
          <p:cNvSpPr>
            <a:spLocks noChangeArrowheads="1"/>
          </p:cNvSpPr>
          <p:nvPr/>
        </p:nvSpPr>
        <p:spPr bwMode="auto">
          <a:xfrm>
            <a:off x="438150" y="4343400"/>
            <a:ext cx="276565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2400" dirty="0">
                <a:latin typeface="Symbol" pitchFamily="-65" charset="2"/>
                <a:ea typeface="Osaka" pitchFamily="-65" charset="-128"/>
                <a:cs typeface="Osaka" pitchFamily="-65" charset="-128"/>
                <a:sym typeface="Symbol" pitchFamily="-65" charset="2"/>
              </a:rPr>
              <a:t></a:t>
            </a:r>
            <a:r>
              <a:rPr lang="en-US" sz="2400" baseline="-25000" dirty="0">
                <a:ea typeface="Osaka" pitchFamily="-65" charset="-128"/>
                <a:cs typeface="Osaka" pitchFamily="-65" charset="-128"/>
              </a:rPr>
              <a:t>disease=‘heart</a:t>
            </a:r>
            <a:r>
              <a:rPr lang="en-US" sz="2400" baseline="-25000" dirty="0">
                <a:latin typeface="Arial"/>
                <a:ea typeface="Osaka" pitchFamily="-65" charset="-128"/>
                <a:cs typeface="Arial"/>
              </a:rPr>
              <a:t>’</a:t>
            </a:r>
            <a:r>
              <a:rPr lang="en-US" sz="2400" dirty="0">
                <a:latin typeface="Arial"/>
                <a:ea typeface="Osaka" pitchFamily="-65" charset="-128"/>
                <a:cs typeface="Arial"/>
              </a:rPr>
              <a:t>(Patient)</a:t>
            </a:r>
          </a:p>
        </p:txBody>
      </p:sp>
      <p:graphicFrame>
        <p:nvGraphicFramePr>
          <p:cNvPr id="146609" name="Group 177"/>
          <p:cNvGraphicFramePr>
            <a:graphicFrameLocks noGrp="1"/>
          </p:cNvGraphicFramePr>
          <p:nvPr/>
        </p:nvGraphicFramePr>
        <p:xfrm>
          <a:off x="533400" y="4881563"/>
          <a:ext cx="4038600" cy="1127126"/>
        </p:xfrm>
        <a:graphic>
          <a:graphicData uri="http://schemas.openxmlformats.org/drawingml/2006/table">
            <a:tbl>
              <a:tblPr/>
              <a:tblGrid>
                <a:gridCol w="609600"/>
                <a:gridCol w="990600"/>
                <a:gridCol w="1143000"/>
                <a:gridCol w="1295400"/>
              </a:tblGrid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zip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disease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p2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heart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p4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heart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6608" name="Group 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575409"/>
              </p:ext>
            </p:extLst>
          </p:nvPr>
        </p:nvGraphicFramePr>
        <p:xfrm>
          <a:off x="6019800" y="2082798"/>
          <a:ext cx="2819400" cy="1879602"/>
        </p:xfrm>
        <a:graphic>
          <a:graphicData uri="http://schemas.openxmlformats.org/drawingml/2006/table">
            <a:tbl>
              <a:tblPr/>
              <a:tblGrid>
                <a:gridCol w="1447800"/>
                <a:gridCol w="1371600"/>
              </a:tblGrid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zip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disease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flu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heart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lung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heart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6548" name="Rectangle 116"/>
          <p:cNvSpPr>
            <a:spLocks noChangeArrowheads="1"/>
          </p:cNvSpPr>
          <p:nvPr/>
        </p:nvSpPr>
        <p:spPr bwMode="auto">
          <a:xfrm>
            <a:off x="5410200" y="1524000"/>
            <a:ext cx="24112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2400" dirty="0">
                <a:latin typeface="Symbol" pitchFamily="-65" charset="2"/>
                <a:ea typeface="Osaka" pitchFamily="-65" charset="-128"/>
                <a:cs typeface="Osaka" pitchFamily="-65" charset="-128"/>
                <a:sym typeface="Symbol" pitchFamily="-65" charset="2"/>
              </a:rPr>
              <a:t></a:t>
            </a:r>
            <a:r>
              <a:rPr lang="en-US" sz="2400" baseline="-25000" dirty="0" err="1">
                <a:ea typeface="Osaka" pitchFamily="-65" charset="-128"/>
                <a:cs typeface="Osaka" pitchFamily="-65" charset="-128"/>
              </a:rPr>
              <a:t>zip,disease</a:t>
            </a:r>
            <a:r>
              <a:rPr lang="en-US" sz="2400" dirty="0">
                <a:latin typeface="Arial"/>
                <a:ea typeface="Osaka" pitchFamily="-65" charset="-128"/>
                <a:cs typeface="Arial"/>
              </a:rPr>
              <a:t>(Patient)</a:t>
            </a:r>
          </a:p>
        </p:txBody>
      </p:sp>
      <p:sp>
        <p:nvSpPr>
          <p:cNvPr id="146549" name="Rectangle 117"/>
          <p:cNvSpPr>
            <a:spLocks noChangeArrowheads="1"/>
          </p:cNvSpPr>
          <p:nvPr/>
        </p:nvSpPr>
        <p:spPr bwMode="auto">
          <a:xfrm>
            <a:off x="5376486" y="4343400"/>
            <a:ext cx="34899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2400" dirty="0">
                <a:latin typeface="Symbol" pitchFamily="-65" charset="2"/>
                <a:ea typeface="Osaka" pitchFamily="-65" charset="-128"/>
                <a:cs typeface="Osaka" pitchFamily="-65" charset="-128"/>
                <a:sym typeface="Symbol" pitchFamily="-65" charset="2"/>
              </a:rPr>
              <a:t></a:t>
            </a:r>
            <a:r>
              <a:rPr lang="en-US" sz="2400" baseline="-25000" dirty="0">
                <a:ea typeface="Osaka" pitchFamily="-65" charset="-128"/>
                <a:cs typeface="Osaka" pitchFamily="-65" charset="-128"/>
              </a:rPr>
              <a:t>zip</a:t>
            </a:r>
            <a:r>
              <a:rPr lang="en-US" sz="2400" dirty="0">
                <a:latin typeface="Symbol" pitchFamily="-65" charset="2"/>
                <a:ea typeface="Osaka" pitchFamily="-65" charset="-128"/>
                <a:cs typeface="Osaka" pitchFamily="-65" charset="-128"/>
                <a:sym typeface="Symbol" pitchFamily="-65" charset="2"/>
              </a:rPr>
              <a:t> </a:t>
            </a:r>
            <a:r>
              <a:rPr lang="en-US" sz="2400" baseline="-25000" dirty="0">
                <a:ea typeface="Osaka" pitchFamily="-65" charset="-128"/>
                <a:cs typeface="Osaka" pitchFamily="-65" charset="-128"/>
              </a:rPr>
              <a:t>disease=‘heart’</a:t>
            </a:r>
            <a:r>
              <a:rPr lang="en-US" sz="2400" dirty="0">
                <a:ea typeface="Osaka" pitchFamily="-65" charset="-128"/>
                <a:cs typeface="Osaka" pitchFamily="-65" charset="-128"/>
              </a:rPr>
              <a:t>(</a:t>
            </a:r>
            <a:r>
              <a:rPr lang="en-US" sz="2400" dirty="0">
                <a:latin typeface="Arial"/>
                <a:ea typeface="Osaka" pitchFamily="-65" charset="-128"/>
                <a:cs typeface="Arial"/>
              </a:rPr>
              <a:t>Patient</a:t>
            </a:r>
            <a:r>
              <a:rPr lang="en-US" sz="2400" dirty="0">
                <a:ea typeface="Osaka" pitchFamily="-65" charset="-128"/>
                <a:cs typeface="Osaka" pitchFamily="-65" charset="-128"/>
              </a:rPr>
              <a:t>))</a:t>
            </a:r>
          </a:p>
        </p:txBody>
      </p:sp>
      <p:graphicFrame>
        <p:nvGraphicFramePr>
          <p:cNvPr id="146607" name="Group 175"/>
          <p:cNvGraphicFramePr>
            <a:graphicFrameLocks noGrp="1"/>
          </p:cNvGraphicFramePr>
          <p:nvPr/>
        </p:nvGraphicFramePr>
        <p:xfrm>
          <a:off x="6665913" y="4876800"/>
          <a:ext cx="1258887" cy="1127126"/>
        </p:xfrm>
        <a:graphic>
          <a:graphicData uri="http://schemas.openxmlformats.org/drawingml/2006/table">
            <a:tbl>
              <a:tblPr/>
              <a:tblGrid>
                <a:gridCol w="1258887"/>
              </a:tblGrid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zip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48003-984A-074F-92BD-D4B2A6121BBE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4797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81" grpId="0" autoUpdateAnimBg="0"/>
      <p:bldP spid="146548" grpId="0" autoUpdateAnimBg="0"/>
      <p:bldP spid="146549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Cartesian Product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Each </a:t>
            </a:r>
            <a:r>
              <a:rPr lang="en-US" dirty="0" err="1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tuple</a:t>
            </a:r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 in R1 with each </a:t>
            </a:r>
            <a:r>
              <a:rPr lang="en-US" dirty="0" err="1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tuple</a:t>
            </a:r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 in R2</a:t>
            </a:r>
          </a:p>
          <a:p>
            <a:pPr eaLnBrk="1" hangingPunct="1"/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R</a:t>
            </a:r>
            <a:r>
              <a:rPr lang="en-US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are </a:t>
            </a:r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in practice; mainly used to express joins</a:t>
            </a:r>
          </a:p>
        </p:txBody>
      </p:sp>
      <p:sp>
        <p:nvSpPr>
          <p:cNvPr id="47109" name="Rectangle 4"/>
          <p:cNvSpPr>
            <a:spLocks noChangeArrowheads="1"/>
          </p:cNvSpPr>
          <p:nvPr/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algn="ctr" eaLnBrk="1" hangingPunct="1"/>
            <a:endParaRPr lang="en-US" sz="440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09913" y="2819400"/>
            <a:ext cx="2062684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88900" dir="2700000" algn="tl" rotWithShape="0">
              <a:srgbClr val="000000">
                <a:alpha val="43000"/>
              </a:srgb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R1 </a:t>
            </a:r>
            <a:r>
              <a:rPr lang="en-US" sz="4000" dirty="0" err="1">
                <a:latin typeface="Arial"/>
                <a:ea typeface="ＭＳ Ｐゴシック" pitchFamily="112" charset="-128"/>
                <a:cs typeface="ＭＳ Ｐゴシック" pitchFamily="112" charset="-128"/>
                <a:sym typeface="Symbol" pitchFamily="112" charset="2"/>
              </a:rPr>
              <a:t></a:t>
            </a:r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 R2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3EDE-8ECC-4186-A19A-CF00533B084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286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655648"/>
              </p:ext>
            </p:extLst>
          </p:nvPr>
        </p:nvGraphicFramePr>
        <p:xfrm>
          <a:off x="304800" y="2052935"/>
          <a:ext cx="3276600" cy="1188720"/>
        </p:xfrm>
        <a:graphic>
          <a:graphicData uri="http://schemas.openxmlformats.org/drawingml/2006/table">
            <a:tbl>
              <a:tblPr/>
              <a:tblGrid>
                <a:gridCol w="1638300"/>
                <a:gridCol w="16383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SSN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999999999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Tony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777777777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9170" name="TextBox 5"/>
          <p:cNvSpPr txBox="1">
            <a:spLocks noChangeArrowheads="1"/>
          </p:cNvSpPr>
          <p:nvPr/>
        </p:nvSpPr>
        <p:spPr bwMode="auto">
          <a:xfrm>
            <a:off x="304800" y="1595735"/>
            <a:ext cx="16386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</a:rPr>
              <a:t>Employee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920401"/>
              </p:ext>
            </p:extLst>
          </p:nvPr>
        </p:nvGraphicFramePr>
        <p:xfrm>
          <a:off x="4495800" y="2052935"/>
          <a:ext cx="3276600" cy="1188720"/>
        </p:xfrm>
        <a:graphic>
          <a:graphicData uri="http://schemas.openxmlformats.org/drawingml/2006/table">
            <a:tbl>
              <a:tblPr/>
              <a:tblGrid>
                <a:gridCol w="1638300"/>
                <a:gridCol w="16383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EmpSSN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DepName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999999999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Emily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777777777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Joe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9185" name="TextBox 7"/>
          <p:cNvSpPr txBox="1">
            <a:spLocks noChangeArrowheads="1"/>
          </p:cNvSpPr>
          <p:nvPr/>
        </p:nvSpPr>
        <p:spPr bwMode="auto">
          <a:xfrm>
            <a:off x="4495800" y="1595735"/>
            <a:ext cx="177494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</a:rPr>
              <a:t>Dependent</a:t>
            </a:r>
          </a:p>
        </p:txBody>
      </p:sp>
      <p:sp>
        <p:nvSpPr>
          <p:cNvPr id="49186" name="TextBox 8"/>
          <p:cNvSpPr txBox="1">
            <a:spLocks noChangeArrowheads="1"/>
          </p:cNvSpPr>
          <p:nvPr/>
        </p:nvSpPr>
        <p:spPr bwMode="auto">
          <a:xfrm>
            <a:off x="914400" y="3729335"/>
            <a:ext cx="36345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</a:rPr>
              <a:t>Employee </a:t>
            </a:r>
            <a:r>
              <a:rPr lang="en-US" b="1" dirty="0">
                <a:latin typeface="Zapf Dingbats" pitchFamily="112" charset="2"/>
                <a:ea typeface="Zapf Dingbats" pitchFamily="112" charset="2"/>
                <a:cs typeface="Zapf Dingbats" pitchFamily="112" charset="2"/>
              </a:rPr>
              <a:t>✕</a:t>
            </a:r>
            <a:r>
              <a:rPr lang="en-US" b="1" dirty="0">
                <a:latin typeface="Arial"/>
              </a:rPr>
              <a:t> Dependent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4191000"/>
          <a:ext cx="6019800" cy="1981200"/>
        </p:xfrm>
        <a:graphic>
          <a:graphicData uri="http://schemas.openxmlformats.org/drawingml/2006/table">
            <a:tbl>
              <a:tblPr/>
              <a:tblGrid>
                <a:gridCol w="1165123"/>
                <a:gridCol w="1650590"/>
                <a:gridCol w="1699137"/>
                <a:gridCol w="150495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SSN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EmpSSN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DepName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999999999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999999999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Emily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999999999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777777777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Joe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Tony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777777777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999999999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Emily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Tony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777777777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777777777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Joe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AF10E-DE6C-4D3A-9145-874BDBB8A574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/>
                <a:ea typeface="ＭＳ Ｐゴシック" charset="-128"/>
                <a:cs typeface="Arial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charset="0"/>
                <a:ea typeface="ＭＳ Ｐゴシック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charset="0"/>
                <a:ea typeface="ＭＳ Ｐゴシック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charset="0"/>
                <a:ea typeface="ＭＳ Ｐゴシック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charset="0"/>
                <a:ea typeface="ＭＳ Ｐゴシック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charset="0"/>
              </a:defRPr>
            </a:lvl9pPr>
          </a:lstStyle>
          <a:p>
            <a:r>
              <a:rPr lang="en-US" smtClean="0"/>
              <a:t>Cross-Product 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3628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Renaming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924800" cy="41148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Changes </a:t>
            </a:r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the schema, not the instance</a:t>
            </a:r>
          </a:p>
          <a:p>
            <a:pPr eaLnBrk="1" hangingPunct="1"/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>
              <a:buFontTx/>
              <a:buNone/>
            </a:pPr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Example:</a:t>
            </a:r>
          </a:p>
          <a:p>
            <a:pPr lvl="1" eaLnBrk="1" hangingPunct="1"/>
            <a:r>
              <a:rPr lang="en-US" dirty="0">
                <a:latin typeface="Arial" pitchFamily="112" charset="0"/>
              </a:rPr>
              <a:t> </a:t>
            </a:r>
            <a:r>
              <a:rPr lang="en-US" dirty="0" err="1">
                <a:latin typeface="Symbol" pitchFamily="112" charset="2"/>
              </a:rPr>
              <a:t>r</a:t>
            </a:r>
            <a:r>
              <a:rPr lang="en-US" baseline="-25000" dirty="0" err="1">
                <a:latin typeface="Arial" pitchFamily="112" charset="0"/>
              </a:rPr>
              <a:t>N</a:t>
            </a:r>
            <a:r>
              <a:rPr lang="en-US" baseline="-25000" dirty="0">
                <a:latin typeface="Arial" pitchFamily="112" charset="0"/>
              </a:rPr>
              <a:t>, S</a:t>
            </a:r>
            <a:r>
              <a:rPr lang="en-US" dirty="0">
                <a:latin typeface="Arial" pitchFamily="112" charset="0"/>
              </a:rPr>
              <a:t>(Employee)   </a:t>
            </a:r>
            <a:r>
              <a:rPr lang="en-US" dirty="0">
                <a:latin typeface="Arial" pitchFamily="112" charset="0"/>
                <a:sym typeface="Wingdings" pitchFamily="112" charset="2"/>
              </a:rPr>
              <a:t>   </a:t>
            </a:r>
            <a:r>
              <a:rPr lang="en-US" dirty="0">
                <a:latin typeface="Arial" pitchFamily="112" charset="0"/>
              </a:rPr>
              <a:t>Answer(N, S)</a:t>
            </a:r>
            <a:endParaRPr lang="en-US" sz="3200" dirty="0">
              <a:latin typeface="Arial" pitchFamily="11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71800" y="2743200"/>
            <a:ext cx="2831874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88900" dir="2700000" algn="tl" rotWithShape="0">
              <a:srgbClr val="000000">
                <a:alpha val="43000"/>
              </a:srgb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4000" dirty="0" err="1"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r</a:t>
            </a:r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 </a:t>
            </a:r>
            <a:r>
              <a:rPr lang="en-US" sz="4000" baseline="-25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B1,…,</a:t>
            </a:r>
            <a:r>
              <a:rPr lang="en-US" sz="4000" baseline="-25000" dirty="0" err="1">
                <a:latin typeface="Arial"/>
                <a:ea typeface="ＭＳ Ｐゴシック" pitchFamily="112" charset="-128"/>
                <a:cs typeface="ＭＳ Ｐゴシック" pitchFamily="112" charset="-128"/>
              </a:rPr>
              <a:t>Bn</a:t>
            </a:r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 (R)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3EDE-8ECC-4186-A19A-CF00533B0845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33400" y="5029200"/>
            <a:ext cx="7989061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 smtClean="0">
                <a:latin typeface="Arial"/>
              </a:rPr>
              <a:t>Not really used by systems, but needed on paper</a:t>
            </a:r>
            <a:endParaRPr lang="en-US" sz="2800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156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Natural Join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dirty="0" smtClean="0">
              <a:latin typeface="Arial" pitchFamily="112" charset="0"/>
              <a:ea typeface="Arial"/>
              <a:cs typeface="Arial"/>
            </a:endParaRPr>
          </a:p>
          <a:p>
            <a:pPr eaLnBrk="1" hangingPunct="1">
              <a:lnSpc>
                <a:spcPct val="90000"/>
              </a:lnSpc>
            </a:pPr>
            <a:endParaRPr lang="en-US" dirty="0">
              <a:latin typeface="Arial" pitchFamily="112" charset="0"/>
              <a:ea typeface="Arial"/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 smtClean="0">
                <a:latin typeface="Arial" pitchFamily="112" charset="0"/>
                <a:ea typeface="Arial"/>
                <a:cs typeface="Arial"/>
              </a:rPr>
              <a:t>Meaning:  R1</a:t>
            </a:r>
            <a:r>
              <a:rPr lang="en-US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⨝</a:t>
            </a:r>
            <a:r>
              <a:rPr lang="en-US" baseline="-25000" dirty="0" smtClean="0">
                <a:latin typeface="Arial" pitchFamily="112" charset="0"/>
                <a:ea typeface="Arial"/>
                <a:cs typeface="Arial"/>
              </a:rPr>
              <a:t> </a:t>
            </a:r>
            <a:r>
              <a:rPr lang="en-US" dirty="0" smtClean="0">
                <a:latin typeface="Arial" pitchFamily="112" charset="0"/>
                <a:ea typeface="Arial"/>
                <a:cs typeface="Arial"/>
              </a:rPr>
              <a:t>R2 = </a:t>
            </a:r>
            <a:r>
              <a:rPr lang="en-US" dirty="0" smtClean="0">
                <a:latin typeface="Symbol" pitchFamily="112" charset="2"/>
                <a:ea typeface="Arial"/>
                <a:cs typeface="Arial"/>
              </a:rPr>
              <a:t>P</a:t>
            </a:r>
            <a:r>
              <a:rPr lang="en-US" baseline="-25000" dirty="0" smtClean="0">
                <a:latin typeface="Arial" pitchFamily="112" charset="0"/>
                <a:ea typeface="Arial"/>
                <a:cs typeface="Arial"/>
              </a:rPr>
              <a:t>A</a:t>
            </a:r>
            <a:r>
              <a:rPr lang="en-US" dirty="0" smtClean="0">
                <a:latin typeface="Arial" pitchFamily="112" charset="0"/>
                <a:ea typeface="Arial"/>
                <a:cs typeface="Arial"/>
              </a:rPr>
              <a:t>(</a:t>
            </a:r>
            <a:r>
              <a:rPr lang="en-US" dirty="0" smtClean="0">
                <a:latin typeface="Symbol" pitchFamily="112" charset="2"/>
                <a:ea typeface="Arial"/>
                <a:cs typeface="Arial"/>
              </a:rPr>
              <a:t>s</a:t>
            </a:r>
            <a:r>
              <a:rPr lang="en-US" dirty="0" smtClean="0">
                <a:latin typeface="Arial" pitchFamily="112" charset="0"/>
                <a:ea typeface="Arial"/>
                <a:cs typeface="Arial"/>
              </a:rPr>
              <a:t>(R1 </a:t>
            </a:r>
            <a:r>
              <a:rPr lang="en-US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  <a:sym typeface="Symbol" pitchFamily="112" charset="2"/>
              </a:rPr>
              <a:t>× R2))</a:t>
            </a:r>
            <a:r>
              <a:rPr lang="en-US" dirty="0" smtClean="0">
                <a:latin typeface="Arial" pitchFamily="112" charset="0"/>
                <a:ea typeface="Arial"/>
                <a:cs typeface="Arial"/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endParaRPr lang="en-US" dirty="0" smtClean="0">
              <a:latin typeface="Arial" pitchFamily="112" charset="0"/>
              <a:ea typeface="Arial"/>
              <a:cs typeface="Arial"/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 smtClean="0">
                <a:latin typeface="Arial" pitchFamily="112" charset="0"/>
                <a:ea typeface="Arial"/>
                <a:cs typeface="Arial"/>
              </a:rPr>
              <a:t>Where: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latin typeface="Arial" pitchFamily="112" charset="0"/>
                <a:ea typeface="Arial"/>
              </a:rPr>
              <a:t>S</a:t>
            </a:r>
            <a:r>
              <a:rPr lang="en-US" dirty="0" smtClean="0">
                <a:latin typeface="Arial" pitchFamily="112" charset="0"/>
                <a:ea typeface="Arial"/>
                <a:cs typeface="Arial"/>
              </a:rPr>
              <a:t>election </a:t>
            </a:r>
            <a:r>
              <a:rPr lang="en-US" dirty="0" smtClean="0">
                <a:latin typeface="Symbol" pitchFamily="112" charset="2"/>
                <a:ea typeface="Arial"/>
                <a:cs typeface="Arial"/>
              </a:rPr>
              <a:t>s</a:t>
            </a:r>
            <a:r>
              <a:rPr lang="en-US" baseline="-25000" dirty="0" smtClean="0">
                <a:latin typeface="Arial" pitchFamily="112" charset="0"/>
                <a:ea typeface="Arial"/>
                <a:cs typeface="Arial"/>
              </a:rPr>
              <a:t> </a:t>
            </a:r>
            <a:r>
              <a:rPr lang="en-US" dirty="0" smtClean="0">
                <a:latin typeface="Arial" pitchFamily="112" charset="0"/>
                <a:ea typeface="Arial"/>
                <a:cs typeface="Arial"/>
              </a:rPr>
              <a:t>checks equality of all common attributes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latin typeface="Arial" pitchFamily="112" charset="0"/>
                <a:ea typeface="Arial"/>
              </a:rPr>
              <a:t>P</a:t>
            </a:r>
            <a:r>
              <a:rPr lang="en-US" dirty="0" smtClean="0">
                <a:latin typeface="Arial" pitchFamily="112" charset="0"/>
                <a:ea typeface="Arial"/>
                <a:cs typeface="Arial"/>
              </a:rPr>
              <a:t>rojection eliminates duplicate common attributes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3EDE-8ECC-4186-A19A-CF00533B0845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276600" y="1806714"/>
            <a:ext cx="2086061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88900" dir="2700000" algn="tl" rotWithShape="0">
              <a:srgbClr val="000000">
                <a:alpha val="43000"/>
              </a:srgb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R1 ⨝</a:t>
            </a:r>
            <a:r>
              <a:rPr lang="en-US" sz="4000" baseline="-25000" dirty="0">
                <a:latin typeface="Arial"/>
                <a:ea typeface="Arial"/>
                <a:cs typeface="Arial"/>
              </a:rPr>
              <a:t> </a:t>
            </a:r>
            <a:r>
              <a:rPr lang="en-US" sz="4000" dirty="0">
                <a:latin typeface="Arial"/>
                <a:ea typeface="Arial"/>
                <a:cs typeface="Arial"/>
              </a:rPr>
              <a:t>R2</a:t>
            </a:r>
            <a:endParaRPr lang="en-US" sz="4000" dirty="0">
              <a:latin typeface="Arial"/>
              <a:ea typeface="ＭＳ Ｐゴシック" pitchFamily="112" charset="-128"/>
              <a:cs typeface="ＭＳ Ｐゴシック" pitchFamily="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615958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Natural </a:t>
            </a:r>
            <a:r>
              <a:rPr lang="en-US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Join Example</a:t>
            </a:r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  <p:graphicFrame>
        <p:nvGraphicFramePr>
          <p:cNvPr id="17412" name="Group 4"/>
          <p:cNvGraphicFramePr>
            <a:graphicFrameLocks noGrp="1"/>
          </p:cNvGraphicFramePr>
          <p:nvPr/>
        </p:nvGraphicFramePr>
        <p:xfrm>
          <a:off x="1524000" y="1676400"/>
          <a:ext cx="2514600" cy="1828800"/>
        </p:xfrm>
        <a:graphic>
          <a:graphicData uri="http://schemas.openxmlformats.org/drawingml/2006/table">
            <a:tbl>
              <a:tblPr/>
              <a:tblGrid>
                <a:gridCol w="1257300"/>
                <a:gridCol w="1257300"/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X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Y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X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Y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Z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V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432" name="Group 24"/>
          <p:cNvGraphicFramePr>
            <a:graphicFrameLocks noGrp="1"/>
          </p:cNvGraphicFramePr>
          <p:nvPr/>
        </p:nvGraphicFramePr>
        <p:xfrm>
          <a:off x="5410200" y="1676400"/>
          <a:ext cx="2514600" cy="1463040"/>
        </p:xfrm>
        <a:graphic>
          <a:graphicData uri="http://schemas.openxmlformats.org/drawingml/2006/table">
            <a:tbl>
              <a:tblPr/>
              <a:tblGrid>
                <a:gridCol w="1257300"/>
                <a:gridCol w="1257300"/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B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Z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U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V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W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Z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V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449" name="Group 41"/>
          <p:cNvGraphicFramePr>
            <a:graphicFrameLocks noGrp="1"/>
          </p:cNvGraphicFramePr>
          <p:nvPr/>
        </p:nvGraphicFramePr>
        <p:xfrm>
          <a:off x="3276600" y="3733800"/>
          <a:ext cx="4495800" cy="2377440"/>
        </p:xfrm>
        <a:graphic>
          <a:graphicData uri="http://schemas.openxmlformats.org/drawingml/2006/table">
            <a:tbl>
              <a:tblPr/>
              <a:tblGrid>
                <a:gridCol w="1498600"/>
                <a:gridCol w="1498600"/>
                <a:gridCol w="1498600"/>
              </a:tblGrid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U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V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U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V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V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W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5368" name="TextBox 13"/>
          <p:cNvSpPr txBox="1">
            <a:spLocks noChangeArrowheads="1"/>
          </p:cNvSpPr>
          <p:nvPr/>
        </p:nvSpPr>
        <p:spPr bwMode="auto">
          <a:xfrm>
            <a:off x="609600" y="1600200"/>
            <a:ext cx="406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</a:rPr>
              <a:t>R</a:t>
            </a:r>
          </a:p>
        </p:txBody>
      </p:sp>
      <p:sp>
        <p:nvSpPr>
          <p:cNvPr id="55369" name="TextBox 14"/>
          <p:cNvSpPr txBox="1">
            <a:spLocks noChangeArrowheads="1"/>
          </p:cNvSpPr>
          <p:nvPr/>
        </p:nvSpPr>
        <p:spPr bwMode="auto">
          <a:xfrm>
            <a:off x="4800600" y="1600200"/>
            <a:ext cx="38995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</a:rPr>
              <a:t>S</a:t>
            </a:r>
          </a:p>
        </p:txBody>
      </p:sp>
      <p:sp>
        <p:nvSpPr>
          <p:cNvPr id="55370" name="TextBox 15"/>
          <p:cNvSpPr txBox="1">
            <a:spLocks noChangeArrowheads="1"/>
          </p:cNvSpPr>
          <p:nvPr/>
        </p:nvSpPr>
        <p:spPr bwMode="auto">
          <a:xfrm>
            <a:off x="228600" y="4045803"/>
            <a:ext cx="300940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</a:rPr>
              <a:t>R </a:t>
            </a:r>
            <a:r>
              <a:rPr lang="en-US" dirty="0">
                <a:latin typeface="Arial"/>
              </a:rPr>
              <a:t>⨝ </a:t>
            </a:r>
            <a:r>
              <a:rPr lang="en-US" b="1" dirty="0">
                <a:latin typeface="Arial"/>
              </a:rPr>
              <a:t>S</a:t>
            </a:r>
            <a:r>
              <a:rPr lang="en-US" dirty="0">
                <a:latin typeface="Arial"/>
              </a:rPr>
              <a:t> </a:t>
            </a:r>
            <a:r>
              <a:rPr lang="en-US" dirty="0" smtClean="0">
                <a:latin typeface="Arial"/>
              </a:rPr>
              <a:t>=</a:t>
            </a:r>
          </a:p>
          <a:p>
            <a:r>
              <a:rPr lang="en-US" dirty="0" err="1" smtClean="0">
                <a:latin typeface="Symbol" pitchFamily="112" charset="2"/>
                <a:ea typeface="Arial"/>
                <a:cs typeface="Arial"/>
              </a:rPr>
              <a:t>P</a:t>
            </a:r>
            <a:r>
              <a:rPr lang="en-US" baseline="-25000" dirty="0" err="1" smtClean="0">
                <a:latin typeface="Arial" pitchFamily="112" charset="0"/>
                <a:ea typeface="Arial"/>
                <a:cs typeface="Arial"/>
              </a:rPr>
              <a:t>ABC</a:t>
            </a:r>
            <a:r>
              <a:rPr lang="en-US" dirty="0" err="1" smtClean="0">
                <a:latin typeface="Arial" pitchFamily="112" charset="0"/>
                <a:ea typeface="Arial"/>
                <a:cs typeface="Arial"/>
              </a:rPr>
              <a:t>(</a:t>
            </a:r>
            <a:r>
              <a:rPr lang="en-US" dirty="0" err="1" smtClean="0">
                <a:latin typeface="Symbol" pitchFamily="112" charset="2"/>
                <a:ea typeface="Arial"/>
                <a:cs typeface="Arial"/>
              </a:rPr>
              <a:t>s</a:t>
            </a:r>
            <a:r>
              <a:rPr lang="en-US" baseline="-25000" dirty="0" err="1" smtClean="0">
                <a:latin typeface="Arial" pitchFamily="112" charset="0"/>
                <a:ea typeface="Arial"/>
                <a:cs typeface="Arial"/>
              </a:rPr>
              <a:t>R.B</a:t>
            </a:r>
            <a:r>
              <a:rPr lang="en-US" baseline="-25000" dirty="0" smtClean="0">
                <a:latin typeface="Arial" pitchFamily="112" charset="0"/>
                <a:ea typeface="Arial"/>
                <a:cs typeface="Arial"/>
              </a:rPr>
              <a:t>=S.B</a:t>
            </a:r>
            <a:r>
              <a:rPr lang="en-US" dirty="0" smtClean="0">
                <a:latin typeface="Arial" pitchFamily="112" charset="0"/>
                <a:ea typeface="Arial"/>
                <a:cs typeface="Arial"/>
              </a:rPr>
              <a:t>(R </a:t>
            </a:r>
            <a:r>
              <a:rPr lang="en-US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  <a:sym typeface="Symbol" pitchFamily="112" charset="2"/>
              </a:rPr>
              <a:t>× S))</a:t>
            </a:r>
            <a:r>
              <a:rPr lang="en-US" dirty="0" smtClean="0">
                <a:latin typeface="Arial" pitchFamily="112" charset="0"/>
                <a:ea typeface="Arial"/>
                <a:cs typeface="Arial"/>
              </a:rPr>
              <a:t> </a:t>
            </a:r>
            <a:endParaRPr lang="en-US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D8B9C-D12E-468D-82FA-05310ABD65E6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520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Join </a:t>
            </a:r>
            <a:r>
              <a:rPr lang="en-US" dirty="0" smtClean="0"/>
              <a:t>Example 2</a:t>
            </a:r>
            <a:endParaRPr lang="en-US" dirty="0"/>
          </a:p>
        </p:txBody>
      </p:sp>
      <p:graphicFrame>
        <p:nvGraphicFramePr>
          <p:cNvPr id="165963" name="Group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765366"/>
              </p:ext>
            </p:extLst>
          </p:nvPr>
        </p:nvGraphicFramePr>
        <p:xfrm>
          <a:off x="304800" y="2082799"/>
          <a:ext cx="3276600" cy="1127126"/>
        </p:xfrm>
        <a:graphic>
          <a:graphicData uri="http://schemas.openxmlformats.org/drawingml/2006/table">
            <a:tbl>
              <a:tblPr/>
              <a:tblGrid>
                <a:gridCol w="762000"/>
                <a:gridCol w="1143000"/>
                <a:gridCol w="1371600"/>
              </a:tblGrid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age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zip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disease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54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heart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flu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5909" name="Text Box 21"/>
          <p:cNvSpPr txBox="1">
            <a:spLocks noChangeArrowheads="1"/>
          </p:cNvSpPr>
          <p:nvPr/>
        </p:nvSpPr>
        <p:spPr bwMode="auto">
          <a:xfrm>
            <a:off x="228600" y="1625599"/>
            <a:ext cx="21597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2400" dirty="0" err="1">
                <a:latin typeface="Arial"/>
                <a:cs typeface="Arial"/>
              </a:rPr>
              <a:t>AnonPatient</a:t>
            </a:r>
            <a:r>
              <a:rPr lang="en-US" sz="2400" dirty="0">
                <a:latin typeface="Arial"/>
                <a:cs typeface="Arial"/>
              </a:rPr>
              <a:t> P</a:t>
            </a:r>
          </a:p>
        </p:txBody>
      </p:sp>
      <p:sp>
        <p:nvSpPr>
          <p:cNvPr id="165910" name="Text Box 22"/>
          <p:cNvSpPr txBox="1">
            <a:spLocks noChangeArrowheads="1"/>
          </p:cNvSpPr>
          <p:nvPr/>
        </p:nvSpPr>
        <p:spPr bwMode="auto">
          <a:xfrm>
            <a:off x="4648200" y="1625599"/>
            <a:ext cx="134799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2400">
                <a:latin typeface="Arial"/>
                <a:cs typeface="Arial"/>
              </a:rPr>
              <a:t>Voters V</a:t>
            </a:r>
          </a:p>
        </p:txBody>
      </p:sp>
      <p:sp>
        <p:nvSpPr>
          <p:cNvPr id="165911" name="Text Box 23"/>
          <p:cNvSpPr txBox="1">
            <a:spLocks noChangeArrowheads="1"/>
          </p:cNvSpPr>
          <p:nvPr/>
        </p:nvSpPr>
        <p:spPr bwMode="auto">
          <a:xfrm>
            <a:off x="990600" y="3606799"/>
            <a:ext cx="10172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2400">
                <a:latin typeface="Arial"/>
                <a:cs typeface="Arial"/>
              </a:rPr>
              <a:t>P     V</a:t>
            </a:r>
          </a:p>
        </p:txBody>
      </p:sp>
      <p:graphicFrame>
        <p:nvGraphicFramePr>
          <p:cNvPr id="165962" name="Group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388243"/>
              </p:ext>
            </p:extLst>
          </p:nvPr>
        </p:nvGraphicFramePr>
        <p:xfrm>
          <a:off x="4800600" y="2087562"/>
          <a:ext cx="3276600" cy="1127126"/>
        </p:xfrm>
        <a:graphic>
          <a:graphicData uri="http://schemas.openxmlformats.org/drawingml/2006/table">
            <a:tbl>
              <a:tblPr/>
              <a:tblGrid>
                <a:gridCol w="990600"/>
                <a:gridCol w="914400"/>
                <a:gridCol w="1371600"/>
              </a:tblGrid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zip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p1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54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p2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1371600" y="3759199"/>
            <a:ext cx="228600" cy="152400"/>
            <a:chOff x="480" y="4080"/>
            <a:chExt cx="96" cy="48"/>
          </a:xfrm>
        </p:grpSpPr>
        <p:sp>
          <p:nvSpPr>
            <p:cNvPr id="165931" name="Line 43"/>
            <p:cNvSpPr>
              <a:spLocks noChangeShapeType="1"/>
            </p:cNvSpPr>
            <p:nvPr/>
          </p:nvSpPr>
          <p:spPr bwMode="auto">
            <a:xfrm>
              <a:off x="480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932" name="Line 44"/>
            <p:cNvSpPr>
              <a:spLocks noChangeShapeType="1"/>
            </p:cNvSpPr>
            <p:nvPr/>
          </p:nvSpPr>
          <p:spPr bwMode="auto">
            <a:xfrm>
              <a:off x="576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933" name="Line 45"/>
            <p:cNvSpPr>
              <a:spLocks noChangeShapeType="1"/>
            </p:cNvSpPr>
            <p:nvPr/>
          </p:nvSpPr>
          <p:spPr bwMode="auto">
            <a:xfrm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934" name="Line 46"/>
            <p:cNvSpPr>
              <a:spLocks noChangeShapeType="1"/>
            </p:cNvSpPr>
            <p:nvPr/>
          </p:nvSpPr>
          <p:spPr bwMode="auto">
            <a:xfrm flipH="1"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aphicFrame>
        <p:nvGraphicFramePr>
          <p:cNvPr id="165961" name="Group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40822"/>
              </p:ext>
            </p:extLst>
          </p:nvPr>
        </p:nvGraphicFramePr>
        <p:xfrm>
          <a:off x="990600" y="4140199"/>
          <a:ext cx="4205288" cy="1803401"/>
        </p:xfrm>
        <a:graphic>
          <a:graphicData uri="http://schemas.openxmlformats.org/drawingml/2006/table">
            <a:tbl>
              <a:tblPr/>
              <a:tblGrid>
                <a:gridCol w="838200"/>
                <a:gridCol w="1066800"/>
                <a:gridCol w="1249363"/>
                <a:gridCol w="1050925"/>
              </a:tblGrid>
              <a:tr h="601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age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zip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disease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54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heart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p1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1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flu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p2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48003-984A-074F-92BD-D4B2A6121BBE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5558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Natural Join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05000"/>
            <a:ext cx="8458200" cy="41148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Given </a:t>
            </a:r>
            <a:r>
              <a:rPr lang="en-US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schemas </a:t>
            </a:r>
            <a:r>
              <a:rPr lang="en-US" dirty="0">
                <a:solidFill>
                  <a:srgbClr val="0000FF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R(A, B, C, D), S(A, C, E)</a:t>
            </a:r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, what is the schema of R ⨝ S ?</a:t>
            </a:r>
          </a:p>
          <a:p>
            <a:pPr eaLnBrk="1" hangingPunct="1"/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Given </a:t>
            </a:r>
            <a:r>
              <a:rPr lang="en-US" dirty="0">
                <a:solidFill>
                  <a:srgbClr val="0000FF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R(A, B, C),  S(D, E)</a:t>
            </a:r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, what is R ⨝  S  ?</a:t>
            </a:r>
          </a:p>
          <a:p>
            <a:pPr eaLnBrk="1" hangingPunct="1"/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Given </a:t>
            </a:r>
            <a:r>
              <a:rPr lang="en-US" dirty="0">
                <a:solidFill>
                  <a:srgbClr val="0000FF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R(A, B),  S(A, B)</a:t>
            </a:r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,  what is  R ⨝ S  ?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3EDE-8ECC-4186-A19A-CF00533B0845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9685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Theta Join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229600" cy="41148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A join that involves a predicate</a:t>
            </a:r>
          </a:p>
          <a:p>
            <a:pPr eaLnBrk="1" hangingPunct="1"/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Here </a:t>
            </a:r>
            <a:r>
              <a:rPr lang="en-US" dirty="0"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q </a:t>
            </a:r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can be any </a:t>
            </a:r>
            <a:r>
              <a:rPr lang="en-US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condition</a:t>
            </a:r>
          </a:p>
          <a:p>
            <a:pPr eaLnBrk="1" hangingPunct="1"/>
            <a:r>
              <a:rPr lang="en-US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For our voters/disease example: </a:t>
            </a:r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905000" y="2895600"/>
            <a:ext cx="6316068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88900" dir="2700000" algn="tl" rotWithShape="0">
              <a:srgbClr val="000000">
                <a:alpha val="43000"/>
              </a:srgb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R1 ⨝</a:t>
            </a:r>
            <a:r>
              <a:rPr lang="en-US" sz="4000" baseline="-25000" dirty="0" err="1"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q</a:t>
            </a:r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 R2   =  </a:t>
            </a:r>
            <a:r>
              <a:rPr lang="en-US" sz="4000" dirty="0" err="1"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s</a:t>
            </a:r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 </a:t>
            </a:r>
            <a:r>
              <a:rPr lang="en-US" sz="4000" baseline="-25000" dirty="0" err="1"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q</a:t>
            </a:r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 (R1 </a:t>
            </a:r>
            <a:r>
              <a:rPr lang="en-US" sz="4000" dirty="0" err="1">
                <a:latin typeface="Arial"/>
                <a:ea typeface="ＭＳ Ｐゴシック" pitchFamily="112" charset="-128"/>
                <a:cs typeface="ＭＳ Ｐゴシック" pitchFamily="112" charset="-128"/>
                <a:sym typeface="Symbol" pitchFamily="112" charset="2"/>
              </a:rPr>
              <a:t></a:t>
            </a:r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 R2)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Magda Balazinska - CSE 344, Fall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3EDE-8ECC-4186-A19A-CF00533B0845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7" name="Text Box 75"/>
          <p:cNvSpPr txBox="1">
            <a:spLocks noChangeArrowheads="1"/>
          </p:cNvSpPr>
          <p:nvPr/>
        </p:nvSpPr>
        <p:spPr bwMode="auto">
          <a:xfrm>
            <a:off x="1066800" y="5181600"/>
            <a:ext cx="62945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2400" dirty="0" smtClean="0">
                <a:latin typeface="Arial"/>
                <a:cs typeface="Arial"/>
              </a:rPr>
              <a:t>P </a:t>
            </a:r>
            <a:r>
              <a:rPr lang="en-US" dirty="0" smtClean="0">
                <a:latin typeface="Arial"/>
                <a:ea typeface="ＭＳ Ｐゴシック" pitchFamily="112" charset="-128"/>
                <a:cs typeface="ＭＳ Ｐゴシック" pitchFamily="112" charset="-128"/>
              </a:rPr>
              <a:t>⨝</a:t>
            </a:r>
            <a:r>
              <a:rPr lang="en-US" sz="2400" dirty="0" smtClean="0">
                <a:latin typeface="Arial"/>
                <a:cs typeface="Arial"/>
              </a:rPr>
              <a:t> </a:t>
            </a:r>
            <a:r>
              <a:rPr lang="en-US" sz="2400" baseline="-25000" dirty="0" err="1" smtClean="0">
                <a:latin typeface="Arial"/>
                <a:cs typeface="Arial"/>
              </a:rPr>
              <a:t>P.zip</a:t>
            </a:r>
            <a:r>
              <a:rPr lang="en-US" sz="2400" baseline="-25000" dirty="0" smtClean="0">
                <a:latin typeface="Arial"/>
                <a:cs typeface="Arial"/>
              </a:rPr>
              <a:t> = </a:t>
            </a:r>
            <a:r>
              <a:rPr lang="en-US" sz="2400" baseline="-25000" dirty="0" err="1" smtClean="0">
                <a:latin typeface="Arial"/>
                <a:cs typeface="Arial"/>
              </a:rPr>
              <a:t>V.zip</a:t>
            </a:r>
            <a:r>
              <a:rPr lang="en-US" sz="2400" baseline="-25000" dirty="0" smtClean="0">
                <a:latin typeface="Arial"/>
                <a:cs typeface="Arial"/>
              </a:rPr>
              <a:t> and </a:t>
            </a:r>
            <a:r>
              <a:rPr lang="en-US" sz="2400" baseline="-25000" dirty="0" err="1" smtClean="0">
                <a:latin typeface="Arial"/>
                <a:cs typeface="Arial"/>
              </a:rPr>
              <a:t>P.age</a:t>
            </a:r>
            <a:r>
              <a:rPr lang="en-US" baseline="-25000" dirty="0" smtClean="0">
                <a:latin typeface="Arial"/>
                <a:cs typeface="Arial"/>
              </a:rPr>
              <a:t> &lt;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sz="2400" baseline="-25000" dirty="0" err="1" smtClean="0">
                <a:latin typeface="Arial"/>
                <a:cs typeface="Arial"/>
              </a:rPr>
              <a:t>V.age</a:t>
            </a:r>
            <a:r>
              <a:rPr lang="en-US" sz="2400" baseline="-25000" dirty="0" smtClean="0">
                <a:latin typeface="Arial"/>
                <a:cs typeface="Arial"/>
              </a:rPr>
              <a:t> + 5 and </a:t>
            </a:r>
            <a:r>
              <a:rPr lang="en-US" sz="2400" baseline="-25000" dirty="0" err="1" smtClean="0">
                <a:latin typeface="Arial"/>
                <a:cs typeface="Arial"/>
              </a:rPr>
              <a:t>P.age</a:t>
            </a:r>
            <a:r>
              <a:rPr lang="en-US" sz="2400" baseline="-25000" dirty="0" smtClean="0">
                <a:latin typeface="Arial"/>
                <a:cs typeface="Arial"/>
              </a:rPr>
              <a:t> &gt; </a:t>
            </a:r>
            <a:r>
              <a:rPr lang="en-US" sz="2400" baseline="-25000" dirty="0" err="1" smtClean="0">
                <a:latin typeface="Arial"/>
                <a:cs typeface="Arial"/>
              </a:rPr>
              <a:t>V.age</a:t>
            </a:r>
            <a:r>
              <a:rPr lang="en-US" sz="2400" baseline="-25000" dirty="0" smtClean="0">
                <a:latin typeface="Arial"/>
                <a:cs typeface="Arial"/>
              </a:rPr>
              <a:t> - 5</a:t>
            </a:r>
            <a:r>
              <a:rPr lang="en-US" sz="2400" dirty="0" smtClean="0">
                <a:latin typeface="Arial"/>
                <a:cs typeface="Arial"/>
              </a:rPr>
              <a:t>  V</a:t>
            </a:r>
            <a:endParaRPr lang="en-US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98647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Equijoin</a:t>
            </a:r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A theta join where </a:t>
            </a:r>
            <a:r>
              <a:rPr lang="en-US"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q </a:t>
            </a:r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is an equality</a:t>
            </a:r>
          </a:p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This is by far the most used variant of join in practice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2895600"/>
            <a:ext cx="7129007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88900" dir="2700000" algn="tl" rotWithShape="0">
              <a:srgbClr val="000000">
                <a:alpha val="43000"/>
              </a:srgb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R1 ⨝</a:t>
            </a:r>
            <a:r>
              <a:rPr lang="en-US" sz="4000" baseline="-25000" dirty="0">
                <a:latin typeface="Arial"/>
                <a:ea typeface="Arial"/>
                <a:cs typeface="Arial"/>
              </a:rPr>
              <a:t>A=B</a:t>
            </a:r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 R2   =  </a:t>
            </a:r>
            <a:r>
              <a:rPr lang="en-US" sz="4000" dirty="0" err="1"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s</a:t>
            </a:r>
            <a:r>
              <a:rPr lang="en-US" sz="4000" baseline="-25000" dirty="0" err="1">
                <a:latin typeface="Arial"/>
                <a:ea typeface="Arial"/>
                <a:cs typeface="Arial"/>
              </a:rPr>
              <a:t>A</a:t>
            </a:r>
            <a:r>
              <a:rPr lang="en-US" sz="4000" baseline="-25000" dirty="0">
                <a:latin typeface="Arial"/>
                <a:ea typeface="Arial"/>
                <a:cs typeface="Arial"/>
              </a:rPr>
              <a:t>=B</a:t>
            </a:r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 (R1 </a:t>
            </a:r>
            <a:r>
              <a:rPr lang="en-US" sz="4000" dirty="0" err="1">
                <a:latin typeface="Arial"/>
                <a:ea typeface="ＭＳ Ｐゴシック" pitchFamily="112" charset="-128"/>
                <a:cs typeface="ＭＳ Ｐゴシック" pitchFamily="112" charset="-128"/>
                <a:sym typeface="Symbol" pitchFamily="112" charset="2"/>
              </a:rPr>
              <a:t></a:t>
            </a:r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 R2)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3EDE-8ECC-4186-A19A-CF00533B0845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3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Equijoin Example</a:t>
            </a:r>
          </a:p>
        </p:txBody>
      </p:sp>
      <p:graphicFrame>
        <p:nvGraphicFramePr>
          <p:cNvPr id="163992" name="Group 1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697690"/>
              </p:ext>
            </p:extLst>
          </p:nvPr>
        </p:nvGraphicFramePr>
        <p:xfrm>
          <a:off x="304800" y="2082799"/>
          <a:ext cx="3276600" cy="1127126"/>
        </p:xfrm>
        <a:graphic>
          <a:graphicData uri="http://schemas.openxmlformats.org/drawingml/2006/table">
            <a:tbl>
              <a:tblPr/>
              <a:tblGrid>
                <a:gridCol w="762000"/>
                <a:gridCol w="1143000"/>
                <a:gridCol w="1371600"/>
              </a:tblGrid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age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zip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disease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54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heart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flu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3861" name="Text Box 21"/>
          <p:cNvSpPr txBox="1">
            <a:spLocks noChangeArrowheads="1"/>
          </p:cNvSpPr>
          <p:nvPr/>
        </p:nvSpPr>
        <p:spPr bwMode="auto">
          <a:xfrm>
            <a:off x="228600" y="1625599"/>
            <a:ext cx="21597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2400" dirty="0" err="1">
                <a:latin typeface="Arial"/>
                <a:cs typeface="Arial"/>
              </a:rPr>
              <a:t>AnonPatient</a:t>
            </a:r>
            <a:r>
              <a:rPr lang="en-US" sz="2400" dirty="0">
                <a:latin typeface="Arial"/>
                <a:cs typeface="Arial"/>
              </a:rPr>
              <a:t> P</a:t>
            </a:r>
          </a:p>
        </p:txBody>
      </p:sp>
      <p:sp>
        <p:nvSpPr>
          <p:cNvPr id="163862" name="Text Box 22"/>
          <p:cNvSpPr txBox="1">
            <a:spLocks noChangeArrowheads="1"/>
          </p:cNvSpPr>
          <p:nvPr/>
        </p:nvSpPr>
        <p:spPr bwMode="auto">
          <a:xfrm>
            <a:off x="4648200" y="1625599"/>
            <a:ext cx="13516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2400" dirty="0">
                <a:latin typeface="Arial"/>
                <a:cs typeface="Arial"/>
              </a:rPr>
              <a:t>Voters</a:t>
            </a:r>
            <a:r>
              <a:rPr lang="en-US" sz="2400" dirty="0"/>
              <a:t> V</a:t>
            </a:r>
          </a:p>
        </p:txBody>
      </p:sp>
      <p:sp>
        <p:nvSpPr>
          <p:cNvPr id="163891" name="Text Box 51"/>
          <p:cNvSpPr txBox="1">
            <a:spLocks noChangeArrowheads="1"/>
          </p:cNvSpPr>
          <p:nvPr/>
        </p:nvSpPr>
        <p:spPr bwMode="auto">
          <a:xfrm>
            <a:off x="990600" y="3606799"/>
            <a:ext cx="239220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2400" dirty="0">
                <a:latin typeface="Arial"/>
                <a:cs typeface="Arial"/>
              </a:rPr>
              <a:t>P    </a:t>
            </a:r>
            <a:r>
              <a:rPr lang="en-US" sz="2400" baseline="-25000" dirty="0" err="1">
                <a:latin typeface="Arial"/>
                <a:cs typeface="Arial"/>
              </a:rPr>
              <a:t>P.age</a:t>
            </a:r>
            <a:r>
              <a:rPr lang="en-US" sz="2400" baseline="-25000" dirty="0">
                <a:latin typeface="Arial"/>
                <a:cs typeface="Arial"/>
              </a:rPr>
              <a:t>=</a:t>
            </a:r>
            <a:r>
              <a:rPr lang="en-US" sz="2400" baseline="-25000" dirty="0" err="1" smtClean="0">
                <a:latin typeface="Arial"/>
                <a:cs typeface="Arial"/>
              </a:rPr>
              <a:t>V.age</a:t>
            </a:r>
            <a:r>
              <a:rPr lang="en-US" sz="2400" baseline="-25000" dirty="0" smtClean="0">
                <a:latin typeface="Arial"/>
                <a:cs typeface="Arial"/>
              </a:rPr>
              <a:t> </a:t>
            </a:r>
            <a:r>
              <a:rPr lang="en-US" sz="2400" dirty="0" smtClean="0">
                <a:latin typeface="Arial"/>
                <a:cs typeface="Arial"/>
              </a:rPr>
              <a:t>   </a:t>
            </a:r>
            <a:r>
              <a:rPr lang="en-US" sz="2400" dirty="0">
                <a:latin typeface="Arial"/>
                <a:cs typeface="Arial"/>
              </a:rPr>
              <a:t>V</a:t>
            </a:r>
          </a:p>
        </p:txBody>
      </p:sp>
      <p:graphicFrame>
        <p:nvGraphicFramePr>
          <p:cNvPr id="163991" name="Group 1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500081"/>
              </p:ext>
            </p:extLst>
          </p:nvPr>
        </p:nvGraphicFramePr>
        <p:xfrm>
          <a:off x="4800600" y="2087562"/>
          <a:ext cx="3276600" cy="1127126"/>
        </p:xfrm>
        <a:graphic>
          <a:graphicData uri="http://schemas.openxmlformats.org/drawingml/2006/table">
            <a:tbl>
              <a:tblPr/>
              <a:tblGrid>
                <a:gridCol w="990600"/>
                <a:gridCol w="914400"/>
                <a:gridCol w="1371600"/>
              </a:tblGrid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zip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p1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54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p2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" name="Group 70"/>
          <p:cNvGrpSpPr>
            <a:grpSpLocks/>
          </p:cNvGrpSpPr>
          <p:nvPr/>
        </p:nvGrpSpPr>
        <p:grpSpPr bwMode="auto">
          <a:xfrm>
            <a:off x="1371600" y="3759199"/>
            <a:ext cx="228600" cy="152400"/>
            <a:chOff x="480" y="4080"/>
            <a:chExt cx="96" cy="48"/>
          </a:xfrm>
        </p:grpSpPr>
        <p:sp>
          <p:nvSpPr>
            <p:cNvPr id="163911" name="Line 71"/>
            <p:cNvSpPr>
              <a:spLocks noChangeShapeType="1"/>
            </p:cNvSpPr>
            <p:nvPr/>
          </p:nvSpPr>
          <p:spPr bwMode="auto">
            <a:xfrm>
              <a:off x="480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912" name="Line 72"/>
            <p:cNvSpPr>
              <a:spLocks noChangeShapeType="1"/>
            </p:cNvSpPr>
            <p:nvPr/>
          </p:nvSpPr>
          <p:spPr bwMode="auto">
            <a:xfrm>
              <a:off x="576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913" name="Line 73"/>
            <p:cNvSpPr>
              <a:spLocks noChangeShapeType="1"/>
            </p:cNvSpPr>
            <p:nvPr/>
          </p:nvSpPr>
          <p:spPr bwMode="auto">
            <a:xfrm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914" name="Line 74"/>
            <p:cNvSpPr>
              <a:spLocks noChangeShapeType="1"/>
            </p:cNvSpPr>
            <p:nvPr/>
          </p:nvSpPr>
          <p:spPr bwMode="auto">
            <a:xfrm flipH="1"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aphicFrame>
        <p:nvGraphicFramePr>
          <p:cNvPr id="163990" name="Group 1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476058"/>
              </p:ext>
            </p:extLst>
          </p:nvPr>
        </p:nvGraphicFramePr>
        <p:xfrm>
          <a:off x="990600" y="4216399"/>
          <a:ext cx="5257800" cy="1803401"/>
        </p:xfrm>
        <a:graphic>
          <a:graphicData uri="http://schemas.openxmlformats.org/drawingml/2006/table">
            <a:tbl>
              <a:tblPr/>
              <a:tblGrid>
                <a:gridCol w="838200"/>
                <a:gridCol w="1066800"/>
                <a:gridCol w="1249363"/>
                <a:gridCol w="1050925"/>
                <a:gridCol w="1052512"/>
              </a:tblGrid>
              <a:tr h="601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age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P.zip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disease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V.zip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54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heart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p1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1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flu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p2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48003-984A-074F-92BD-D4B2A6121BBE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044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Join Summary</a:t>
            </a:r>
            <a:endParaRPr lang="en-US" dirty="0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382000" cy="44196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Theta-join</a:t>
            </a:r>
            <a:r>
              <a:rPr lang="en-US" dirty="0"/>
              <a:t>: R    </a:t>
            </a:r>
            <a:r>
              <a:rPr lang="en-US" baseline="-25000" dirty="0">
                <a:latin typeface="Symbol" pitchFamily="-65" charset="2"/>
                <a:sym typeface="Symbol" pitchFamily="-65" charset="2"/>
              </a:rPr>
              <a:t></a:t>
            </a:r>
            <a:r>
              <a:rPr lang="en-US" baseline="-25000" dirty="0"/>
              <a:t> </a:t>
            </a:r>
            <a:r>
              <a:rPr lang="en-US" dirty="0"/>
              <a:t>S = </a:t>
            </a:r>
            <a:r>
              <a:rPr lang="en-US" dirty="0">
                <a:latin typeface="Symbol" pitchFamily="-65" charset="2"/>
                <a:sym typeface="Symbol" pitchFamily="-65" charset="2"/>
              </a:rPr>
              <a:t></a:t>
            </a:r>
            <a:r>
              <a:rPr lang="en-US" baseline="-25000" dirty="0">
                <a:latin typeface="Symbol" pitchFamily="-65" charset="2"/>
                <a:sym typeface="Symbol" pitchFamily="-65" charset="2"/>
              </a:rPr>
              <a:t></a:t>
            </a:r>
            <a:r>
              <a:rPr lang="en-US" dirty="0"/>
              <a:t>(R x S)</a:t>
            </a:r>
          </a:p>
          <a:p>
            <a:pPr lvl="1"/>
            <a:r>
              <a:rPr lang="en-US" dirty="0"/>
              <a:t>Join of R and S with a join condition </a:t>
            </a:r>
            <a:r>
              <a:rPr lang="en-US" dirty="0">
                <a:latin typeface="Symbol" pitchFamily="-65" charset="2"/>
                <a:sym typeface="Symbol" pitchFamily="-65" charset="2"/>
              </a:rPr>
              <a:t></a:t>
            </a:r>
            <a:endParaRPr lang="en-US" dirty="0"/>
          </a:p>
          <a:p>
            <a:pPr lvl="1"/>
            <a:r>
              <a:rPr lang="en-US" dirty="0"/>
              <a:t>Cross-product followed by selection </a:t>
            </a:r>
            <a:r>
              <a:rPr lang="en-US" dirty="0">
                <a:latin typeface="Symbol" pitchFamily="-65" charset="2"/>
                <a:sym typeface="Symbol" pitchFamily="-65" charset="2"/>
              </a:rPr>
              <a:t></a:t>
            </a:r>
            <a:endParaRPr lang="en-US" dirty="0"/>
          </a:p>
          <a:p>
            <a:r>
              <a:rPr lang="en-US" b="1" dirty="0" smtClean="0">
                <a:solidFill>
                  <a:srgbClr val="FF0000"/>
                </a:solidFill>
              </a:rPr>
              <a:t>Equijoin</a:t>
            </a:r>
            <a:r>
              <a:rPr lang="en-US" dirty="0"/>
              <a:t>: R    </a:t>
            </a:r>
            <a:r>
              <a:rPr lang="en-US" baseline="-25000" dirty="0">
                <a:latin typeface="Symbol" pitchFamily="-65" charset="2"/>
                <a:sym typeface="Symbol" pitchFamily="-65" charset="2"/>
              </a:rPr>
              <a:t></a:t>
            </a:r>
            <a:r>
              <a:rPr lang="en-US" baseline="-25000" dirty="0"/>
              <a:t> </a:t>
            </a:r>
            <a:r>
              <a:rPr lang="en-US" dirty="0"/>
              <a:t>S = </a:t>
            </a:r>
            <a:r>
              <a:rPr lang="en-US" dirty="0">
                <a:latin typeface="Symbol" pitchFamily="-65" charset="2"/>
                <a:sym typeface="Symbol" pitchFamily="-65" charset="2"/>
              </a:rPr>
              <a:t></a:t>
            </a:r>
            <a:r>
              <a:rPr lang="en-US" baseline="-25000" dirty="0"/>
              <a:t>A</a:t>
            </a:r>
            <a:r>
              <a:rPr lang="en-US" dirty="0"/>
              <a:t> (</a:t>
            </a:r>
            <a:r>
              <a:rPr lang="en-US" dirty="0">
                <a:latin typeface="Symbol" pitchFamily="-65" charset="2"/>
                <a:sym typeface="Symbol" pitchFamily="-65" charset="2"/>
              </a:rPr>
              <a:t></a:t>
            </a:r>
            <a:r>
              <a:rPr lang="en-US" baseline="-25000" dirty="0">
                <a:latin typeface="Symbol" pitchFamily="-65" charset="2"/>
                <a:sym typeface="Symbol" pitchFamily="-65" charset="2"/>
              </a:rPr>
              <a:t></a:t>
            </a:r>
            <a:r>
              <a:rPr lang="en-US" dirty="0"/>
              <a:t>(R x S))</a:t>
            </a:r>
          </a:p>
          <a:p>
            <a:pPr lvl="1"/>
            <a:r>
              <a:rPr lang="en-US" dirty="0"/>
              <a:t>Join condition </a:t>
            </a:r>
            <a:r>
              <a:rPr lang="en-US" dirty="0">
                <a:sym typeface="Symbol" pitchFamily="-65" charset="2"/>
              </a:rPr>
              <a:t> </a:t>
            </a:r>
            <a:r>
              <a:rPr lang="en-US" dirty="0"/>
              <a:t>consists only of equalities</a:t>
            </a:r>
          </a:p>
          <a:p>
            <a:pPr lvl="1"/>
            <a:r>
              <a:rPr lang="en-US" dirty="0"/>
              <a:t>Projection </a:t>
            </a:r>
            <a:r>
              <a:rPr lang="en-US" dirty="0">
                <a:latin typeface="Symbol" pitchFamily="-65" charset="2"/>
                <a:sym typeface="Symbol" pitchFamily="-65" charset="2"/>
              </a:rPr>
              <a:t></a:t>
            </a:r>
            <a:r>
              <a:rPr lang="en-US" baseline="-25000" dirty="0"/>
              <a:t>A</a:t>
            </a:r>
            <a:r>
              <a:rPr lang="en-US" dirty="0"/>
              <a:t> drops all redundant </a:t>
            </a:r>
            <a:r>
              <a:rPr lang="en-US" dirty="0" smtClean="0"/>
              <a:t>attributes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Natural join</a:t>
            </a:r>
            <a:r>
              <a:rPr lang="en-US" dirty="0"/>
              <a:t>: R    S = </a:t>
            </a:r>
            <a:r>
              <a:rPr lang="en-US" dirty="0">
                <a:latin typeface="Symbol" pitchFamily="-65" charset="2"/>
                <a:sym typeface="Symbol" pitchFamily="-65" charset="2"/>
              </a:rPr>
              <a:t></a:t>
            </a:r>
            <a:r>
              <a:rPr lang="en-US" baseline="-25000" dirty="0"/>
              <a:t>A</a:t>
            </a:r>
            <a:r>
              <a:rPr lang="en-US" dirty="0"/>
              <a:t> (</a:t>
            </a:r>
            <a:r>
              <a:rPr lang="en-US" dirty="0">
                <a:latin typeface="Symbol" pitchFamily="-65" charset="2"/>
                <a:sym typeface="Symbol" pitchFamily="-65" charset="2"/>
              </a:rPr>
              <a:t></a:t>
            </a:r>
            <a:r>
              <a:rPr lang="en-US" baseline="-25000" dirty="0">
                <a:latin typeface="Symbol" pitchFamily="-65" charset="2"/>
                <a:sym typeface="Symbol" pitchFamily="-65" charset="2"/>
              </a:rPr>
              <a:t></a:t>
            </a:r>
            <a:r>
              <a:rPr lang="en-US" dirty="0"/>
              <a:t>(R x S))</a:t>
            </a:r>
          </a:p>
          <a:p>
            <a:pPr lvl="1"/>
            <a:r>
              <a:rPr lang="en-US" dirty="0"/>
              <a:t>Equijoin</a:t>
            </a:r>
          </a:p>
          <a:p>
            <a:pPr lvl="1"/>
            <a:r>
              <a:rPr lang="en-US" dirty="0"/>
              <a:t>Equality on </a:t>
            </a:r>
            <a:r>
              <a:rPr lang="en-US" b="1" dirty="0"/>
              <a:t>all</a:t>
            </a:r>
            <a:r>
              <a:rPr lang="en-US" dirty="0"/>
              <a:t> fields with same name in R and in S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352800" y="4724400"/>
            <a:ext cx="228600" cy="152400"/>
            <a:chOff x="480" y="4080"/>
            <a:chExt cx="96" cy="48"/>
          </a:xfrm>
        </p:grpSpPr>
        <p:sp>
          <p:nvSpPr>
            <p:cNvPr id="91141" name="Line 5"/>
            <p:cNvSpPr>
              <a:spLocks noChangeShapeType="1"/>
            </p:cNvSpPr>
            <p:nvPr/>
          </p:nvSpPr>
          <p:spPr bwMode="auto">
            <a:xfrm>
              <a:off x="480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142" name="Line 6"/>
            <p:cNvSpPr>
              <a:spLocks noChangeShapeType="1"/>
            </p:cNvSpPr>
            <p:nvPr/>
          </p:nvSpPr>
          <p:spPr bwMode="auto">
            <a:xfrm>
              <a:off x="576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143" name="Line 7"/>
            <p:cNvSpPr>
              <a:spLocks noChangeShapeType="1"/>
            </p:cNvSpPr>
            <p:nvPr/>
          </p:nvSpPr>
          <p:spPr bwMode="auto">
            <a:xfrm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144" name="Line 8"/>
            <p:cNvSpPr>
              <a:spLocks noChangeShapeType="1"/>
            </p:cNvSpPr>
            <p:nvPr/>
          </p:nvSpPr>
          <p:spPr bwMode="auto">
            <a:xfrm flipH="1"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3124200" y="1905000"/>
            <a:ext cx="228600" cy="152400"/>
            <a:chOff x="480" y="4080"/>
            <a:chExt cx="96" cy="48"/>
          </a:xfrm>
        </p:grpSpPr>
        <p:sp>
          <p:nvSpPr>
            <p:cNvPr id="91146" name="Line 10"/>
            <p:cNvSpPr>
              <a:spLocks noChangeShapeType="1"/>
            </p:cNvSpPr>
            <p:nvPr/>
          </p:nvSpPr>
          <p:spPr bwMode="auto">
            <a:xfrm>
              <a:off x="480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147" name="Line 11"/>
            <p:cNvSpPr>
              <a:spLocks noChangeShapeType="1"/>
            </p:cNvSpPr>
            <p:nvPr/>
          </p:nvSpPr>
          <p:spPr bwMode="auto">
            <a:xfrm>
              <a:off x="576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148" name="Line 12"/>
            <p:cNvSpPr>
              <a:spLocks noChangeShapeType="1"/>
            </p:cNvSpPr>
            <p:nvPr/>
          </p:nvSpPr>
          <p:spPr bwMode="auto">
            <a:xfrm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149" name="Line 13"/>
            <p:cNvSpPr>
              <a:spLocks noChangeShapeType="1"/>
            </p:cNvSpPr>
            <p:nvPr/>
          </p:nvSpPr>
          <p:spPr bwMode="auto">
            <a:xfrm flipH="1"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2819400" y="3352800"/>
            <a:ext cx="228600" cy="152400"/>
            <a:chOff x="480" y="4080"/>
            <a:chExt cx="96" cy="48"/>
          </a:xfrm>
        </p:grpSpPr>
        <p:sp>
          <p:nvSpPr>
            <p:cNvPr id="91151" name="Line 15"/>
            <p:cNvSpPr>
              <a:spLocks noChangeShapeType="1"/>
            </p:cNvSpPr>
            <p:nvPr/>
          </p:nvSpPr>
          <p:spPr bwMode="auto">
            <a:xfrm>
              <a:off x="480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152" name="Line 16"/>
            <p:cNvSpPr>
              <a:spLocks noChangeShapeType="1"/>
            </p:cNvSpPr>
            <p:nvPr/>
          </p:nvSpPr>
          <p:spPr bwMode="auto">
            <a:xfrm>
              <a:off x="576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153" name="Line 17"/>
            <p:cNvSpPr>
              <a:spLocks noChangeShapeType="1"/>
            </p:cNvSpPr>
            <p:nvPr/>
          </p:nvSpPr>
          <p:spPr bwMode="auto">
            <a:xfrm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154" name="Line 18"/>
            <p:cNvSpPr>
              <a:spLocks noChangeShapeType="1"/>
            </p:cNvSpPr>
            <p:nvPr/>
          </p:nvSpPr>
          <p:spPr bwMode="auto">
            <a:xfrm flipH="1"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48003-984A-074F-92BD-D4B2A6121BBE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2522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So Which Join Is It ?</a:t>
            </a:r>
          </a:p>
        </p:txBody>
      </p:sp>
      <p:sp>
        <p:nvSpPr>
          <p:cNvPr id="634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When we write R ⨝ S we usually mean an equijoin, but we often omit the equality predicate when it is clear from the context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3EDE-8ECC-4186-A19A-CF00533B0845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655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</a:t>
            </a:r>
            <a:endParaRPr lang="en-US" dirty="0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Joins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Outer join</a:t>
            </a:r>
            <a:endParaRPr lang="en-US"/>
          </a:p>
          <a:p>
            <a:pPr lvl="1"/>
            <a:r>
              <a:rPr lang="en-US"/>
              <a:t>Include tuples with no matches in the output</a:t>
            </a:r>
          </a:p>
          <a:p>
            <a:pPr lvl="1"/>
            <a:r>
              <a:rPr lang="en-US"/>
              <a:t>Use NULL values for missing attributes</a:t>
            </a:r>
          </a:p>
          <a:p>
            <a:pPr lvl="1"/>
            <a:endParaRPr lang="en-US"/>
          </a:p>
          <a:p>
            <a:r>
              <a:rPr lang="en-US"/>
              <a:t>Variants</a:t>
            </a:r>
          </a:p>
          <a:p>
            <a:pPr lvl="1"/>
            <a:r>
              <a:rPr lang="en-US"/>
              <a:t>Left outer join</a:t>
            </a:r>
          </a:p>
          <a:p>
            <a:pPr lvl="1"/>
            <a:r>
              <a:rPr lang="en-US"/>
              <a:t>Right outer join</a:t>
            </a:r>
          </a:p>
          <a:p>
            <a:pPr lvl="1"/>
            <a:r>
              <a:rPr lang="en-US"/>
              <a:t>Full outer join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48003-984A-074F-92BD-D4B2A6121BBE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</a:t>
            </a:r>
            <a:endParaRPr lang="en-US" dirty="0"/>
          </a:p>
        </p:txBody>
      </p:sp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Outer Join Example</a:t>
            </a:r>
          </a:p>
        </p:txBody>
      </p:sp>
      <p:graphicFrame>
        <p:nvGraphicFramePr>
          <p:cNvPr id="168049" name="Group 1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092551"/>
              </p:ext>
            </p:extLst>
          </p:nvPr>
        </p:nvGraphicFramePr>
        <p:xfrm>
          <a:off x="304800" y="2308224"/>
          <a:ext cx="3276600" cy="1501776"/>
        </p:xfrm>
        <a:graphic>
          <a:graphicData uri="http://schemas.openxmlformats.org/drawingml/2006/table">
            <a:tbl>
              <a:tblPr/>
              <a:tblGrid>
                <a:gridCol w="762000"/>
                <a:gridCol w="1143000"/>
                <a:gridCol w="1371600"/>
              </a:tblGrid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age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zip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disease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54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heart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flu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33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lung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7957" name="Text Box 21"/>
          <p:cNvSpPr txBox="1">
            <a:spLocks noChangeArrowheads="1"/>
          </p:cNvSpPr>
          <p:nvPr/>
        </p:nvSpPr>
        <p:spPr bwMode="auto">
          <a:xfrm>
            <a:off x="228600" y="1752600"/>
            <a:ext cx="21597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 err="1">
                <a:latin typeface="Arial"/>
                <a:cs typeface="Arial"/>
              </a:rPr>
              <a:t>AnonPatient</a:t>
            </a:r>
            <a:r>
              <a:rPr lang="en-US" sz="2400" dirty="0">
                <a:latin typeface="Arial"/>
                <a:cs typeface="Arial"/>
              </a:rPr>
              <a:t> P</a:t>
            </a:r>
          </a:p>
        </p:txBody>
      </p:sp>
      <p:sp>
        <p:nvSpPr>
          <p:cNvPr id="167959" name="Text Box 23"/>
          <p:cNvSpPr txBox="1">
            <a:spLocks noChangeArrowheads="1"/>
          </p:cNvSpPr>
          <p:nvPr/>
        </p:nvSpPr>
        <p:spPr bwMode="auto">
          <a:xfrm>
            <a:off x="2514600" y="4267200"/>
            <a:ext cx="115969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Arial"/>
                <a:cs typeface="Arial"/>
              </a:rPr>
              <a:t>P  </a:t>
            </a:r>
            <a:r>
              <a:rPr lang="en-US" sz="4000" dirty="0" smtClean="0">
                <a:latin typeface="Arial"/>
                <a:cs typeface="Arial"/>
              </a:rPr>
              <a:t>⋉ </a:t>
            </a:r>
            <a:r>
              <a:rPr lang="en-US" sz="2400" dirty="0" smtClean="0">
                <a:latin typeface="Arial"/>
                <a:cs typeface="Arial"/>
              </a:rPr>
              <a:t>V</a:t>
            </a:r>
            <a:endParaRPr lang="en-US" sz="2400" dirty="0">
              <a:latin typeface="Arial"/>
              <a:cs typeface="Arial"/>
            </a:endParaRPr>
          </a:p>
        </p:txBody>
      </p:sp>
      <p:graphicFrame>
        <p:nvGraphicFramePr>
          <p:cNvPr id="168047" name="Group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091629"/>
              </p:ext>
            </p:extLst>
          </p:nvPr>
        </p:nvGraphicFramePr>
        <p:xfrm>
          <a:off x="4343400" y="3657600"/>
          <a:ext cx="4205288" cy="2405064"/>
        </p:xfrm>
        <a:graphic>
          <a:graphicData uri="http://schemas.openxmlformats.org/drawingml/2006/table">
            <a:tbl>
              <a:tblPr/>
              <a:tblGrid>
                <a:gridCol w="838200"/>
                <a:gridCol w="1066800"/>
                <a:gridCol w="1249363"/>
                <a:gridCol w="1050925"/>
              </a:tblGrid>
              <a:tr h="601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age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zip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disease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job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-65" charset="0"/>
                        <a:ea typeface="Osaka" pitchFamily="-65" charset="-128"/>
                        <a:cs typeface="Osaka" pitchFamily="-65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54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heart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lawyer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-65" charset="0"/>
                        <a:ea typeface="Osaka" pitchFamily="-65" charset="-128"/>
                        <a:cs typeface="Osaka" pitchFamily="-65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1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flu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cashier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-65" charset="0"/>
                        <a:ea typeface="Osaka" pitchFamily="-65" charset="-128"/>
                        <a:cs typeface="Osaka" pitchFamily="-65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1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33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lung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null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-65" charset="0"/>
                        <a:ea typeface="Osaka" pitchFamily="-65" charset="-128"/>
                        <a:cs typeface="Osaka" pitchFamily="-65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48003-984A-074F-92BD-D4B2A6121BBE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16" name="Text Box 22"/>
          <p:cNvSpPr txBox="1">
            <a:spLocks noChangeArrowheads="1"/>
          </p:cNvSpPr>
          <p:nvPr/>
        </p:nvSpPr>
        <p:spPr bwMode="auto">
          <a:xfrm>
            <a:off x="4648200" y="1752600"/>
            <a:ext cx="182308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 err="1" smtClean="0">
                <a:latin typeface="Arial"/>
                <a:cs typeface="Arial"/>
              </a:rPr>
              <a:t>AnnonJob</a:t>
            </a:r>
            <a:r>
              <a:rPr lang="en-US" sz="2400" dirty="0" smtClean="0">
                <a:latin typeface="Arial"/>
                <a:cs typeface="Arial"/>
              </a:rPr>
              <a:t> J</a:t>
            </a:r>
            <a:endParaRPr lang="en-US" sz="2400" dirty="0">
              <a:latin typeface="Arial"/>
              <a:cs typeface="Arial"/>
            </a:endParaRPr>
          </a:p>
        </p:txBody>
      </p:sp>
      <p:graphicFrame>
        <p:nvGraphicFramePr>
          <p:cNvPr id="17" name="Group 1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350995"/>
              </p:ext>
            </p:extLst>
          </p:nvPr>
        </p:nvGraphicFramePr>
        <p:xfrm>
          <a:off x="4800600" y="2298700"/>
          <a:ext cx="3276600" cy="1127126"/>
        </p:xfrm>
        <a:graphic>
          <a:graphicData uri="http://schemas.openxmlformats.org/drawingml/2006/table">
            <a:tbl>
              <a:tblPr/>
              <a:tblGrid>
                <a:gridCol w="990600"/>
                <a:gridCol w="914400"/>
                <a:gridCol w="1371600"/>
              </a:tblGrid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job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-65" charset="0"/>
                        <a:ea typeface="Osaka" pitchFamily="-65" charset="-128"/>
                        <a:cs typeface="Osaka" pitchFamily="-65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zip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lawyer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-65" charset="0"/>
                        <a:ea typeface="Osaka" pitchFamily="-65" charset="-128"/>
                        <a:cs typeface="Osaka" pitchFamily="-65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54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cashier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-65" charset="0"/>
                        <a:ea typeface="Osaka" pitchFamily="-65" charset="-128"/>
                        <a:cs typeface="Osaka" pitchFamily="-65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Magda Balazinska - CSE 344, Fall 2012</a:t>
            </a:r>
            <a:endParaRPr lang="en-US" dirty="0"/>
          </a:p>
        </p:txBody>
      </p:sp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Examples</a:t>
            </a:r>
            <a:endParaRPr lang="en-US" dirty="0"/>
          </a:p>
        </p:txBody>
      </p:sp>
      <p:sp>
        <p:nvSpPr>
          <p:cNvPr id="309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800" dirty="0" smtClean="0"/>
              <a:t>	</a:t>
            </a:r>
            <a:r>
              <a:rPr lang="en-US" sz="1800" dirty="0" err="1">
                <a:latin typeface="Courier" pitchFamily="-65" charset="0"/>
              </a:rPr>
              <a:t>Supplier(sno,sname,scity,sstate</a:t>
            </a:r>
            <a:r>
              <a:rPr lang="en-US" sz="1800" dirty="0">
                <a:latin typeface="Courier" pitchFamily="-65" charset="0"/>
              </a:rPr>
              <a:t>)</a:t>
            </a:r>
          </a:p>
          <a:p>
            <a:pPr>
              <a:buFontTx/>
              <a:buNone/>
            </a:pPr>
            <a:r>
              <a:rPr lang="en-US" sz="1800" dirty="0">
                <a:latin typeface="Courier" pitchFamily="-65" charset="0"/>
              </a:rPr>
              <a:t>	</a:t>
            </a:r>
            <a:r>
              <a:rPr lang="en-US" sz="1800" dirty="0" err="1">
                <a:latin typeface="Courier" pitchFamily="-65" charset="0"/>
              </a:rPr>
              <a:t>Part(pno,pname,psize,pcolor</a:t>
            </a:r>
            <a:r>
              <a:rPr lang="en-US" sz="1800" dirty="0">
                <a:latin typeface="Courier" pitchFamily="-65" charset="0"/>
              </a:rPr>
              <a:t>)</a:t>
            </a:r>
          </a:p>
          <a:p>
            <a:pPr>
              <a:buFontTx/>
              <a:buNone/>
            </a:pPr>
            <a:r>
              <a:rPr lang="en-US" sz="1800" dirty="0">
                <a:latin typeface="Courier" pitchFamily="-65" charset="0"/>
              </a:rPr>
              <a:t>	</a:t>
            </a:r>
            <a:r>
              <a:rPr lang="en-US" sz="1800" dirty="0" err="1">
                <a:latin typeface="Courier" pitchFamily="-65" charset="0"/>
              </a:rPr>
              <a:t>Supply(sno,pno,qty,price</a:t>
            </a:r>
            <a:r>
              <a:rPr lang="en-US" sz="1800" dirty="0">
                <a:latin typeface="Courier" pitchFamily="-65" charset="0"/>
              </a:rPr>
              <a:t>)</a:t>
            </a:r>
          </a:p>
          <a:p>
            <a:pPr>
              <a:buFontTx/>
              <a:buNone/>
            </a:pPr>
            <a:endParaRPr lang="en-US" sz="1800" dirty="0"/>
          </a:p>
          <a:p>
            <a:pPr>
              <a:buFontTx/>
              <a:buNone/>
            </a:pPr>
            <a:r>
              <a:rPr lang="en-US" sz="2000" dirty="0"/>
              <a:t>Q2:</a:t>
            </a:r>
            <a:r>
              <a:rPr lang="en-US" sz="1800" dirty="0"/>
              <a:t> Name of supplier of parts with size greater than 10</a:t>
            </a:r>
          </a:p>
          <a:p>
            <a:pPr>
              <a:buFontTx/>
              <a:buNone/>
            </a:pPr>
            <a:r>
              <a:rPr lang="en-US" sz="2000" dirty="0" err="1">
                <a:latin typeface="Symbol" pitchFamily="-65" charset="2"/>
                <a:sym typeface="Symbol" pitchFamily="-65" charset="2"/>
              </a:rPr>
              <a:t></a:t>
            </a:r>
            <a:r>
              <a:rPr lang="en-US" sz="2000" baseline="-25000" dirty="0" err="1"/>
              <a:t>sname</a:t>
            </a:r>
            <a:r>
              <a:rPr lang="en-US" sz="2000" dirty="0" err="1"/>
              <a:t>(Supplier</a:t>
            </a:r>
            <a:r>
              <a:rPr lang="en-US" sz="2000" dirty="0"/>
              <a:t>     Supply     (</a:t>
            </a:r>
            <a:r>
              <a:rPr lang="en-US" sz="2000" dirty="0" err="1">
                <a:latin typeface="Symbol" pitchFamily="-65" charset="2"/>
                <a:sym typeface="Symbol" pitchFamily="-65" charset="2"/>
              </a:rPr>
              <a:t></a:t>
            </a:r>
            <a:r>
              <a:rPr lang="en-US" sz="2000" baseline="-25000" dirty="0" err="1"/>
              <a:t>psize</a:t>
            </a:r>
            <a:r>
              <a:rPr lang="en-US" sz="2000" baseline="-25000" dirty="0"/>
              <a:t>&gt;10</a:t>
            </a:r>
            <a:r>
              <a:rPr lang="en-US" sz="2000" dirty="0"/>
              <a:t> (Part))</a:t>
            </a:r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r>
              <a:rPr lang="en-US" sz="2000" dirty="0"/>
              <a:t>Q3: Name of supplier of red parts or parts with size greater than 10</a:t>
            </a:r>
          </a:p>
          <a:p>
            <a:pPr>
              <a:buFontTx/>
              <a:buNone/>
            </a:pPr>
            <a:r>
              <a:rPr lang="en-US" sz="2000" dirty="0" err="1">
                <a:latin typeface="Symbol" pitchFamily="-65" charset="2"/>
                <a:sym typeface="Symbol" pitchFamily="-65" charset="2"/>
              </a:rPr>
              <a:t></a:t>
            </a:r>
            <a:r>
              <a:rPr lang="en-US" sz="2000" baseline="-25000" dirty="0" err="1"/>
              <a:t>sname</a:t>
            </a:r>
            <a:r>
              <a:rPr lang="en-US" sz="2000" dirty="0" err="1"/>
              <a:t>(Supplier</a:t>
            </a:r>
            <a:r>
              <a:rPr lang="en-US" sz="2000" dirty="0"/>
              <a:t>     Supply     (</a:t>
            </a:r>
            <a:r>
              <a:rPr lang="en-US" sz="2000" dirty="0" err="1">
                <a:latin typeface="Symbol" pitchFamily="-65" charset="2"/>
                <a:sym typeface="Symbol" pitchFamily="-65" charset="2"/>
              </a:rPr>
              <a:t></a:t>
            </a:r>
            <a:r>
              <a:rPr lang="en-US" sz="2000" baseline="-25000" dirty="0" err="1"/>
              <a:t>psize</a:t>
            </a:r>
            <a:r>
              <a:rPr lang="en-US" sz="2000" baseline="-25000" dirty="0"/>
              <a:t>&gt;10</a:t>
            </a:r>
            <a:r>
              <a:rPr lang="en-US" sz="2000" dirty="0"/>
              <a:t> (Part) </a:t>
            </a:r>
            <a:r>
              <a:rPr lang="en-US" sz="2000" dirty="0" err="1">
                <a:sym typeface="Symbol" pitchFamily="-65" charset="2"/>
              </a:rPr>
              <a:t></a:t>
            </a:r>
            <a:r>
              <a:rPr lang="en-US" sz="2000" dirty="0"/>
              <a:t> </a:t>
            </a:r>
            <a:r>
              <a:rPr lang="en-US" sz="2000" dirty="0" err="1">
                <a:latin typeface="Symbol" pitchFamily="-65" charset="2"/>
                <a:sym typeface="Symbol" pitchFamily="-65" charset="2"/>
              </a:rPr>
              <a:t></a:t>
            </a:r>
            <a:r>
              <a:rPr lang="en-US" sz="2000" baseline="-25000" dirty="0" err="1"/>
              <a:t>pcolor</a:t>
            </a:r>
            <a:r>
              <a:rPr lang="en-US" sz="2000" baseline="-25000" dirty="0"/>
              <a:t>=‘red’</a:t>
            </a:r>
            <a:r>
              <a:rPr lang="en-US" sz="2000" dirty="0"/>
              <a:t> (Part) ) </a:t>
            </a:r>
            <a:r>
              <a:rPr lang="en-US" sz="2000" dirty="0" smtClean="0"/>
              <a:t>)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514600" y="3886200"/>
            <a:ext cx="228600" cy="152400"/>
            <a:chOff x="480" y="4080"/>
            <a:chExt cx="96" cy="48"/>
          </a:xfrm>
        </p:grpSpPr>
        <p:sp>
          <p:nvSpPr>
            <p:cNvPr id="309253" name="Line 5"/>
            <p:cNvSpPr>
              <a:spLocks noChangeShapeType="1"/>
            </p:cNvSpPr>
            <p:nvPr/>
          </p:nvSpPr>
          <p:spPr bwMode="auto">
            <a:xfrm>
              <a:off x="480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254" name="Line 6"/>
            <p:cNvSpPr>
              <a:spLocks noChangeShapeType="1"/>
            </p:cNvSpPr>
            <p:nvPr/>
          </p:nvSpPr>
          <p:spPr bwMode="auto">
            <a:xfrm>
              <a:off x="576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255" name="Line 7"/>
            <p:cNvSpPr>
              <a:spLocks noChangeShapeType="1"/>
            </p:cNvSpPr>
            <p:nvPr/>
          </p:nvSpPr>
          <p:spPr bwMode="auto">
            <a:xfrm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256" name="Line 8"/>
            <p:cNvSpPr>
              <a:spLocks noChangeShapeType="1"/>
            </p:cNvSpPr>
            <p:nvPr/>
          </p:nvSpPr>
          <p:spPr bwMode="auto">
            <a:xfrm flipH="1"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3657600" y="3886200"/>
            <a:ext cx="228600" cy="152400"/>
            <a:chOff x="480" y="4080"/>
            <a:chExt cx="96" cy="48"/>
          </a:xfrm>
        </p:grpSpPr>
        <p:sp>
          <p:nvSpPr>
            <p:cNvPr id="309258" name="Line 10"/>
            <p:cNvSpPr>
              <a:spLocks noChangeShapeType="1"/>
            </p:cNvSpPr>
            <p:nvPr/>
          </p:nvSpPr>
          <p:spPr bwMode="auto">
            <a:xfrm>
              <a:off x="480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259" name="Line 11"/>
            <p:cNvSpPr>
              <a:spLocks noChangeShapeType="1"/>
            </p:cNvSpPr>
            <p:nvPr/>
          </p:nvSpPr>
          <p:spPr bwMode="auto">
            <a:xfrm>
              <a:off x="576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260" name="Line 12"/>
            <p:cNvSpPr>
              <a:spLocks noChangeShapeType="1"/>
            </p:cNvSpPr>
            <p:nvPr/>
          </p:nvSpPr>
          <p:spPr bwMode="auto">
            <a:xfrm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261" name="Line 13"/>
            <p:cNvSpPr>
              <a:spLocks noChangeShapeType="1"/>
            </p:cNvSpPr>
            <p:nvPr/>
          </p:nvSpPr>
          <p:spPr bwMode="auto">
            <a:xfrm flipH="1"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2514600" y="4953000"/>
            <a:ext cx="228600" cy="152400"/>
            <a:chOff x="480" y="4080"/>
            <a:chExt cx="96" cy="48"/>
          </a:xfrm>
        </p:grpSpPr>
        <p:sp>
          <p:nvSpPr>
            <p:cNvPr id="309263" name="Line 15"/>
            <p:cNvSpPr>
              <a:spLocks noChangeShapeType="1"/>
            </p:cNvSpPr>
            <p:nvPr/>
          </p:nvSpPr>
          <p:spPr bwMode="auto">
            <a:xfrm>
              <a:off x="480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264" name="Line 16"/>
            <p:cNvSpPr>
              <a:spLocks noChangeShapeType="1"/>
            </p:cNvSpPr>
            <p:nvPr/>
          </p:nvSpPr>
          <p:spPr bwMode="auto">
            <a:xfrm>
              <a:off x="576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265" name="Line 17"/>
            <p:cNvSpPr>
              <a:spLocks noChangeShapeType="1"/>
            </p:cNvSpPr>
            <p:nvPr/>
          </p:nvSpPr>
          <p:spPr bwMode="auto">
            <a:xfrm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266" name="Line 18"/>
            <p:cNvSpPr>
              <a:spLocks noChangeShapeType="1"/>
            </p:cNvSpPr>
            <p:nvPr/>
          </p:nvSpPr>
          <p:spPr bwMode="auto">
            <a:xfrm flipH="1"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3657600" y="4953000"/>
            <a:ext cx="228600" cy="152400"/>
            <a:chOff x="480" y="4080"/>
            <a:chExt cx="96" cy="48"/>
          </a:xfrm>
        </p:grpSpPr>
        <p:sp>
          <p:nvSpPr>
            <p:cNvPr id="309268" name="Line 20"/>
            <p:cNvSpPr>
              <a:spLocks noChangeShapeType="1"/>
            </p:cNvSpPr>
            <p:nvPr/>
          </p:nvSpPr>
          <p:spPr bwMode="auto">
            <a:xfrm>
              <a:off x="480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269" name="Line 21"/>
            <p:cNvSpPr>
              <a:spLocks noChangeShapeType="1"/>
            </p:cNvSpPr>
            <p:nvPr/>
          </p:nvSpPr>
          <p:spPr bwMode="auto">
            <a:xfrm>
              <a:off x="576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270" name="Line 22"/>
            <p:cNvSpPr>
              <a:spLocks noChangeShapeType="1"/>
            </p:cNvSpPr>
            <p:nvPr/>
          </p:nvSpPr>
          <p:spPr bwMode="auto">
            <a:xfrm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271" name="Line 23"/>
            <p:cNvSpPr>
              <a:spLocks noChangeShapeType="1"/>
            </p:cNvSpPr>
            <p:nvPr/>
          </p:nvSpPr>
          <p:spPr bwMode="auto">
            <a:xfrm flipH="1"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48003-984A-074F-92BD-D4B2A6121BBE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612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1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566A4E-9079-274B-8CBC-BED33EC11BF5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11" name="Title 8"/>
          <p:cNvSpPr txBox="1">
            <a:spLocks/>
          </p:cNvSpPr>
          <p:nvPr/>
        </p:nvSpPr>
        <p:spPr bwMode="auto">
          <a:xfrm>
            <a:off x="685800" y="2743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/>
                <a:ea typeface="ＭＳ Ｐゴシック" charset="-128"/>
                <a:cs typeface="Arial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charset="0"/>
                <a:ea typeface="ＭＳ Ｐゴシック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charset="0"/>
                <a:ea typeface="ＭＳ Ｐゴシック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charset="0"/>
                <a:ea typeface="ＭＳ Ｐゴシック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charset="0"/>
                <a:ea typeface="ＭＳ Ｐゴシック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charset="0"/>
              </a:defRPr>
            </a:lvl9pPr>
          </a:lstStyle>
          <a:p>
            <a:r>
              <a:rPr lang="en-US" smtClean="0"/>
              <a:t>From SQL to 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8917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CBFB7D6-AFE8-B84B-9C0A-76D35302BA16}" type="slidenum">
              <a:rPr lang="en-US" smtClean="0"/>
              <a:pPr/>
              <a:t>41</a:t>
            </a:fld>
            <a:endParaRPr lang="en-US" smtClean="0"/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/>
              <a:t>From SQL to RA</a:t>
            </a:r>
          </a:p>
        </p:txBody>
      </p:sp>
      <p:sp>
        <p:nvSpPr>
          <p:cNvPr id="59395" name="Rectangle 3"/>
          <p:cNvSpPr>
            <a:spLocks noChangeArrowheads="1"/>
          </p:cNvSpPr>
          <p:nvPr/>
        </p:nvSpPr>
        <p:spPr bwMode="auto">
          <a:xfrm>
            <a:off x="609600" y="3505200"/>
            <a:ext cx="7137896" cy="18165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sz="2800" dirty="0">
                <a:solidFill>
                  <a:srgbClr val="0000FF"/>
                </a:solidFill>
                <a:latin typeface="Arial"/>
                <a:cs typeface="Arial"/>
              </a:rPr>
              <a:t>SELECT DISTINCT </a:t>
            </a:r>
            <a:r>
              <a:rPr lang="en-US" sz="2800" dirty="0" err="1">
                <a:latin typeface="Arial"/>
                <a:cs typeface="Arial"/>
              </a:rPr>
              <a:t>x.name</a:t>
            </a:r>
            <a:r>
              <a:rPr lang="en-US" sz="2800" dirty="0">
                <a:latin typeface="Arial"/>
                <a:cs typeface="Arial"/>
              </a:rPr>
              <a:t>, </a:t>
            </a:r>
            <a:r>
              <a:rPr lang="en-US" sz="2800" dirty="0" err="1">
                <a:latin typeface="Arial"/>
                <a:cs typeface="Arial"/>
              </a:rPr>
              <a:t>z.name</a:t>
            </a:r>
            <a:endParaRPr lang="en-US" sz="2800" dirty="0">
              <a:latin typeface="Arial"/>
              <a:cs typeface="Arial"/>
            </a:endParaRPr>
          </a:p>
          <a:p>
            <a:pPr>
              <a:defRPr/>
            </a:pPr>
            <a:r>
              <a:rPr lang="en-US" sz="2800" dirty="0">
                <a:solidFill>
                  <a:srgbClr val="0000FF"/>
                </a:solidFill>
                <a:latin typeface="Arial"/>
                <a:cs typeface="Arial"/>
              </a:rPr>
              <a:t>FROM </a:t>
            </a:r>
            <a:r>
              <a:rPr lang="en-US" sz="2800" dirty="0">
                <a:latin typeface="Arial"/>
                <a:cs typeface="Arial"/>
              </a:rPr>
              <a:t>Product </a:t>
            </a:r>
            <a:r>
              <a:rPr lang="en-US" sz="2800" dirty="0" err="1">
                <a:latin typeface="Arial"/>
                <a:cs typeface="Arial"/>
              </a:rPr>
              <a:t>x</a:t>
            </a:r>
            <a:r>
              <a:rPr lang="en-US" sz="2800" dirty="0">
                <a:latin typeface="Arial"/>
                <a:cs typeface="Arial"/>
              </a:rPr>
              <a:t>, Purchase </a:t>
            </a:r>
            <a:r>
              <a:rPr lang="en-US" sz="2800" dirty="0" err="1">
                <a:latin typeface="Arial"/>
                <a:cs typeface="Arial"/>
              </a:rPr>
              <a:t>y</a:t>
            </a:r>
            <a:r>
              <a:rPr lang="en-US" sz="2800" dirty="0">
                <a:latin typeface="Arial"/>
                <a:cs typeface="Arial"/>
              </a:rPr>
              <a:t>, Customer </a:t>
            </a:r>
            <a:r>
              <a:rPr lang="en-US" sz="2800" dirty="0" err="1">
                <a:latin typeface="Arial"/>
                <a:cs typeface="Arial"/>
              </a:rPr>
              <a:t>z</a:t>
            </a:r>
            <a:endParaRPr lang="en-US" sz="2800" dirty="0">
              <a:latin typeface="Arial"/>
              <a:cs typeface="Arial"/>
            </a:endParaRPr>
          </a:p>
          <a:p>
            <a:pPr>
              <a:defRPr/>
            </a:pPr>
            <a:r>
              <a:rPr lang="en-US" sz="2800" dirty="0">
                <a:solidFill>
                  <a:srgbClr val="0000FF"/>
                </a:solidFill>
                <a:latin typeface="Arial"/>
                <a:cs typeface="Arial"/>
              </a:rPr>
              <a:t>WHERE </a:t>
            </a:r>
            <a:r>
              <a:rPr lang="en-US" sz="2800" dirty="0" err="1">
                <a:latin typeface="Arial"/>
                <a:cs typeface="Arial"/>
              </a:rPr>
              <a:t>x.pid</a:t>
            </a:r>
            <a:r>
              <a:rPr lang="en-US" sz="2800" dirty="0">
                <a:latin typeface="Arial"/>
                <a:cs typeface="Arial"/>
              </a:rPr>
              <a:t> = </a:t>
            </a:r>
            <a:r>
              <a:rPr lang="en-US" sz="2800" dirty="0" err="1">
                <a:latin typeface="Arial"/>
                <a:cs typeface="Arial"/>
              </a:rPr>
              <a:t>y.pid</a:t>
            </a:r>
            <a:r>
              <a:rPr lang="en-US" sz="2800" dirty="0">
                <a:latin typeface="Arial"/>
                <a:cs typeface="Arial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lang="en-US" sz="2800" dirty="0">
                <a:latin typeface="Arial"/>
                <a:cs typeface="Arial"/>
              </a:rPr>
              <a:t> </a:t>
            </a:r>
            <a:r>
              <a:rPr lang="en-US" sz="2800" dirty="0" err="1">
                <a:latin typeface="Arial"/>
                <a:cs typeface="Arial"/>
              </a:rPr>
              <a:t>y.cid</a:t>
            </a:r>
            <a:r>
              <a:rPr lang="en-US" sz="2800" dirty="0">
                <a:latin typeface="Arial"/>
                <a:cs typeface="Arial"/>
              </a:rPr>
              <a:t> = </a:t>
            </a:r>
            <a:r>
              <a:rPr lang="en-US" sz="2800" dirty="0" err="1">
                <a:latin typeface="Arial"/>
                <a:cs typeface="Arial"/>
              </a:rPr>
              <a:t>y.cid</a:t>
            </a:r>
            <a:r>
              <a:rPr lang="en-US" sz="2800" dirty="0">
                <a:latin typeface="Arial"/>
                <a:cs typeface="Arial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lang="en-US" sz="2800" dirty="0">
                <a:latin typeface="Arial"/>
                <a:cs typeface="Arial"/>
              </a:rPr>
              <a:t/>
            </a:r>
            <a:br>
              <a:rPr lang="en-US" sz="2800" dirty="0">
                <a:latin typeface="Arial"/>
                <a:cs typeface="Arial"/>
              </a:rPr>
            </a:br>
            <a:r>
              <a:rPr lang="en-US" sz="2800" dirty="0">
                <a:latin typeface="Arial"/>
                <a:cs typeface="Arial"/>
              </a:rPr>
              <a:t>                </a:t>
            </a:r>
            <a:r>
              <a:rPr lang="en-US" sz="2800" dirty="0" err="1">
                <a:latin typeface="Arial"/>
                <a:cs typeface="Arial"/>
              </a:rPr>
              <a:t>x.price</a:t>
            </a:r>
            <a:r>
              <a:rPr lang="en-US" sz="2800" dirty="0">
                <a:latin typeface="Arial"/>
                <a:cs typeface="Arial"/>
              </a:rPr>
              <a:t> &gt; 100 </a:t>
            </a:r>
            <a:r>
              <a:rPr lang="en-US" sz="2800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lang="en-US" sz="2800" dirty="0">
                <a:latin typeface="Arial"/>
                <a:cs typeface="Arial"/>
              </a:rPr>
              <a:t> </a:t>
            </a:r>
            <a:r>
              <a:rPr lang="en-US" sz="2800" dirty="0" err="1">
                <a:latin typeface="Arial"/>
                <a:cs typeface="Arial"/>
              </a:rPr>
              <a:t>z.city</a:t>
            </a:r>
            <a:r>
              <a:rPr lang="en-US" sz="2800" dirty="0">
                <a:latin typeface="Arial"/>
                <a:cs typeface="Arial"/>
              </a:rPr>
              <a:t> = ‘Seattle’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7" name="Text Box 27"/>
          <p:cNvSpPr txBox="1">
            <a:spLocks noChangeArrowheads="1"/>
          </p:cNvSpPr>
          <p:nvPr/>
        </p:nvSpPr>
        <p:spPr bwMode="auto">
          <a:xfrm>
            <a:off x="152400" y="1371600"/>
            <a:ext cx="3106389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000" dirty="0" err="1">
                <a:latin typeface="Arial"/>
                <a:cs typeface="Arial"/>
              </a:rPr>
              <a:t>Product(</a:t>
            </a:r>
            <a:r>
              <a:rPr lang="en-US" sz="2000" u="sng" dirty="0" err="1">
                <a:latin typeface="Arial"/>
                <a:cs typeface="Arial"/>
              </a:rPr>
              <a:t>pid</a:t>
            </a:r>
            <a:r>
              <a:rPr lang="en-US" sz="2000" dirty="0">
                <a:latin typeface="Arial"/>
                <a:cs typeface="Arial"/>
              </a:rPr>
              <a:t>, name, price)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 err="1">
                <a:latin typeface="Arial"/>
                <a:cs typeface="Arial"/>
              </a:rPr>
              <a:t>Purchase(</a:t>
            </a:r>
            <a:r>
              <a:rPr lang="en-US" sz="2000" u="sng" dirty="0" err="1">
                <a:latin typeface="Arial"/>
                <a:cs typeface="Arial"/>
              </a:rPr>
              <a:t>pid</a:t>
            </a:r>
            <a:r>
              <a:rPr lang="en-US" sz="2000" u="sng" dirty="0">
                <a:latin typeface="Arial"/>
                <a:cs typeface="Arial"/>
              </a:rPr>
              <a:t>, cid</a:t>
            </a:r>
            <a:r>
              <a:rPr lang="en-US" sz="2000" dirty="0">
                <a:latin typeface="Arial"/>
                <a:cs typeface="Arial"/>
              </a:rPr>
              <a:t>, store)</a:t>
            </a:r>
          </a:p>
          <a:p>
            <a:pPr eaLnBrk="1" hangingPunct="1"/>
            <a:r>
              <a:rPr lang="en-US" sz="2000" dirty="0" err="1">
                <a:latin typeface="Arial"/>
                <a:cs typeface="Arial"/>
              </a:rPr>
              <a:t>Customer(</a:t>
            </a:r>
            <a:r>
              <a:rPr lang="en-US" sz="2000" u="sng" dirty="0" err="1">
                <a:latin typeface="Arial"/>
                <a:cs typeface="Arial"/>
              </a:rPr>
              <a:t>cid</a:t>
            </a:r>
            <a:r>
              <a:rPr lang="en-US" sz="2000" dirty="0">
                <a:latin typeface="Arial"/>
                <a:cs typeface="Arial"/>
              </a:rPr>
              <a:t>, name, city)</a:t>
            </a:r>
          </a:p>
        </p:txBody>
      </p:sp>
    </p:spTree>
    <p:extLst>
      <p:ext uri="{BB962C8B-B14F-4D97-AF65-F5344CB8AC3E}">
        <p14:creationId xmlns:p14="http://schemas.microsoft.com/office/powerpoint/2010/main" val="26544069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7D1C948-D5CB-214D-830F-686DD3925965}" type="slidenum">
              <a:rPr lang="en-US" smtClean="0"/>
              <a:pPr/>
              <a:t>42</a:t>
            </a:fld>
            <a:endParaRPr lang="en-US" smtClean="0"/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/>
              <a:t>From SQL to RA</a:t>
            </a:r>
          </a:p>
        </p:txBody>
      </p:sp>
      <p:grpSp>
        <p:nvGrpSpPr>
          <p:cNvPr id="76804" name="Group 7"/>
          <p:cNvGrpSpPr>
            <a:grpSpLocks/>
          </p:cNvGrpSpPr>
          <p:nvPr/>
        </p:nvGrpSpPr>
        <p:grpSpPr bwMode="auto">
          <a:xfrm>
            <a:off x="2905125" y="5267325"/>
            <a:ext cx="349250" cy="123825"/>
            <a:chOff x="3112" y="2223"/>
            <a:chExt cx="220" cy="78"/>
          </a:xfrm>
        </p:grpSpPr>
        <p:sp>
          <p:nvSpPr>
            <p:cNvPr id="76827" name="Freeform 8"/>
            <p:cNvSpPr>
              <a:spLocks/>
            </p:cNvSpPr>
            <p:nvPr/>
          </p:nvSpPr>
          <p:spPr bwMode="auto">
            <a:xfrm>
              <a:off x="3112" y="2223"/>
              <a:ext cx="1" cy="78"/>
            </a:xfrm>
            <a:custGeom>
              <a:avLst/>
              <a:gdLst>
                <a:gd name="T0" fmla="*/ 0 w 1"/>
                <a:gd name="T1" fmla="*/ 0 h 78"/>
                <a:gd name="T2" fmla="*/ 0 w 1"/>
                <a:gd name="T3" fmla="*/ 77 h 78"/>
                <a:gd name="T4" fmla="*/ 0 w 1"/>
                <a:gd name="T5" fmla="*/ 0 h 78"/>
                <a:gd name="T6" fmla="*/ 0 60000 65536"/>
                <a:gd name="T7" fmla="*/ 0 60000 65536"/>
                <a:gd name="T8" fmla="*/ 0 60000 65536"/>
                <a:gd name="T9" fmla="*/ 0 w 1"/>
                <a:gd name="T10" fmla="*/ 0 h 78"/>
                <a:gd name="T11" fmla="*/ 1 w 1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">
                  <a:moveTo>
                    <a:pt x="0" y="0"/>
                  </a:moveTo>
                  <a:lnTo>
                    <a:pt x="0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76828" name="Freeform 9"/>
            <p:cNvSpPr>
              <a:spLocks/>
            </p:cNvSpPr>
            <p:nvPr/>
          </p:nvSpPr>
          <p:spPr bwMode="auto">
            <a:xfrm>
              <a:off x="3331" y="2223"/>
              <a:ext cx="1" cy="78"/>
            </a:xfrm>
            <a:custGeom>
              <a:avLst/>
              <a:gdLst>
                <a:gd name="T0" fmla="*/ 0 w 1"/>
                <a:gd name="T1" fmla="*/ 0 h 78"/>
                <a:gd name="T2" fmla="*/ 0 w 1"/>
                <a:gd name="T3" fmla="*/ 77 h 78"/>
                <a:gd name="T4" fmla="*/ 0 w 1"/>
                <a:gd name="T5" fmla="*/ 0 h 78"/>
                <a:gd name="T6" fmla="*/ 0 60000 65536"/>
                <a:gd name="T7" fmla="*/ 0 60000 65536"/>
                <a:gd name="T8" fmla="*/ 0 60000 65536"/>
                <a:gd name="T9" fmla="*/ 0 w 1"/>
                <a:gd name="T10" fmla="*/ 0 h 78"/>
                <a:gd name="T11" fmla="*/ 1 w 1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">
                  <a:moveTo>
                    <a:pt x="0" y="0"/>
                  </a:moveTo>
                  <a:lnTo>
                    <a:pt x="0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76829" name="Freeform 10"/>
            <p:cNvSpPr>
              <a:spLocks/>
            </p:cNvSpPr>
            <p:nvPr/>
          </p:nvSpPr>
          <p:spPr bwMode="auto">
            <a:xfrm>
              <a:off x="3112" y="2223"/>
              <a:ext cx="220" cy="78"/>
            </a:xfrm>
            <a:custGeom>
              <a:avLst/>
              <a:gdLst>
                <a:gd name="T0" fmla="*/ 0 w 220"/>
                <a:gd name="T1" fmla="*/ 0 h 78"/>
                <a:gd name="T2" fmla="*/ 219 w 220"/>
                <a:gd name="T3" fmla="*/ 77 h 78"/>
                <a:gd name="T4" fmla="*/ 0 w 220"/>
                <a:gd name="T5" fmla="*/ 0 h 78"/>
                <a:gd name="T6" fmla="*/ 0 60000 65536"/>
                <a:gd name="T7" fmla="*/ 0 60000 65536"/>
                <a:gd name="T8" fmla="*/ 0 60000 65536"/>
                <a:gd name="T9" fmla="*/ 0 w 220"/>
                <a:gd name="T10" fmla="*/ 0 h 78"/>
                <a:gd name="T11" fmla="*/ 220 w 220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" h="78">
                  <a:moveTo>
                    <a:pt x="0" y="0"/>
                  </a:moveTo>
                  <a:lnTo>
                    <a:pt x="219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76830" name="Freeform 11"/>
            <p:cNvSpPr>
              <a:spLocks/>
            </p:cNvSpPr>
            <p:nvPr/>
          </p:nvSpPr>
          <p:spPr bwMode="auto">
            <a:xfrm>
              <a:off x="3112" y="2223"/>
              <a:ext cx="220" cy="78"/>
            </a:xfrm>
            <a:custGeom>
              <a:avLst/>
              <a:gdLst>
                <a:gd name="T0" fmla="*/ 0 w 220"/>
                <a:gd name="T1" fmla="*/ 77 h 78"/>
                <a:gd name="T2" fmla="*/ 219 w 220"/>
                <a:gd name="T3" fmla="*/ 0 h 78"/>
                <a:gd name="T4" fmla="*/ 0 w 220"/>
                <a:gd name="T5" fmla="*/ 77 h 78"/>
                <a:gd name="T6" fmla="*/ 0 60000 65536"/>
                <a:gd name="T7" fmla="*/ 0 60000 65536"/>
                <a:gd name="T8" fmla="*/ 0 60000 65536"/>
                <a:gd name="T9" fmla="*/ 0 w 220"/>
                <a:gd name="T10" fmla="*/ 0 h 78"/>
                <a:gd name="T11" fmla="*/ 220 w 220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" h="78">
                  <a:moveTo>
                    <a:pt x="0" y="77"/>
                  </a:moveTo>
                  <a:lnTo>
                    <a:pt x="219" y="0"/>
                  </a:lnTo>
                  <a:lnTo>
                    <a:pt x="0" y="77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</p:grpSp>
      <p:sp>
        <p:nvSpPr>
          <p:cNvPr id="76805" name="Rectangle 18"/>
          <p:cNvSpPr>
            <a:spLocks noChangeArrowheads="1"/>
          </p:cNvSpPr>
          <p:nvPr/>
        </p:nvSpPr>
        <p:spPr bwMode="auto">
          <a:xfrm>
            <a:off x="1752600" y="6218238"/>
            <a:ext cx="1203325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2100" b="1">
                <a:solidFill>
                  <a:srgbClr val="000000"/>
                </a:solidFill>
                <a:latin typeface="Arial" charset="0"/>
              </a:rPr>
              <a:t>Product</a:t>
            </a:r>
          </a:p>
        </p:txBody>
      </p:sp>
      <p:sp>
        <p:nvSpPr>
          <p:cNvPr id="76806" name="Rectangle 19"/>
          <p:cNvSpPr>
            <a:spLocks noChangeArrowheads="1"/>
          </p:cNvSpPr>
          <p:nvPr/>
        </p:nvSpPr>
        <p:spPr bwMode="auto">
          <a:xfrm>
            <a:off x="3538538" y="6202363"/>
            <a:ext cx="1398587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2100" b="1">
                <a:solidFill>
                  <a:srgbClr val="000000"/>
                </a:solidFill>
                <a:latin typeface="Arial" charset="0"/>
              </a:rPr>
              <a:t>Purchase</a:t>
            </a:r>
          </a:p>
        </p:txBody>
      </p:sp>
      <p:sp>
        <p:nvSpPr>
          <p:cNvPr id="76807" name="Rectangle 20"/>
          <p:cNvSpPr>
            <a:spLocks noChangeArrowheads="1"/>
          </p:cNvSpPr>
          <p:nvPr/>
        </p:nvSpPr>
        <p:spPr bwMode="auto">
          <a:xfrm>
            <a:off x="3238500" y="5259388"/>
            <a:ext cx="10128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800" b="1" dirty="0" err="1">
                <a:solidFill>
                  <a:srgbClr val="000000"/>
                </a:solidFill>
                <a:latin typeface="Arial" charset="0"/>
              </a:rPr>
              <a:t>pid</a:t>
            </a:r>
            <a:r>
              <a:rPr lang="en-US" sz="1800" b="1" dirty="0">
                <a:solidFill>
                  <a:srgbClr val="000000"/>
                </a:solidFill>
                <a:latin typeface="Arial" charset="0"/>
              </a:rPr>
              <a:t>=</a:t>
            </a:r>
            <a:r>
              <a:rPr lang="en-US" sz="1800" b="1" dirty="0" err="1">
                <a:solidFill>
                  <a:srgbClr val="000000"/>
                </a:solidFill>
                <a:latin typeface="Arial" charset="0"/>
              </a:rPr>
              <a:t>pid</a:t>
            </a:r>
            <a:endParaRPr lang="en-US" sz="1800" b="1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76808" name="Rectangle 21"/>
          <p:cNvSpPr>
            <a:spLocks noChangeArrowheads="1"/>
          </p:cNvSpPr>
          <p:nvPr/>
        </p:nvSpPr>
        <p:spPr bwMode="auto">
          <a:xfrm>
            <a:off x="4541838" y="3662363"/>
            <a:ext cx="321468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Arial" charset="0"/>
              </a:rPr>
              <a:t>price&gt;100 and city=‘Seattle’</a:t>
            </a:r>
          </a:p>
        </p:txBody>
      </p:sp>
      <p:sp>
        <p:nvSpPr>
          <p:cNvPr id="76809" name="Rectangle 23"/>
          <p:cNvSpPr>
            <a:spLocks noChangeArrowheads="1"/>
          </p:cNvSpPr>
          <p:nvPr/>
        </p:nvSpPr>
        <p:spPr bwMode="auto">
          <a:xfrm>
            <a:off x="4414838" y="2603500"/>
            <a:ext cx="18272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Arial" charset="0"/>
              </a:rPr>
              <a:t>x.name,z.name</a:t>
            </a:r>
          </a:p>
        </p:txBody>
      </p:sp>
      <p:sp>
        <p:nvSpPr>
          <p:cNvPr id="76810" name="TextBox 28"/>
          <p:cNvSpPr txBox="1">
            <a:spLocks noChangeArrowheads="1"/>
          </p:cNvSpPr>
          <p:nvPr/>
        </p:nvSpPr>
        <p:spPr bwMode="auto">
          <a:xfrm>
            <a:off x="4141788" y="1447800"/>
            <a:ext cx="35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Arial"/>
              </a:rPr>
              <a:t>δ</a:t>
            </a:r>
            <a:endParaRPr lang="en-US" dirty="0">
              <a:latin typeface="Arial"/>
            </a:endParaRPr>
          </a:p>
        </p:txBody>
      </p:sp>
      <p:grpSp>
        <p:nvGrpSpPr>
          <p:cNvPr id="76811" name="Group 7"/>
          <p:cNvGrpSpPr>
            <a:grpSpLocks/>
          </p:cNvGrpSpPr>
          <p:nvPr/>
        </p:nvGrpSpPr>
        <p:grpSpPr bwMode="auto">
          <a:xfrm>
            <a:off x="4144963" y="4344988"/>
            <a:ext cx="349250" cy="123825"/>
            <a:chOff x="3112" y="2223"/>
            <a:chExt cx="220" cy="78"/>
          </a:xfrm>
        </p:grpSpPr>
        <p:sp>
          <p:nvSpPr>
            <p:cNvPr id="76823" name="Freeform 8"/>
            <p:cNvSpPr>
              <a:spLocks/>
            </p:cNvSpPr>
            <p:nvPr/>
          </p:nvSpPr>
          <p:spPr bwMode="auto">
            <a:xfrm>
              <a:off x="3112" y="2223"/>
              <a:ext cx="1" cy="78"/>
            </a:xfrm>
            <a:custGeom>
              <a:avLst/>
              <a:gdLst>
                <a:gd name="T0" fmla="*/ 0 w 1"/>
                <a:gd name="T1" fmla="*/ 0 h 78"/>
                <a:gd name="T2" fmla="*/ 0 w 1"/>
                <a:gd name="T3" fmla="*/ 77 h 78"/>
                <a:gd name="T4" fmla="*/ 0 w 1"/>
                <a:gd name="T5" fmla="*/ 0 h 78"/>
                <a:gd name="T6" fmla="*/ 0 60000 65536"/>
                <a:gd name="T7" fmla="*/ 0 60000 65536"/>
                <a:gd name="T8" fmla="*/ 0 60000 65536"/>
                <a:gd name="T9" fmla="*/ 0 w 1"/>
                <a:gd name="T10" fmla="*/ 0 h 78"/>
                <a:gd name="T11" fmla="*/ 1 w 1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">
                  <a:moveTo>
                    <a:pt x="0" y="0"/>
                  </a:moveTo>
                  <a:lnTo>
                    <a:pt x="0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76824" name="Freeform 9"/>
            <p:cNvSpPr>
              <a:spLocks/>
            </p:cNvSpPr>
            <p:nvPr/>
          </p:nvSpPr>
          <p:spPr bwMode="auto">
            <a:xfrm>
              <a:off x="3331" y="2223"/>
              <a:ext cx="1" cy="78"/>
            </a:xfrm>
            <a:custGeom>
              <a:avLst/>
              <a:gdLst>
                <a:gd name="T0" fmla="*/ 0 w 1"/>
                <a:gd name="T1" fmla="*/ 0 h 78"/>
                <a:gd name="T2" fmla="*/ 0 w 1"/>
                <a:gd name="T3" fmla="*/ 77 h 78"/>
                <a:gd name="T4" fmla="*/ 0 w 1"/>
                <a:gd name="T5" fmla="*/ 0 h 78"/>
                <a:gd name="T6" fmla="*/ 0 60000 65536"/>
                <a:gd name="T7" fmla="*/ 0 60000 65536"/>
                <a:gd name="T8" fmla="*/ 0 60000 65536"/>
                <a:gd name="T9" fmla="*/ 0 w 1"/>
                <a:gd name="T10" fmla="*/ 0 h 78"/>
                <a:gd name="T11" fmla="*/ 1 w 1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">
                  <a:moveTo>
                    <a:pt x="0" y="0"/>
                  </a:moveTo>
                  <a:lnTo>
                    <a:pt x="0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76825" name="Freeform 10"/>
            <p:cNvSpPr>
              <a:spLocks/>
            </p:cNvSpPr>
            <p:nvPr/>
          </p:nvSpPr>
          <p:spPr bwMode="auto">
            <a:xfrm>
              <a:off x="3112" y="2223"/>
              <a:ext cx="220" cy="78"/>
            </a:xfrm>
            <a:custGeom>
              <a:avLst/>
              <a:gdLst>
                <a:gd name="T0" fmla="*/ 0 w 220"/>
                <a:gd name="T1" fmla="*/ 0 h 78"/>
                <a:gd name="T2" fmla="*/ 219 w 220"/>
                <a:gd name="T3" fmla="*/ 77 h 78"/>
                <a:gd name="T4" fmla="*/ 0 w 220"/>
                <a:gd name="T5" fmla="*/ 0 h 78"/>
                <a:gd name="T6" fmla="*/ 0 60000 65536"/>
                <a:gd name="T7" fmla="*/ 0 60000 65536"/>
                <a:gd name="T8" fmla="*/ 0 60000 65536"/>
                <a:gd name="T9" fmla="*/ 0 w 220"/>
                <a:gd name="T10" fmla="*/ 0 h 78"/>
                <a:gd name="T11" fmla="*/ 220 w 220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" h="78">
                  <a:moveTo>
                    <a:pt x="0" y="0"/>
                  </a:moveTo>
                  <a:lnTo>
                    <a:pt x="219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76826" name="Freeform 11"/>
            <p:cNvSpPr>
              <a:spLocks/>
            </p:cNvSpPr>
            <p:nvPr/>
          </p:nvSpPr>
          <p:spPr bwMode="auto">
            <a:xfrm>
              <a:off x="3112" y="2223"/>
              <a:ext cx="220" cy="78"/>
            </a:xfrm>
            <a:custGeom>
              <a:avLst/>
              <a:gdLst>
                <a:gd name="T0" fmla="*/ 0 w 220"/>
                <a:gd name="T1" fmla="*/ 77 h 78"/>
                <a:gd name="T2" fmla="*/ 219 w 220"/>
                <a:gd name="T3" fmla="*/ 0 h 78"/>
                <a:gd name="T4" fmla="*/ 0 w 220"/>
                <a:gd name="T5" fmla="*/ 77 h 78"/>
                <a:gd name="T6" fmla="*/ 0 60000 65536"/>
                <a:gd name="T7" fmla="*/ 0 60000 65536"/>
                <a:gd name="T8" fmla="*/ 0 60000 65536"/>
                <a:gd name="T9" fmla="*/ 0 w 220"/>
                <a:gd name="T10" fmla="*/ 0 h 78"/>
                <a:gd name="T11" fmla="*/ 220 w 220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" h="78">
                  <a:moveTo>
                    <a:pt x="0" y="77"/>
                  </a:moveTo>
                  <a:lnTo>
                    <a:pt x="219" y="0"/>
                  </a:lnTo>
                  <a:lnTo>
                    <a:pt x="0" y="77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</p:grpSp>
      <p:cxnSp>
        <p:nvCxnSpPr>
          <p:cNvPr id="76812" name="Straight Connector 36"/>
          <p:cNvCxnSpPr>
            <a:cxnSpLocks noChangeShapeType="1"/>
          </p:cNvCxnSpPr>
          <p:nvPr/>
        </p:nvCxnSpPr>
        <p:spPr bwMode="auto">
          <a:xfrm flipV="1">
            <a:off x="3124200" y="4497388"/>
            <a:ext cx="1066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6813" name="Straight Connector 39"/>
          <p:cNvCxnSpPr>
            <a:cxnSpLocks noChangeShapeType="1"/>
            <a:stCxn id="76805" idx="0"/>
          </p:cNvCxnSpPr>
          <p:nvPr/>
        </p:nvCxnSpPr>
        <p:spPr bwMode="auto">
          <a:xfrm rot="5400000" flipH="1" flipV="1">
            <a:off x="2251869" y="5514182"/>
            <a:ext cx="806450" cy="601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6814" name="Straight Connector 41"/>
          <p:cNvCxnSpPr>
            <a:cxnSpLocks noChangeShapeType="1"/>
            <a:stCxn id="76806" idx="0"/>
            <a:endCxn id="76807" idx="1"/>
          </p:cNvCxnSpPr>
          <p:nvPr/>
        </p:nvCxnSpPr>
        <p:spPr bwMode="auto">
          <a:xfrm rot="16200000" flipV="1">
            <a:off x="3358356" y="5323682"/>
            <a:ext cx="758825" cy="998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76815" name="Rectangle 20"/>
          <p:cNvSpPr>
            <a:spLocks noChangeArrowheads="1"/>
          </p:cNvSpPr>
          <p:nvPr/>
        </p:nvSpPr>
        <p:spPr bwMode="auto">
          <a:xfrm>
            <a:off x="4556125" y="4344988"/>
            <a:ext cx="9874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Arial" charset="0"/>
              </a:rPr>
              <a:t>cid=cid</a:t>
            </a:r>
          </a:p>
        </p:txBody>
      </p:sp>
      <p:sp>
        <p:nvSpPr>
          <p:cNvPr id="76816" name="Rectangle 19"/>
          <p:cNvSpPr>
            <a:spLocks noChangeArrowheads="1"/>
          </p:cNvSpPr>
          <p:nvPr/>
        </p:nvSpPr>
        <p:spPr bwMode="auto">
          <a:xfrm>
            <a:off x="5622925" y="5564188"/>
            <a:ext cx="1443038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2100" b="1">
                <a:solidFill>
                  <a:srgbClr val="000000"/>
                </a:solidFill>
                <a:latin typeface="Arial" charset="0"/>
              </a:rPr>
              <a:t>Customer</a:t>
            </a:r>
          </a:p>
        </p:txBody>
      </p:sp>
      <p:cxnSp>
        <p:nvCxnSpPr>
          <p:cNvPr id="76817" name="Straight Connector 45"/>
          <p:cNvCxnSpPr>
            <a:cxnSpLocks noChangeShapeType="1"/>
            <a:stCxn id="76816" idx="0"/>
            <a:endCxn id="76815" idx="1"/>
          </p:cNvCxnSpPr>
          <p:nvPr/>
        </p:nvCxnSpPr>
        <p:spPr bwMode="auto">
          <a:xfrm rot="16200000" flipV="1">
            <a:off x="4932363" y="4152900"/>
            <a:ext cx="1035050" cy="1787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76818" name="TextBox 48"/>
          <p:cNvSpPr txBox="1">
            <a:spLocks noChangeArrowheads="1"/>
          </p:cNvSpPr>
          <p:nvPr/>
        </p:nvSpPr>
        <p:spPr bwMode="auto">
          <a:xfrm>
            <a:off x="4098925" y="2366963"/>
            <a:ext cx="4069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Arial"/>
              </a:rPr>
              <a:t>Π</a:t>
            </a:r>
            <a:endParaRPr lang="en-US" dirty="0">
              <a:latin typeface="Arial"/>
            </a:endParaRPr>
          </a:p>
        </p:txBody>
      </p:sp>
      <p:sp>
        <p:nvSpPr>
          <p:cNvPr id="76819" name="TextBox 49"/>
          <p:cNvSpPr txBox="1">
            <a:spLocks noChangeArrowheads="1"/>
          </p:cNvSpPr>
          <p:nvPr/>
        </p:nvSpPr>
        <p:spPr bwMode="auto">
          <a:xfrm>
            <a:off x="4137025" y="3357563"/>
            <a:ext cx="3746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Arial"/>
              </a:rPr>
              <a:t>σ</a:t>
            </a:r>
            <a:endParaRPr lang="en-US" dirty="0">
              <a:latin typeface="Arial"/>
            </a:endParaRPr>
          </a:p>
        </p:txBody>
      </p:sp>
      <p:cxnSp>
        <p:nvCxnSpPr>
          <p:cNvPr id="76820" name="Straight Connector 51"/>
          <p:cNvCxnSpPr>
            <a:cxnSpLocks noChangeShapeType="1"/>
            <a:endCxn id="76819" idx="2"/>
          </p:cNvCxnSpPr>
          <p:nvPr/>
        </p:nvCxnSpPr>
        <p:spPr bwMode="auto">
          <a:xfrm flipH="1" flipV="1">
            <a:off x="4324336" y="3819228"/>
            <a:ext cx="19064" cy="3717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6821" name="Straight Connector 53"/>
          <p:cNvCxnSpPr>
            <a:cxnSpLocks noChangeShapeType="1"/>
            <a:stCxn id="76819" idx="0"/>
            <a:endCxn id="76818" idx="2"/>
          </p:cNvCxnSpPr>
          <p:nvPr/>
        </p:nvCxnSpPr>
        <p:spPr bwMode="auto">
          <a:xfrm flipH="1" flipV="1">
            <a:off x="4302391" y="2828628"/>
            <a:ext cx="21945" cy="5289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6822" name="Straight Connector 56"/>
          <p:cNvCxnSpPr>
            <a:cxnSpLocks noChangeShapeType="1"/>
            <a:stCxn id="76818" idx="0"/>
            <a:endCxn id="76810" idx="2"/>
          </p:cNvCxnSpPr>
          <p:nvPr/>
        </p:nvCxnSpPr>
        <p:spPr bwMode="auto">
          <a:xfrm flipV="1">
            <a:off x="4302391" y="1909763"/>
            <a:ext cx="17197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32" name="Text Box 27"/>
          <p:cNvSpPr txBox="1">
            <a:spLocks noChangeArrowheads="1"/>
          </p:cNvSpPr>
          <p:nvPr/>
        </p:nvSpPr>
        <p:spPr bwMode="auto">
          <a:xfrm>
            <a:off x="152400" y="1371600"/>
            <a:ext cx="3106389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000" dirty="0" err="1">
                <a:solidFill>
                  <a:srgbClr val="000000"/>
                </a:solidFill>
                <a:latin typeface="Arial"/>
                <a:cs typeface="Arial"/>
              </a:rPr>
              <a:t>Product(</a:t>
            </a:r>
            <a:r>
              <a:rPr lang="en-US" sz="2000" u="sng" dirty="0" err="1">
                <a:solidFill>
                  <a:srgbClr val="000000"/>
                </a:solidFill>
                <a:latin typeface="Arial"/>
                <a:cs typeface="Arial"/>
              </a:rPr>
              <a:t>pid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, name, price)</a:t>
            </a:r>
            <a:b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US" sz="2000" dirty="0" err="1">
                <a:solidFill>
                  <a:srgbClr val="000000"/>
                </a:solidFill>
                <a:latin typeface="Arial"/>
                <a:cs typeface="Arial"/>
              </a:rPr>
              <a:t>Purchase(</a:t>
            </a:r>
            <a:r>
              <a:rPr lang="en-US" sz="2000" u="sng" dirty="0" err="1">
                <a:solidFill>
                  <a:srgbClr val="000000"/>
                </a:solidFill>
                <a:latin typeface="Arial"/>
                <a:cs typeface="Arial"/>
              </a:rPr>
              <a:t>pid</a:t>
            </a:r>
            <a:r>
              <a:rPr lang="en-US" sz="2000" u="sng" dirty="0">
                <a:solidFill>
                  <a:srgbClr val="000000"/>
                </a:solidFill>
                <a:latin typeface="Arial"/>
                <a:cs typeface="Arial"/>
              </a:rPr>
              <a:t>, cid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, store)</a:t>
            </a:r>
          </a:p>
          <a:p>
            <a:pPr eaLnBrk="1" hangingPunct="1"/>
            <a:r>
              <a:rPr lang="en-US" sz="2000" dirty="0" err="1">
                <a:solidFill>
                  <a:srgbClr val="000000"/>
                </a:solidFill>
                <a:latin typeface="Arial"/>
                <a:cs typeface="Arial"/>
              </a:rPr>
              <a:t>Customer(</a:t>
            </a:r>
            <a:r>
              <a:rPr lang="en-US" sz="2000" u="sng" dirty="0" err="1">
                <a:solidFill>
                  <a:srgbClr val="000000"/>
                </a:solidFill>
                <a:latin typeface="Arial"/>
                <a:cs typeface="Arial"/>
              </a:rPr>
              <a:t>cid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, name, city)</a:t>
            </a:r>
          </a:p>
        </p:txBody>
      </p:sp>
    </p:spTree>
    <p:extLst>
      <p:ext uri="{BB962C8B-B14F-4D97-AF65-F5344CB8AC3E}">
        <p14:creationId xmlns:p14="http://schemas.microsoft.com/office/powerpoint/2010/main" val="36421439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8EAA860-E419-284D-8868-006DA227B420}" type="slidenum">
              <a:rPr lang="en-US" smtClean="0"/>
              <a:pPr/>
              <a:t>43</a:t>
            </a:fld>
            <a:endParaRPr lang="en-US" smtClean="0"/>
          </a:p>
        </p:txBody>
      </p:sp>
      <p:sp>
        <p:nvSpPr>
          <p:cNvPr id="7885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/>
              <a:t>An Equivalent Expression</a:t>
            </a:r>
          </a:p>
        </p:txBody>
      </p:sp>
      <p:grpSp>
        <p:nvGrpSpPr>
          <p:cNvPr id="78852" name="Group 7"/>
          <p:cNvGrpSpPr>
            <a:grpSpLocks/>
          </p:cNvGrpSpPr>
          <p:nvPr/>
        </p:nvGrpSpPr>
        <p:grpSpPr bwMode="auto">
          <a:xfrm>
            <a:off x="2895600" y="4503738"/>
            <a:ext cx="349250" cy="123825"/>
            <a:chOff x="3112" y="2223"/>
            <a:chExt cx="220" cy="78"/>
          </a:xfrm>
        </p:grpSpPr>
        <p:sp>
          <p:nvSpPr>
            <p:cNvPr id="78879" name="Freeform 8"/>
            <p:cNvSpPr>
              <a:spLocks/>
            </p:cNvSpPr>
            <p:nvPr/>
          </p:nvSpPr>
          <p:spPr bwMode="auto">
            <a:xfrm>
              <a:off x="3112" y="2223"/>
              <a:ext cx="1" cy="78"/>
            </a:xfrm>
            <a:custGeom>
              <a:avLst/>
              <a:gdLst>
                <a:gd name="T0" fmla="*/ 0 w 1"/>
                <a:gd name="T1" fmla="*/ 0 h 78"/>
                <a:gd name="T2" fmla="*/ 0 w 1"/>
                <a:gd name="T3" fmla="*/ 77 h 78"/>
                <a:gd name="T4" fmla="*/ 0 w 1"/>
                <a:gd name="T5" fmla="*/ 0 h 78"/>
                <a:gd name="T6" fmla="*/ 0 60000 65536"/>
                <a:gd name="T7" fmla="*/ 0 60000 65536"/>
                <a:gd name="T8" fmla="*/ 0 60000 65536"/>
                <a:gd name="T9" fmla="*/ 0 w 1"/>
                <a:gd name="T10" fmla="*/ 0 h 78"/>
                <a:gd name="T11" fmla="*/ 1 w 1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">
                  <a:moveTo>
                    <a:pt x="0" y="0"/>
                  </a:moveTo>
                  <a:lnTo>
                    <a:pt x="0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78880" name="Freeform 9"/>
            <p:cNvSpPr>
              <a:spLocks/>
            </p:cNvSpPr>
            <p:nvPr/>
          </p:nvSpPr>
          <p:spPr bwMode="auto">
            <a:xfrm>
              <a:off x="3331" y="2223"/>
              <a:ext cx="1" cy="78"/>
            </a:xfrm>
            <a:custGeom>
              <a:avLst/>
              <a:gdLst>
                <a:gd name="T0" fmla="*/ 0 w 1"/>
                <a:gd name="T1" fmla="*/ 0 h 78"/>
                <a:gd name="T2" fmla="*/ 0 w 1"/>
                <a:gd name="T3" fmla="*/ 77 h 78"/>
                <a:gd name="T4" fmla="*/ 0 w 1"/>
                <a:gd name="T5" fmla="*/ 0 h 78"/>
                <a:gd name="T6" fmla="*/ 0 60000 65536"/>
                <a:gd name="T7" fmla="*/ 0 60000 65536"/>
                <a:gd name="T8" fmla="*/ 0 60000 65536"/>
                <a:gd name="T9" fmla="*/ 0 w 1"/>
                <a:gd name="T10" fmla="*/ 0 h 78"/>
                <a:gd name="T11" fmla="*/ 1 w 1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">
                  <a:moveTo>
                    <a:pt x="0" y="0"/>
                  </a:moveTo>
                  <a:lnTo>
                    <a:pt x="0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78881" name="Freeform 10"/>
            <p:cNvSpPr>
              <a:spLocks/>
            </p:cNvSpPr>
            <p:nvPr/>
          </p:nvSpPr>
          <p:spPr bwMode="auto">
            <a:xfrm>
              <a:off x="3112" y="2223"/>
              <a:ext cx="220" cy="78"/>
            </a:xfrm>
            <a:custGeom>
              <a:avLst/>
              <a:gdLst>
                <a:gd name="T0" fmla="*/ 0 w 220"/>
                <a:gd name="T1" fmla="*/ 0 h 78"/>
                <a:gd name="T2" fmla="*/ 219 w 220"/>
                <a:gd name="T3" fmla="*/ 77 h 78"/>
                <a:gd name="T4" fmla="*/ 0 w 220"/>
                <a:gd name="T5" fmla="*/ 0 h 78"/>
                <a:gd name="T6" fmla="*/ 0 60000 65536"/>
                <a:gd name="T7" fmla="*/ 0 60000 65536"/>
                <a:gd name="T8" fmla="*/ 0 60000 65536"/>
                <a:gd name="T9" fmla="*/ 0 w 220"/>
                <a:gd name="T10" fmla="*/ 0 h 78"/>
                <a:gd name="T11" fmla="*/ 220 w 220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" h="78">
                  <a:moveTo>
                    <a:pt x="0" y="0"/>
                  </a:moveTo>
                  <a:lnTo>
                    <a:pt x="219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78882" name="Freeform 11"/>
            <p:cNvSpPr>
              <a:spLocks/>
            </p:cNvSpPr>
            <p:nvPr/>
          </p:nvSpPr>
          <p:spPr bwMode="auto">
            <a:xfrm>
              <a:off x="3112" y="2223"/>
              <a:ext cx="220" cy="78"/>
            </a:xfrm>
            <a:custGeom>
              <a:avLst/>
              <a:gdLst>
                <a:gd name="T0" fmla="*/ 0 w 220"/>
                <a:gd name="T1" fmla="*/ 77 h 78"/>
                <a:gd name="T2" fmla="*/ 219 w 220"/>
                <a:gd name="T3" fmla="*/ 0 h 78"/>
                <a:gd name="T4" fmla="*/ 0 w 220"/>
                <a:gd name="T5" fmla="*/ 77 h 78"/>
                <a:gd name="T6" fmla="*/ 0 60000 65536"/>
                <a:gd name="T7" fmla="*/ 0 60000 65536"/>
                <a:gd name="T8" fmla="*/ 0 60000 65536"/>
                <a:gd name="T9" fmla="*/ 0 w 220"/>
                <a:gd name="T10" fmla="*/ 0 h 78"/>
                <a:gd name="T11" fmla="*/ 220 w 220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" h="78">
                  <a:moveTo>
                    <a:pt x="0" y="77"/>
                  </a:moveTo>
                  <a:lnTo>
                    <a:pt x="219" y="0"/>
                  </a:lnTo>
                  <a:lnTo>
                    <a:pt x="0" y="77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</p:grpSp>
      <p:sp>
        <p:nvSpPr>
          <p:cNvPr id="78853" name="Rectangle 18"/>
          <p:cNvSpPr>
            <a:spLocks noChangeArrowheads="1"/>
          </p:cNvSpPr>
          <p:nvPr/>
        </p:nvSpPr>
        <p:spPr bwMode="auto">
          <a:xfrm>
            <a:off x="1676400" y="6218238"/>
            <a:ext cx="1203325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2100" b="1">
                <a:solidFill>
                  <a:srgbClr val="000000"/>
                </a:solidFill>
                <a:latin typeface="Arial" charset="0"/>
              </a:rPr>
              <a:t>Product</a:t>
            </a:r>
          </a:p>
        </p:txBody>
      </p:sp>
      <p:sp>
        <p:nvSpPr>
          <p:cNvPr id="78854" name="Rectangle 19"/>
          <p:cNvSpPr>
            <a:spLocks noChangeArrowheads="1"/>
          </p:cNvSpPr>
          <p:nvPr/>
        </p:nvSpPr>
        <p:spPr bwMode="auto">
          <a:xfrm>
            <a:off x="3538538" y="6202363"/>
            <a:ext cx="1398587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2100" b="1">
                <a:solidFill>
                  <a:srgbClr val="000000"/>
                </a:solidFill>
                <a:latin typeface="Arial" charset="0"/>
              </a:rPr>
              <a:t>Purchase</a:t>
            </a:r>
          </a:p>
        </p:txBody>
      </p:sp>
      <p:sp>
        <p:nvSpPr>
          <p:cNvPr id="78855" name="Rectangle 20"/>
          <p:cNvSpPr>
            <a:spLocks noChangeArrowheads="1"/>
          </p:cNvSpPr>
          <p:nvPr/>
        </p:nvSpPr>
        <p:spPr bwMode="auto">
          <a:xfrm>
            <a:off x="3228975" y="4495800"/>
            <a:ext cx="10128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Arial" charset="0"/>
              </a:rPr>
              <a:t>pid=pid</a:t>
            </a:r>
          </a:p>
        </p:txBody>
      </p:sp>
      <p:sp>
        <p:nvSpPr>
          <p:cNvPr id="78856" name="Rectangle 21"/>
          <p:cNvSpPr>
            <a:spLocks noChangeArrowheads="1"/>
          </p:cNvSpPr>
          <p:nvPr/>
        </p:nvSpPr>
        <p:spPr bwMode="auto">
          <a:xfrm>
            <a:off x="6480175" y="4994275"/>
            <a:ext cx="159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Arial" charset="0"/>
              </a:rPr>
              <a:t>city=‘Seattle’</a:t>
            </a:r>
          </a:p>
        </p:txBody>
      </p:sp>
      <p:sp>
        <p:nvSpPr>
          <p:cNvPr id="78857" name="Rectangle 23"/>
          <p:cNvSpPr>
            <a:spLocks noChangeArrowheads="1"/>
          </p:cNvSpPr>
          <p:nvPr/>
        </p:nvSpPr>
        <p:spPr bwMode="auto">
          <a:xfrm>
            <a:off x="4414838" y="2603500"/>
            <a:ext cx="18272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Arial" charset="0"/>
              </a:rPr>
              <a:t>x.name,z.name</a:t>
            </a:r>
          </a:p>
        </p:txBody>
      </p:sp>
      <p:sp>
        <p:nvSpPr>
          <p:cNvPr id="78858" name="TextBox 28"/>
          <p:cNvSpPr txBox="1">
            <a:spLocks noChangeArrowheads="1"/>
          </p:cNvSpPr>
          <p:nvPr/>
        </p:nvSpPr>
        <p:spPr bwMode="auto">
          <a:xfrm>
            <a:off x="4141788" y="1447800"/>
            <a:ext cx="35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Arial"/>
              </a:rPr>
              <a:t>δ</a:t>
            </a:r>
            <a:endParaRPr lang="en-US" dirty="0">
              <a:latin typeface="Arial"/>
            </a:endParaRPr>
          </a:p>
        </p:txBody>
      </p:sp>
      <p:grpSp>
        <p:nvGrpSpPr>
          <p:cNvPr id="78859" name="Group 7"/>
          <p:cNvGrpSpPr>
            <a:grpSpLocks/>
          </p:cNvGrpSpPr>
          <p:nvPr/>
        </p:nvGrpSpPr>
        <p:grpSpPr bwMode="auto">
          <a:xfrm>
            <a:off x="4135438" y="3581400"/>
            <a:ext cx="349250" cy="123825"/>
            <a:chOff x="3112" y="2223"/>
            <a:chExt cx="220" cy="78"/>
          </a:xfrm>
        </p:grpSpPr>
        <p:sp>
          <p:nvSpPr>
            <p:cNvPr id="78875" name="Freeform 8"/>
            <p:cNvSpPr>
              <a:spLocks/>
            </p:cNvSpPr>
            <p:nvPr/>
          </p:nvSpPr>
          <p:spPr bwMode="auto">
            <a:xfrm>
              <a:off x="3112" y="2223"/>
              <a:ext cx="1" cy="78"/>
            </a:xfrm>
            <a:custGeom>
              <a:avLst/>
              <a:gdLst>
                <a:gd name="T0" fmla="*/ 0 w 1"/>
                <a:gd name="T1" fmla="*/ 0 h 78"/>
                <a:gd name="T2" fmla="*/ 0 w 1"/>
                <a:gd name="T3" fmla="*/ 77 h 78"/>
                <a:gd name="T4" fmla="*/ 0 w 1"/>
                <a:gd name="T5" fmla="*/ 0 h 78"/>
                <a:gd name="T6" fmla="*/ 0 60000 65536"/>
                <a:gd name="T7" fmla="*/ 0 60000 65536"/>
                <a:gd name="T8" fmla="*/ 0 60000 65536"/>
                <a:gd name="T9" fmla="*/ 0 w 1"/>
                <a:gd name="T10" fmla="*/ 0 h 78"/>
                <a:gd name="T11" fmla="*/ 1 w 1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">
                  <a:moveTo>
                    <a:pt x="0" y="0"/>
                  </a:moveTo>
                  <a:lnTo>
                    <a:pt x="0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78876" name="Freeform 9"/>
            <p:cNvSpPr>
              <a:spLocks/>
            </p:cNvSpPr>
            <p:nvPr/>
          </p:nvSpPr>
          <p:spPr bwMode="auto">
            <a:xfrm>
              <a:off x="3331" y="2223"/>
              <a:ext cx="1" cy="78"/>
            </a:xfrm>
            <a:custGeom>
              <a:avLst/>
              <a:gdLst>
                <a:gd name="T0" fmla="*/ 0 w 1"/>
                <a:gd name="T1" fmla="*/ 0 h 78"/>
                <a:gd name="T2" fmla="*/ 0 w 1"/>
                <a:gd name="T3" fmla="*/ 77 h 78"/>
                <a:gd name="T4" fmla="*/ 0 w 1"/>
                <a:gd name="T5" fmla="*/ 0 h 78"/>
                <a:gd name="T6" fmla="*/ 0 60000 65536"/>
                <a:gd name="T7" fmla="*/ 0 60000 65536"/>
                <a:gd name="T8" fmla="*/ 0 60000 65536"/>
                <a:gd name="T9" fmla="*/ 0 w 1"/>
                <a:gd name="T10" fmla="*/ 0 h 78"/>
                <a:gd name="T11" fmla="*/ 1 w 1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">
                  <a:moveTo>
                    <a:pt x="0" y="0"/>
                  </a:moveTo>
                  <a:lnTo>
                    <a:pt x="0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78877" name="Freeform 10"/>
            <p:cNvSpPr>
              <a:spLocks/>
            </p:cNvSpPr>
            <p:nvPr/>
          </p:nvSpPr>
          <p:spPr bwMode="auto">
            <a:xfrm>
              <a:off x="3112" y="2223"/>
              <a:ext cx="220" cy="78"/>
            </a:xfrm>
            <a:custGeom>
              <a:avLst/>
              <a:gdLst>
                <a:gd name="T0" fmla="*/ 0 w 220"/>
                <a:gd name="T1" fmla="*/ 0 h 78"/>
                <a:gd name="T2" fmla="*/ 219 w 220"/>
                <a:gd name="T3" fmla="*/ 77 h 78"/>
                <a:gd name="T4" fmla="*/ 0 w 220"/>
                <a:gd name="T5" fmla="*/ 0 h 78"/>
                <a:gd name="T6" fmla="*/ 0 60000 65536"/>
                <a:gd name="T7" fmla="*/ 0 60000 65536"/>
                <a:gd name="T8" fmla="*/ 0 60000 65536"/>
                <a:gd name="T9" fmla="*/ 0 w 220"/>
                <a:gd name="T10" fmla="*/ 0 h 78"/>
                <a:gd name="T11" fmla="*/ 220 w 220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" h="78">
                  <a:moveTo>
                    <a:pt x="0" y="0"/>
                  </a:moveTo>
                  <a:lnTo>
                    <a:pt x="219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78878" name="Freeform 11"/>
            <p:cNvSpPr>
              <a:spLocks/>
            </p:cNvSpPr>
            <p:nvPr/>
          </p:nvSpPr>
          <p:spPr bwMode="auto">
            <a:xfrm>
              <a:off x="3112" y="2223"/>
              <a:ext cx="220" cy="78"/>
            </a:xfrm>
            <a:custGeom>
              <a:avLst/>
              <a:gdLst>
                <a:gd name="T0" fmla="*/ 0 w 220"/>
                <a:gd name="T1" fmla="*/ 77 h 78"/>
                <a:gd name="T2" fmla="*/ 219 w 220"/>
                <a:gd name="T3" fmla="*/ 0 h 78"/>
                <a:gd name="T4" fmla="*/ 0 w 220"/>
                <a:gd name="T5" fmla="*/ 77 h 78"/>
                <a:gd name="T6" fmla="*/ 0 60000 65536"/>
                <a:gd name="T7" fmla="*/ 0 60000 65536"/>
                <a:gd name="T8" fmla="*/ 0 60000 65536"/>
                <a:gd name="T9" fmla="*/ 0 w 220"/>
                <a:gd name="T10" fmla="*/ 0 h 78"/>
                <a:gd name="T11" fmla="*/ 220 w 220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" h="78">
                  <a:moveTo>
                    <a:pt x="0" y="77"/>
                  </a:moveTo>
                  <a:lnTo>
                    <a:pt x="219" y="0"/>
                  </a:lnTo>
                  <a:lnTo>
                    <a:pt x="0" y="77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</p:grpSp>
      <p:cxnSp>
        <p:nvCxnSpPr>
          <p:cNvPr id="78860" name="Straight Connector 36"/>
          <p:cNvCxnSpPr>
            <a:cxnSpLocks noChangeShapeType="1"/>
          </p:cNvCxnSpPr>
          <p:nvPr/>
        </p:nvCxnSpPr>
        <p:spPr bwMode="auto">
          <a:xfrm flipV="1">
            <a:off x="3114675" y="3733800"/>
            <a:ext cx="1066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8861" name="Straight Connector 39"/>
          <p:cNvCxnSpPr>
            <a:cxnSpLocks noChangeShapeType="1"/>
            <a:stCxn id="78872" idx="0"/>
          </p:cNvCxnSpPr>
          <p:nvPr/>
        </p:nvCxnSpPr>
        <p:spPr bwMode="auto">
          <a:xfrm flipH="1" flipV="1">
            <a:off x="4572000" y="3733801"/>
            <a:ext cx="1790686" cy="87947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8862" name="Straight Connector 41"/>
          <p:cNvCxnSpPr>
            <a:cxnSpLocks noChangeShapeType="1"/>
            <a:stCxn id="78854" idx="0"/>
            <a:endCxn id="78855" idx="1"/>
          </p:cNvCxnSpPr>
          <p:nvPr/>
        </p:nvCxnSpPr>
        <p:spPr bwMode="auto">
          <a:xfrm rot="16200000" flipV="1">
            <a:off x="2972594" y="4937919"/>
            <a:ext cx="1520825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78863" name="Rectangle 20"/>
          <p:cNvSpPr>
            <a:spLocks noChangeArrowheads="1"/>
          </p:cNvSpPr>
          <p:nvPr/>
        </p:nvSpPr>
        <p:spPr bwMode="auto">
          <a:xfrm>
            <a:off x="4546600" y="3581400"/>
            <a:ext cx="9874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Arial" charset="0"/>
              </a:rPr>
              <a:t>cid=cid</a:t>
            </a:r>
          </a:p>
        </p:txBody>
      </p:sp>
      <p:sp>
        <p:nvSpPr>
          <p:cNvPr id="78864" name="Rectangle 19"/>
          <p:cNvSpPr>
            <a:spLocks noChangeArrowheads="1"/>
          </p:cNvSpPr>
          <p:nvPr/>
        </p:nvSpPr>
        <p:spPr bwMode="auto">
          <a:xfrm>
            <a:off x="5641975" y="5908675"/>
            <a:ext cx="1443038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2100" b="1">
                <a:solidFill>
                  <a:srgbClr val="000000"/>
                </a:solidFill>
                <a:latin typeface="Arial" charset="0"/>
              </a:rPr>
              <a:t>Customer</a:t>
            </a:r>
          </a:p>
        </p:txBody>
      </p:sp>
      <p:cxnSp>
        <p:nvCxnSpPr>
          <p:cNvPr id="78865" name="Straight Connector 45"/>
          <p:cNvCxnSpPr>
            <a:cxnSpLocks noChangeShapeType="1"/>
            <a:stCxn id="78864" idx="0"/>
            <a:endCxn id="78872" idx="2"/>
          </p:cNvCxnSpPr>
          <p:nvPr/>
        </p:nvCxnSpPr>
        <p:spPr bwMode="auto">
          <a:xfrm flipH="1" flipV="1">
            <a:off x="6362686" y="5074940"/>
            <a:ext cx="808" cy="8337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78866" name="TextBox 48"/>
          <p:cNvSpPr txBox="1">
            <a:spLocks noChangeArrowheads="1"/>
          </p:cNvSpPr>
          <p:nvPr/>
        </p:nvSpPr>
        <p:spPr bwMode="auto">
          <a:xfrm>
            <a:off x="4098925" y="2366963"/>
            <a:ext cx="4069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Arial"/>
              </a:rPr>
              <a:t>Π</a:t>
            </a:r>
            <a:endParaRPr lang="en-US" dirty="0">
              <a:latin typeface="Arial"/>
            </a:endParaRPr>
          </a:p>
        </p:txBody>
      </p:sp>
      <p:sp>
        <p:nvSpPr>
          <p:cNvPr id="78867" name="TextBox 49"/>
          <p:cNvSpPr txBox="1">
            <a:spLocks noChangeArrowheads="1"/>
          </p:cNvSpPr>
          <p:nvPr/>
        </p:nvSpPr>
        <p:spPr bwMode="auto">
          <a:xfrm>
            <a:off x="2133600" y="5334000"/>
            <a:ext cx="3746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Arial"/>
              </a:rPr>
              <a:t>σ</a:t>
            </a:r>
            <a:endParaRPr lang="en-US" dirty="0">
              <a:latin typeface="Arial"/>
            </a:endParaRPr>
          </a:p>
        </p:txBody>
      </p:sp>
      <p:cxnSp>
        <p:nvCxnSpPr>
          <p:cNvPr id="78868" name="Straight Connector 51"/>
          <p:cNvCxnSpPr>
            <a:cxnSpLocks noChangeShapeType="1"/>
            <a:stCxn id="78853" idx="0"/>
            <a:endCxn id="78867" idx="2"/>
          </p:cNvCxnSpPr>
          <p:nvPr/>
        </p:nvCxnSpPr>
        <p:spPr bwMode="auto">
          <a:xfrm flipV="1">
            <a:off x="2278063" y="5795665"/>
            <a:ext cx="42848" cy="4225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8869" name="Straight Connector 53"/>
          <p:cNvCxnSpPr>
            <a:cxnSpLocks noChangeShapeType="1"/>
            <a:stCxn id="78867" idx="0"/>
          </p:cNvCxnSpPr>
          <p:nvPr/>
        </p:nvCxnSpPr>
        <p:spPr bwMode="auto">
          <a:xfrm flipV="1">
            <a:off x="2320911" y="5029200"/>
            <a:ext cx="346089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8870" name="Straight Connector 56"/>
          <p:cNvCxnSpPr>
            <a:cxnSpLocks noChangeShapeType="1"/>
            <a:stCxn id="78866" idx="0"/>
            <a:endCxn id="78858" idx="2"/>
          </p:cNvCxnSpPr>
          <p:nvPr/>
        </p:nvCxnSpPr>
        <p:spPr bwMode="auto">
          <a:xfrm flipV="1">
            <a:off x="4302391" y="1909763"/>
            <a:ext cx="17197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78871" name="Rectangle 21"/>
          <p:cNvSpPr>
            <a:spLocks noChangeArrowheads="1"/>
          </p:cNvSpPr>
          <p:nvPr/>
        </p:nvSpPr>
        <p:spPr bwMode="auto">
          <a:xfrm>
            <a:off x="2362200" y="5562600"/>
            <a:ext cx="12573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Arial" charset="0"/>
              </a:rPr>
              <a:t>price&gt;100</a:t>
            </a:r>
          </a:p>
        </p:txBody>
      </p:sp>
      <p:sp>
        <p:nvSpPr>
          <p:cNvPr id="78872" name="TextBox 54"/>
          <p:cNvSpPr txBox="1">
            <a:spLocks noChangeArrowheads="1"/>
          </p:cNvSpPr>
          <p:nvPr/>
        </p:nvSpPr>
        <p:spPr bwMode="auto">
          <a:xfrm>
            <a:off x="6175375" y="4613275"/>
            <a:ext cx="3746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Arial"/>
              </a:rPr>
              <a:t>σ</a:t>
            </a:r>
            <a:endParaRPr lang="en-US" dirty="0">
              <a:latin typeface="Arial"/>
            </a:endParaRPr>
          </a:p>
        </p:txBody>
      </p:sp>
      <p:cxnSp>
        <p:nvCxnSpPr>
          <p:cNvPr id="78873" name="Straight Connector 63"/>
          <p:cNvCxnSpPr>
            <a:cxnSpLocks noChangeShapeType="1"/>
            <a:stCxn id="78866" idx="2"/>
          </p:cNvCxnSpPr>
          <p:nvPr/>
        </p:nvCxnSpPr>
        <p:spPr bwMode="auto">
          <a:xfrm>
            <a:off x="4302391" y="2828628"/>
            <a:ext cx="41009" cy="6003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78874" name="Rounded Rectangle 65"/>
          <p:cNvSpPr>
            <a:spLocks noChangeArrowheads="1"/>
          </p:cNvSpPr>
          <p:nvPr/>
        </p:nvSpPr>
        <p:spPr bwMode="auto">
          <a:xfrm>
            <a:off x="228600" y="1600200"/>
            <a:ext cx="3587812" cy="132802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Query optimization =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finding </a:t>
            </a:r>
            <a:r>
              <a:rPr lang="en-US" dirty="0" smtClean="0">
                <a:latin typeface="Arial"/>
                <a:cs typeface="Arial"/>
              </a:rPr>
              <a:t>cheaper,</a:t>
            </a:r>
            <a:r>
              <a:rPr lang="en-US" dirty="0">
                <a:latin typeface="Arial"/>
                <a:cs typeface="Arial"/>
              </a:rPr>
              <a:t/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</a:t>
            </a:r>
            <a:r>
              <a:rPr lang="en-US" dirty="0" smtClean="0">
                <a:latin typeface="Arial"/>
                <a:cs typeface="Arial"/>
              </a:rPr>
              <a:t>equivalent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cs typeface="Arial"/>
              </a:rPr>
              <a:t>expressions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545447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Extended RA: Operators on Bags</a:t>
            </a:r>
          </a:p>
        </p:txBody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Duplicate elimination </a:t>
            </a:r>
            <a:r>
              <a:rPr lang="en-US" dirty="0" err="1" smtClean="0">
                <a:latin typeface="Symbol" charset="2"/>
                <a:cs typeface="Symbol" charset="2"/>
              </a:rPr>
              <a:t>d</a:t>
            </a:r>
            <a:endParaRPr lang="en-US" dirty="0" smtClean="0">
              <a:latin typeface="Symbol" charset="2"/>
              <a:cs typeface="Symbol" charset="2"/>
            </a:endParaRPr>
          </a:p>
          <a:p>
            <a:r>
              <a:rPr lang="en-US" dirty="0" smtClean="0"/>
              <a:t>Grouping </a:t>
            </a:r>
            <a:r>
              <a:rPr lang="en-US" dirty="0" err="1" smtClean="0">
                <a:latin typeface="Symbol" charset="2"/>
                <a:cs typeface="Symbol" charset="2"/>
              </a:rPr>
              <a:t>g</a:t>
            </a:r>
            <a:endParaRPr lang="en-US" dirty="0" smtClean="0">
              <a:latin typeface="Symbol" charset="2"/>
              <a:cs typeface="Symbol" charset="2"/>
            </a:endParaRPr>
          </a:p>
          <a:p>
            <a:r>
              <a:rPr lang="en-US" dirty="0" smtClean="0"/>
              <a:t>Sorting </a:t>
            </a:r>
            <a:r>
              <a:rPr lang="en-US" dirty="0" err="1" smtClean="0">
                <a:latin typeface="Symbol" charset="2"/>
                <a:cs typeface="Symbol" charset="2"/>
              </a:rPr>
              <a:t>t</a:t>
            </a:r>
            <a:endParaRPr lang="en-US" dirty="0" smtClean="0">
              <a:latin typeface="Symbol" charset="2"/>
              <a:cs typeface="Symbol" charset="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829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D11E-FA17-3241-8140-9CD6C870F169}" type="slidenum">
              <a:rPr lang="en-US" smtClean="0"/>
              <a:pPr/>
              <a:t>44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308575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B794AE9-67EB-1044-93A6-79B81F60D486}" type="slidenum">
              <a:rPr lang="en-US" smtClean="0"/>
              <a:pPr/>
              <a:t>45</a:t>
            </a:fld>
            <a:endParaRPr lang="en-US" smtClean="0"/>
          </a:p>
        </p:txBody>
      </p:sp>
      <p:sp>
        <p:nvSpPr>
          <p:cNvPr id="849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Logical Query Plan</a:t>
            </a:r>
          </a:p>
        </p:txBody>
      </p:sp>
      <p:sp>
        <p:nvSpPr>
          <p:cNvPr id="69635" name="Text Box 3"/>
          <p:cNvSpPr txBox="1">
            <a:spLocks noChangeArrowheads="1"/>
          </p:cNvSpPr>
          <p:nvPr/>
        </p:nvSpPr>
        <p:spPr bwMode="auto">
          <a:xfrm>
            <a:off x="974725" y="2251075"/>
            <a:ext cx="3745136" cy="15696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SELECT </a:t>
            </a:r>
            <a:r>
              <a:rPr lang="en-US" dirty="0">
                <a:latin typeface="Arial"/>
                <a:cs typeface="Arial"/>
              </a:rPr>
              <a:t>city, count(*)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>
                <a:latin typeface="Arial"/>
                <a:cs typeface="Arial"/>
              </a:rPr>
              <a:t> sales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GROUP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BY</a:t>
            </a:r>
            <a:r>
              <a:rPr lang="en-US" dirty="0">
                <a:latin typeface="Arial"/>
                <a:cs typeface="Arial"/>
              </a:rPr>
              <a:t> city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HAVING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sum(price</a:t>
            </a:r>
            <a:r>
              <a:rPr lang="en-US" dirty="0">
                <a:latin typeface="Arial"/>
                <a:cs typeface="Arial"/>
              </a:rPr>
              <a:t>) &gt; 100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5410200" y="5486400"/>
            <a:ext cx="35826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>
                <a:latin typeface="Arial"/>
                <a:cs typeface="Arial"/>
              </a:rPr>
              <a:t>sales(product, city, price)</a:t>
            </a:r>
          </a:p>
        </p:txBody>
      </p:sp>
      <p:sp>
        <p:nvSpPr>
          <p:cNvPr id="84998" name="Rectangle 5"/>
          <p:cNvSpPr>
            <a:spLocks noChangeArrowheads="1"/>
          </p:cNvSpPr>
          <p:nvPr/>
        </p:nvSpPr>
        <p:spPr bwMode="auto">
          <a:xfrm>
            <a:off x="4953000" y="4519613"/>
            <a:ext cx="3505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dirty="0" err="1">
                <a:latin typeface="Symbol" charset="2"/>
              </a:rPr>
              <a:t>g</a:t>
            </a:r>
            <a:r>
              <a:rPr lang="en-US" dirty="0">
                <a:latin typeface="Symbol" charset="2"/>
              </a:rPr>
              <a:t> </a:t>
            </a:r>
            <a:r>
              <a:rPr lang="en-US" baseline="-25000" dirty="0">
                <a:latin typeface="Arial"/>
                <a:cs typeface="Arial"/>
              </a:rPr>
              <a:t>city, </a:t>
            </a:r>
            <a:r>
              <a:rPr lang="en-US" baseline="-25000" dirty="0" err="1">
                <a:latin typeface="Arial"/>
                <a:cs typeface="Arial"/>
              </a:rPr>
              <a:t>sum(price)</a:t>
            </a:r>
            <a:r>
              <a:rPr lang="en-US" baseline="-25000" dirty="0" err="1">
                <a:latin typeface="Arial"/>
                <a:ea typeface="Arial"/>
                <a:cs typeface="Arial"/>
              </a:rPr>
              <a:t>→p</a:t>
            </a:r>
            <a:r>
              <a:rPr lang="en-US" baseline="-25000" dirty="0">
                <a:latin typeface="Arial"/>
                <a:ea typeface="Arial"/>
                <a:cs typeface="Arial"/>
              </a:rPr>
              <a:t>, count(*) → </a:t>
            </a:r>
            <a:r>
              <a:rPr lang="en-US" baseline="-25000" dirty="0" err="1">
                <a:latin typeface="Arial"/>
                <a:ea typeface="Arial"/>
                <a:cs typeface="Arial"/>
              </a:rPr>
              <a:t>c</a:t>
            </a:r>
            <a:r>
              <a:rPr lang="en-US" dirty="0">
                <a:latin typeface="Arial"/>
                <a:cs typeface="Arial"/>
              </a:rPr>
              <a:t> </a:t>
            </a:r>
          </a:p>
        </p:txBody>
      </p:sp>
      <p:sp>
        <p:nvSpPr>
          <p:cNvPr id="84999" name="Rectangle 6"/>
          <p:cNvSpPr>
            <a:spLocks noChangeArrowheads="1"/>
          </p:cNvSpPr>
          <p:nvPr/>
        </p:nvSpPr>
        <p:spPr bwMode="auto">
          <a:xfrm>
            <a:off x="5867400" y="3452813"/>
            <a:ext cx="113750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dirty="0" err="1">
                <a:latin typeface="Symbol" charset="2"/>
              </a:rPr>
              <a:t>s</a:t>
            </a:r>
            <a:r>
              <a:rPr lang="en-US" dirty="0">
                <a:latin typeface="Symbol" charset="2"/>
              </a:rPr>
              <a:t> </a:t>
            </a:r>
            <a:r>
              <a:rPr lang="en-US" baseline="-25000" dirty="0" err="1">
                <a:latin typeface="Arial"/>
                <a:cs typeface="Arial"/>
              </a:rPr>
              <a:t>p</a:t>
            </a:r>
            <a:r>
              <a:rPr lang="en-US" baseline="-25000" dirty="0">
                <a:latin typeface="Arial"/>
                <a:cs typeface="Arial"/>
              </a:rPr>
              <a:t> &gt; 100</a:t>
            </a:r>
          </a:p>
        </p:txBody>
      </p:sp>
      <p:sp>
        <p:nvSpPr>
          <p:cNvPr id="85000" name="Rectangle 7"/>
          <p:cNvSpPr>
            <a:spLocks noChangeArrowheads="1"/>
          </p:cNvSpPr>
          <p:nvPr/>
        </p:nvSpPr>
        <p:spPr bwMode="auto">
          <a:xfrm>
            <a:off x="5791200" y="2438400"/>
            <a:ext cx="100715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dirty="0">
                <a:latin typeface="Symbol" charset="2"/>
              </a:rPr>
              <a:t>P </a:t>
            </a:r>
            <a:r>
              <a:rPr lang="en-US" baseline="-25000" dirty="0">
                <a:latin typeface="Arial"/>
                <a:cs typeface="Arial"/>
              </a:rPr>
              <a:t>city, </a:t>
            </a:r>
            <a:r>
              <a:rPr lang="en-US" baseline="-25000" dirty="0" err="1">
                <a:latin typeface="Arial"/>
                <a:cs typeface="Arial"/>
              </a:rPr>
              <a:t>c</a:t>
            </a:r>
            <a:endParaRPr lang="en-US" baseline="-25000" dirty="0">
              <a:latin typeface="Arial"/>
              <a:cs typeface="Arial"/>
            </a:endParaRPr>
          </a:p>
        </p:txBody>
      </p:sp>
      <p:sp>
        <p:nvSpPr>
          <p:cNvPr id="85001" name="Line 8"/>
          <p:cNvSpPr>
            <a:spLocks noChangeShapeType="1"/>
          </p:cNvSpPr>
          <p:nvPr/>
        </p:nvSpPr>
        <p:spPr bwMode="auto">
          <a:xfrm flipV="1">
            <a:off x="6096000" y="5105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85002" name="Line 9"/>
          <p:cNvSpPr>
            <a:spLocks noChangeShapeType="1"/>
          </p:cNvSpPr>
          <p:nvPr/>
        </p:nvSpPr>
        <p:spPr bwMode="auto">
          <a:xfrm flipV="1">
            <a:off x="6096000" y="3962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85003" name="Line 10"/>
          <p:cNvSpPr>
            <a:spLocks noChangeShapeType="1"/>
          </p:cNvSpPr>
          <p:nvPr/>
        </p:nvSpPr>
        <p:spPr bwMode="auto">
          <a:xfrm flipV="1">
            <a:off x="6096000" y="2895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85004" name="Text Box 11"/>
          <p:cNvSpPr txBox="1">
            <a:spLocks noChangeArrowheads="1"/>
          </p:cNvSpPr>
          <p:nvPr/>
        </p:nvSpPr>
        <p:spPr bwMode="auto">
          <a:xfrm>
            <a:off x="7292975" y="4038600"/>
            <a:ext cx="16837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>
                <a:latin typeface="Arial"/>
                <a:cs typeface="Arial"/>
              </a:rPr>
              <a:t>T1(city,p,c)</a:t>
            </a:r>
          </a:p>
        </p:txBody>
      </p:sp>
      <p:sp>
        <p:nvSpPr>
          <p:cNvPr id="85005" name="Text Box 12"/>
          <p:cNvSpPr txBox="1">
            <a:spLocks noChangeArrowheads="1"/>
          </p:cNvSpPr>
          <p:nvPr/>
        </p:nvSpPr>
        <p:spPr bwMode="auto">
          <a:xfrm>
            <a:off x="7292975" y="3048000"/>
            <a:ext cx="16837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>
                <a:latin typeface="Arial"/>
                <a:cs typeface="Arial"/>
              </a:rPr>
              <a:t>T2(city,p,c)</a:t>
            </a:r>
          </a:p>
        </p:txBody>
      </p:sp>
      <p:sp>
        <p:nvSpPr>
          <p:cNvPr id="85006" name="Text Box 13"/>
          <p:cNvSpPr txBox="1">
            <a:spLocks noChangeArrowheads="1"/>
          </p:cNvSpPr>
          <p:nvPr/>
        </p:nvSpPr>
        <p:spPr bwMode="auto">
          <a:xfrm>
            <a:off x="7292975" y="1905000"/>
            <a:ext cx="151255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dirty="0">
                <a:latin typeface="Arial"/>
                <a:cs typeface="Arial"/>
              </a:rPr>
              <a:t>T3(city, </a:t>
            </a:r>
            <a:r>
              <a:rPr lang="en-US" dirty="0" err="1">
                <a:latin typeface="Arial"/>
                <a:cs typeface="Arial"/>
              </a:rPr>
              <a:t>c</a:t>
            </a:r>
            <a:r>
              <a:rPr lang="en-US" dirty="0">
                <a:latin typeface="Arial"/>
                <a:cs typeface="Arial"/>
              </a:rPr>
              <a:t>)</a:t>
            </a:r>
          </a:p>
        </p:txBody>
      </p:sp>
      <p:sp>
        <p:nvSpPr>
          <p:cNvPr id="85007" name="Rectangle 14"/>
          <p:cNvSpPr>
            <a:spLocks noChangeArrowheads="1"/>
          </p:cNvSpPr>
          <p:nvPr/>
        </p:nvSpPr>
        <p:spPr bwMode="auto">
          <a:xfrm>
            <a:off x="609600" y="5486400"/>
            <a:ext cx="43216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dirty="0">
                <a:latin typeface="Arial"/>
                <a:cs typeface="Arial"/>
              </a:rPr>
              <a:t>T1, T2, T3  = temporary tables</a:t>
            </a: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619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Typical Plan for Block (1/2)</a:t>
            </a:r>
          </a:p>
        </p:txBody>
      </p:sp>
      <p:sp>
        <p:nvSpPr>
          <p:cNvPr id="561156" name="Text Box 4"/>
          <p:cNvSpPr txBox="1">
            <a:spLocks noChangeArrowheads="1"/>
          </p:cNvSpPr>
          <p:nvPr/>
        </p:nvSpPr>
        <p:spPr bwMode="auto">
          <a:xfrm>
            <a:off x="990600" y="5803900"/>
            <a:ext cx="4069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</a:rPr>
              <a:t>R</a:t>
            </a:r>
          </a:p>
        </p:txBody>
      </p:sp>
      <p:sp>
        <p:nvSpPr>
          <p:cNvPr id="561157" name="Text Box 5"/>
          <p:cNvSpPr txBox="1">
            <a:spLocks noChangeArrowheads="1"/>
          </p:cNvSpPr>
          <p:nvPr/>
        </p:nvSpPr>
        <p:spPr bwMode="auto">
          <a:xfrm>
            <a:off x="3313113" y="5805488"/>
            <a:ext cx="38995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</a:rPr>
              <a:t>S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032000" y="4876800"/>
            <a:ext cx="762000" cy="228600"/>
            <a:chOff x="480" y="4080"/>
            <a:chExt cx="96" cy="48"/>
          </a:xfrm>
        </p:grpSpPr>
        <p:sp>
          <p:nvSpPr>
            <p:cNvPr id="561159" name="Line 7"/>
            <p:cNvSpPr>
              <a:spLocks noChangeShapeType="1"/>
            </p:cNvSpPr>
            <p:nvPr/>
          </p:nvSpPr>
          <p:spPr bwMode="auto">
            <a:xfrm>
              <a:off x="480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561160" name="Line 8"/>
            <p:cNvSpPr>
              <a:spLocks noChangeShapeType="1"/>
            </p:cNvSpPr>
            <p:nvPr/>
          </p:nvSpPr>
          <p:spPr bwMode="auto">
            <a:xfrm>
              <a:off x="576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561161" name="Line 9"/>
            <p:cNvSpPr>
              <a:spLocks noChangeShapeType="1"/>
            </p:cNvSpPr>
            <p:nvPr/>
          </p:nvSpPr>
          <p:spPr bwMode="auto">
            <a:xfrm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561162" name="Line 10"/>
            <p:cNvSpPr>
              <a:spLocks noChangeShapeType="1"/>
            </p:cNvSpPr>
            <p:nvPr/>
          </p:nvSpPr>
          <p:spPr bwMode="auto">
            <a:xfrm flipH="1"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</p:grpSp>
      <p:sp>
        <p:nvSpPr>
          <p:cNvPr id="561163" name="Text Box 11"/>
          <p:cNvSpPr txBox="1">
            <a:spLocks noChangeArrowheads="1"/>
          </p:cNvSpPr>
          <p:nvPr/>
        </p:nvSpPr>
        <p:spPr bwMode="auto">
          <a:xfrm>
            <a:off x="1635125" y="4953000"/>
            <a:ext cx="139523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aseline="-25000" dirty="0">
                <a:latin typeface="Arial"/>
                <a:cs typeface="Arial"/>
              </a:rPr>
              <a:t>join condition</a:t>
            </a:r>
          </a:p>
        </p:txBody>
      </p:sp>
      <p:sp>
        <p:nvSpPr>
          <p:cNvPr id="561164" name="Line 12"/>
          <p:cNvSpPr>
            <a:spLocks noChangeShapeType="1"/>
          </p:cNvSpPr>
          <p:nvPr/>
        </p:nvSpPr>
        <p:spPr bwMode="auto">
          <a:xfrm flipV="1">
            <a:off x="1355725" y="54102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561165" name="Line 13"/>
          <p:cNvSpPr>
            <a:spLocks noChangeShapeType="1"/>
          </p:cNvSpPr>
          <p:nvPr/>
        </p:nvSpPr>
        <p:spPr bwMode="auto">
          <a:xfrm>
            <a:off x="2860675" y="5395913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561166" name="Line 14"/>
          <p:cNvSpPr>
            <a:spLocks noChangeShapeType="1"/>
          </p:cNvSpPr>
          <p:nvPr/>
        </p:nvSpPr>
        <p:spPr bwMode="auto">
          <a:xfrm flipH="1">
            <a:off x="2397125" y="4405313"/>
            <a:ext cx="498475" cy="395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561167" name="Text Box 15"/>
          <p:cNvSpPr txBox="1">
            <a:spLocks noChangeArrowheads="1"/>
          </p:cNvSpPr>
          <p:nvPr/>
        </p:nvSpPr>
        <p:spPr bwMode="auto">
          <a:xfrm>
            <a:off x="1981200" y="2971800"/>
            <a:ext cx="21353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Symbol" charset="2"/>
                <a:sym typeface="Symbol" charset="2"/>
              </a:rPr>
              <a:t></a:t>
            </a:r>
            <a:r>
              <a:rPr lang="en-US" baseline="-25000" dirty="0" err="1">
                <a:latin typeface="Arial"/>
                <a:cs typeface="Arial"/>
              </a:rPr>
              <a:t>selection</a:t>
            </a:r>
            <a:r>
              <a:rPr lang="en-US" baseline="-25000" dirty="0">
                <a:latin typeface="Arial"/>
                <a:cs typeface="Arial"/>
              </a:rPr>
              <a:t> condition</a:t>
            </a:r>
          </a:p>
        </p:txBody>
      </p:sp>
      <p:sp>
        <p:nvSpPr>
          <p:cNvPr id="561168" name="Text Box 16"/>
          <p:cNvSpPr txBox="1">
            <a:spLocks noChangeArrowheads="1"/>
          </p:cNvSpPr>
          <p:nvPr/>
        </p:nvSpPr>
        <p:spPr bwMode="auto">
          <a:xfrm>
            <a:off x="2701925" y="2209800"/>
            <a:ext cx="9095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Symbol" charset="2"/>
                <a:sym typeface="Symbol" charset="2"/>
              </a:rPr>
              <a:t></a:t>
            </a:r>
            <a:r>
              <a:rPr lang="en-US" baseline="-25000" dirty="0" err="1">
                <a:latin typeface="Arial"/>
                <a:cs typeface="Arial"/>
              </a:rPr>
              <a:t>fields</a:t>
            </a:r>
            <a:endParaRPr lang="en-US" baseline="-25000" dirty="0">
              <a:latin typeface="Arial"/>
              <a:cs typeface="Arial"/>
            </a:endParaRPr>
          </a:p>
        </p:txBody>
      </p:sp>
      <p:sp>
        <p:nvSpPr>
          <p:cNvPr id="561169" name="Line 17"/>
          <p:cNvSpPr>
            <a:spLocks noChangeShapeType="1"/>
          </p:cNvSpPr>
          <p:nvPr/>
        </p:nvSpPr>
        <p:spPr bwMode="auto">
          <a:xfrm>
            <a:off x="3200400" y="272891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2843213" y="3948113"/>
            <a:ext cx="762000" cy="228600"/>
            <a:chOff x="480" y="4080"/>
            <a:chExt cx="96" cy="48"/>
          </a:xfrm>
        </p:grpSpPr>
        <p:sp>
          <p:nvSpPr>
            <p:cNvPr id="561171" name="Line 19"/>
            <p:cNvSpPr>
              <a:spLocks noChangeShapeType="1"/>
            </p:cNvSpPr>
            <p:nvPr/>
          </p:nvSpPr>
          <p:spPr bwMode="auto">
            <a:xfrm>
              <a:off x="480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561172" name="Line 20"/>
            <p:cNvSpPr>
              <a:spLocks noChangeShapeType="1"/>
            </p:cNvSpPr>
            <p:nvPr/>
          </p:nvSpPr>
          <p:spPr bwMode="auto">
            <a:xfrm>
              <a:off x="576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561173" name="Line 21"/>
            <p:cNvSpPr>
              <a:spLocks noChangeShapeType="1"/>
            </p:cNvSpPr>
            <p:nvPr/>
          </p:nvSpPr>
          <p:spPr bwMode="auto">
            <a:xfrm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561174" name="Line 22"/>
            <p:cNvSpPr>
              <a:spLocks noChangeShapeType="1"/>
            </p:cNvSpPr>
            <p:nvPr/>
          </p:nvSpPr>
          <p:spPr bwMode="auto">
            <a:xfrm flipH="1"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</p:grpSp>
      <p:sp>
        <p:nvSpPr>
          <p:cNvPr id="561175" name="Text Box 23"/>
          <p:cNvSpPr txBox="1">
            <a:spLocks noChangeArrowheads="1"/>
          </p:cNvSpPr>
          <p:nvPr/>
        </p:nvSpPr>
        <p:spPr bwMode="auto">
          <a:xfrm>
            <a:off x="2446338" y="4024313"/>
            <a:ext cx="139523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aseline="-25000" dirty="0">
                <a:latin typeface="Arial"/>
                <a:cs typeface="Arial"/>
              </a:rPr>
              <a:t>join condition</a:t>
            </a:r>
          </a:p>
        </p:txBody>
      </p:sp>
      <p:sp>
        <p:nvSpPr>
          <p:cNvPr id="561176" name="Line 24"/>
          <p:cNvSpPr>
            <a:spLocks noChangeShapeType="1"/>
          </p:cNvSpPr>
          <p:nvPr/>
        </p:nvSpPr>
        <p:spPr bwMode="auto">
          <a:xfrm>
            <a:off x="3657600" y="4481513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561177" name="Text Box 25"/>
          <p:cNvSpPr txBox="1">
            <a:spLocks noChangeArrowheads="1"/>
          </p:cNvSpPr>
          <p:nvPr/>
        </p:nvSpPr>
        <p:spPr bwMode="auto">
          <a:xfrm>
            <a:off x="4038600" y="4862513"/>
            <a:ext cx="4924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</a:rPr>
              <a:t>…</a:t>
            </a:r>
          </a:p>
        </p:txBody>
      </p:sp>
      <p:sp>
        <p:nvSpPr>
          <p:cNvPr id="561178" name="Line 26"/>
          <p:cNvSpPr>
            <a:spLocks noChangeShapeType="1"/>
          </p:cNvSpPr>
          <p:nvPr/>
        </p:nvSpPr>
        <p:spPr bwMode="auto">
          <a:xfrm>
            <a:off x="3200400" y="349091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561179" name="Line 27"/>
          <p:cNvSpPr>
            <a:spLocks noChangeShapeType="1"/>
          </p:cNvSpPr>
          <p:nvPr/>
        </p:nvSpPr>
        <p:spPr bwMode="auto">
          <a:xfrm>
            <a:off x="3200400" y="1981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561180" name="Text Box 28"/>
          <p:cNvSpPr txBox="1">
            <a:spLocks noChangeArrowheads="1"/>
          </p:cNvSpPr>
          <p:nvPr/>
        </p:nvSpPr>
        <p:spPr bwMode="auto">
          <a:xfrm>
            <a:off x="2971800" y="1676400"/>
            <a:ext cx="1841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561189" name="Text Box 37"/>
          <p:cNvSpPr txBox="1">
            <a:spLocks noChangeArrowheads="1"/>
          </p:cNvSpPr>
          <p:nvPr/>
        </p:nvSpPr>
        <p:spPr bwMode="auto">
          <a:xfrm>
            <a:off x="5072567" y="3657600"/>
            <a:ext cx="369043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0000FF"/>
                </a:solidFill>
                <a:latin typeface="Arial"/>
                <a:cs typeface="Arial"/>
              </a:rPr>
              <a:t>SELECT-PROJECT-JOIN</a:t>
            </a:r>
          </a:p>
          <a:p>
            <a:pPr algn="ctr"/>
            <a:r>
              <a:rPr lang="en-US" sz="2400" dirty="0">
                <a:solidFill>
                  <a:srgbClr val="0000FF"/>
                </a:solidFill>
                <a:latin typeface="Arial"/>
                <a:cs typeface="Arial"/>
              </a:rPr>
              <a:t>Query</a:t>
            </a:r>
          </a:p>
        </p:txBody>
      </p:sp>
      <p:sp>
        <p:nvSpPr>
          <p:cNvPr id="561190" name="AutoShape 38"/>
          <p:cNvSpPr>
            <a:spLocks/>
          </p:cNvSpPr>
          <p:nvPr/>
        </p:nvSpPr>
        <p:spPr bwMode="auto">
          <a:xfrm>
            <a:off x="4495800" y="2209800"/>
            <a:ext cx="609600" cy="3886200"/>
          </a:xfrm>
          <a:prstGeom prst="rightBrace">
            <a:avLst>
              <a:gd name="adj1" fmla="val 5312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561191" name="Text Box 39"/>
          <p:cNvSpPr txBox="1">
            <a:spLocks noChangeArrowheads="1"/>
          </p:cNvSpPr>
          <p:nvPr/>
        </p:nvSpPr>
        <p:spPr bwMode="auto">
          <a:xfrm>
            <a:off x="2978150" y="1462088"/>
            <a:ext cx="41549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Symbol" charset="2"/>
                <a:sym typeface="Symbol" charset="2"/>
              </a:rPr>
              <a:t></a:t>
            </a:r>
            <a:endParaRPr lang="en-US" baseline="-25000" dirty="0">
              <a:latin typeface="Arial"/>
            </a:endParaRP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0950E-715D-EE4F-98A2-DE2C81BFC62C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2825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Typical Plan For Block (2/2)</a:t>
            </a:r>
          </a:p>
        </p:txBody>
      </p:sp>
      <p:sp>
        <p:nvSpPr>
          <p:cNvPr id="564239" name="Text Box 15"/>
          <p:cNvSpPr txBox="1">
            <a:spLocks noChangeArrowheads="1"/>
          </p:cNvSpPr>
          <p:nvPr/>
        </p:nvSpPr>
        <p:spPr bwMode="auto">
          <a:xfrm>
            <a:off x="3951288" y="3124200"/>
            <a:ext cx="9095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Symbol" charset="2"/>
                <a:sym typeface="Symbol" charset="2"/>
              </a:rPr>
              <a:t></a:t>
            </a:r>
            <a:r>
              <a:rPr lang="en-US" baseline="-25000" dirty="0" err="1">
                <a:latin typeface="Arial"/>
                <a:cs typeface="Arial"/>
              </a:rPr>
              <a:t>fields</a:t>
            </a:r>
            <a:endParaRPr lang="en-US" baseline="-25000" dirty="0">
              <a:latin typeface="Arial"/>
              <a:cs typeface="Arial"/>
            </a:endParaRPr>
          </a:p>
        </p:txBody>
      </p:sp>
      <p:sp>
        <p:nvSpPr>
          <p:cNvPr id="564254" name="Text Box 30"/>
          <p:cNvSpPr txBox="1">
            <a:spLocks noChangeArrowheads="1"/>
          </p:cNvSpPr>
          <p:nvPr/>
        </p:nvSpPr>
        <p:spPr bwMode="auto">
          <a:xfrm>
            <a:off x="2438400" y="2286000"/>
            <a:ext cx="33695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Symbol" charset="2"/>
                <a:sym typeface="Symbol" charset="2"/>
              </a:rPr>
              <a:t></a:t>
            </a:r>
            <a:r>
              <a:rPr lang="en-US" baseline="-25000" dirty="0" err="1">
                <a:latin typeface="Arial"/>
                <a:cs typeface="Arial"/>
              </a:rPr>
              <a:t>fields</a:t>
            </a:r>
            <a:r>
              <a:rPr lang="en-US" baseline="-25000" dirty="0">
                <a:latin typeface="Arial"/>
                <a:cs typeface="Arial"/>
              </a:rPr>
              <a:t>, sum/count/min/</a:t>
            </a:r>
            <a:r>
              <a:rPr lang="en-US" baseline="-25000" dirty="0" err="1">
                <a:latin typeface="Arial"/>
                <a:cs typeface="Arial"/>
              </a:rPr>
              <a:t>max(fields</a:t>
            </a:r>
            <a:r>
              <a:rPr lang="en-US" baseline="-25000" dirty="0">
                <a:latin typeface="Arial"/>
                <a:cs typeface="Arial"/>
              </a:rPr>
              <a:t>)</a:t>
            </a:r>
          </a:p>
        </p:txBody>
      </p:sp>
      <p:sp>
        <p:nvSpPr>
          <p:cNvPr id="564256" name="Text Box 32"/>
          <p:cNvSpPr txBox="1">
            <a:spLocks noChangeArrowheads="1"/>
          </p:cNvSpPr>
          <p:nvPr/>
        </p:nvSpPr>
        <p:spPr bwMode="auto">
          <a:xfrm>
            <a:off x="3352800" y="1524000"/>
            <a:ext cx="19129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Arial"/>
                <a:cs typeface="Arial"/>
              </a:rPr>
              <a:t>having</a:t>
            </a:r>
            <a:r>
              <a:rPr lang="en-US" baseline="-25000" dirty="0" err="1">
                <a:latin typeface="Arial"/>
                <a:cs typeface="Arial"/>
              </a:rPr>
              <a:t>condition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564257" name="Line 33"/>
          <p:cNvSpPr>
            <a:spLocks noChangeShapeType="1"/>
          </p:cNvSpPr>
          <p:nvPr/>
        </p:nvSpPr>
        <p:spPr bwMode="auto">
          <a:xfrm>
            <a:off x="4419600" y="2057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564262" name="Line 38"/>
          <p:cNvSpPr>
            <a:spLocks noChangeShapeType="1"/>
          </p:cNvSpPr>
          <p:nvPr/>
        </p:nvSpPr>
        <p:spPr bwMode="auto">
          <a:xfrm>
            <a:off x="4419600" y="3733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564264" name="Text Box 40"/>
          <p:cNvSpPr txBox="1">
            <a:spLocks noChangeArrowheads="1"/>
          </p:cNvSpPr>
          <p:nvPr/>
        </p:nvSpPr>
        <p:spPr bwMode="auto">
          <a:xfrm>
            <a:off x="3276600" y="3962400"/>
            <a:ext cx="21353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Symbol" charset="2"/>
                <a:sym typeface="Symbol" charset="2"/>
              </a:rPr>
              <a:t></a:t>
            </a:r>
            <a:r>
              <a:rPr lang="en-US" baseline="-25000" dirty="0" err="1">
                <a:latin typeface="Arial"/>
                <a:cs typeface="Arial"/>
              </a:rPr>
              <a:t>selection</a:t>
            </a:r>
            <a:r>
              <a:rPr lang="en-US" baseline="-25000" dirty="0">
                <a:latin typeface="Arial"/>
                <a:cs typeface="Arial"/>
              </a:rPr>
              <a:t> condition</a:t>
            </a:r>
          </a:p>
        </p:txBody>
      </p:sp>
      <p:sp>
        <p:nvSpPr>
          <p:cNvPr id="564265" name="Line 41"/>
          <p:cNvSpPr>
            <a:spLocks noChangeShapeType="1"/>
          </p:cNvSpPr>
          <p:nvPr/>
        </p:nvSpPr>
        <p:spPr bwMode="auto">
          <a:xfrm flipH="1">
            <a:off x="3505200" y="5472113"/>
            <a:ext cx="498475" cy="395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4027488" y="4953000"/>
            <a:ext cx="762000" cy="228600"/>
            <a:chOff x="480" y="4080"/>
            <a:chExt cx="96" cy="48"/>
          </a:xfrm>
        </p:grpSpPr>
        <p:sp>
          <p:nvSpPr>
            <p:cNvPr id="564267" name="Line 43"/>
            <p:cNvSpPr>
              <a:spLocks noChangeShapeType="1"/>
            </p:cNvSpPr>
            <p:nvPr/>
          </p:nvSpPr>
          <p:spPr bwMode="auto">
            <a:xfrm>
              <a:off x="480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564268" name="Line 44"/>
            <p:cNvSpPr>
              <a:spLocks noChangeShapeType="1"/>
            </p:cNvSpPr>
            <p:nvPr/>
          </p:nvSpPr>
          <p:spPr bwMode="auto">
            <a:xfrm>
              <a:off x="576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564269" name="Line 45"/>
            <p:cNvSpPr>
              <a:spLocks noChangeShapeType="1"/>
            </p:cNvSpPr>
            <p:nvPr/>
          </p:nvSpPr>
          <p:spPr bwMode="auto">
            <a:xfrm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564270" name="Line 46"/>
            <p:cNvSpPr>
              <a:spLocks noChangeShapeType="1"/>
            </p:cNvSpPr>
            <p:nvPr/>
          </p:nvSpPr>
          <p:spPr bwMode="auto">
            <a:xfrm flipH="1"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</p:grpSp>
      <p:sp>
        <p:nvSpPr>
          <p:cNvPr id="564271" name="Text Box 47"/>
          <p:cNvSpPr txBox="1">
            <a:spLocks noChangeArrowheads="1"/>
          </p:cNvSpPr>
          <p:nvPr/>
        </p:nvSpPr>
        <p:spPr bwMode="auto">
          <a:xfrm>
            <a:off x="3630613" y="5029200"/>
            <a:ext cx="139523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aseline="-25000" dirty="0">
                <a:latin typeface="Arial"/>
                <a:cs typeface="Arial"/>
              </a:rPr>
              <a:t>join condition</a:t>
            </a:r>
          </a:p>
        </p:txBody>
      </p:sp>
      <p:sp>
        <p:nvSpPr>
          <p:cNvPr id="564272" name="Line 48"/>
          <p:cNvSpPr>
            <a:spLocks noChangeShapeType="1"/>
          </p:cNvSpPr>
          <p:nvPr/>
        </p:nvSpPr>
        <p:spPr bwMode="auto">
          <a:xfrm>
            <a:off x="4841875" y="5486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564281" name="Line 57"/>
          <p:cNvSpPr>
            <a:spLocks noChangeShapeType="1"/>
          </p:cNvSpPr>
          <p:nvPr/>
        </p:nvSpPr>
        <p:spPr bwMode="auto">
          <a:xfrm>
            <a:off x="4419600" y="4495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564282" name="Line 58"/>
          <p:cNvSpPr>
            <a:spLocks noChangeShapeType="1"/>
          </p:cNvSpPr>
          <p:nvPr/>
        </p:nvSpPr>
        <p:spPr bwMode="auto">
          <a:xfrm>
            <a:off x="4419600" y="2819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564283" name="Text Box 59"/>
          <p:cNvSpPr txBox="1">
            <a:spLocks noChangeArrowheads="1"/>
          </p:cNvSpPr>
          <p:nvPr/>
        </p:nvSpPr>
        <p:spPr bwMode="auto">
          <a:xfrm>
            <a:off x="3200400" y="5805488"/>
            <a:ext cx="4924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</a:rPr>
              <a:t>…</a:t>
            </a:r>
          </a:p>
        </p:txBody>
      </p:sp>
      <p:sp>
        <p:nvSpPr>
          <p:cNvPr id="564284" name="Text Box 60"/>
          <p:cNvSpPr txBox="1">
            <a:spLocks noChangeArrowheads="1"/>
          </p:cNvSpPr>
          <p:nvPr/>
        </p:nvSpPr>
        <p:spPr bwMode="auto">
          <a:xfrm>
            <a:off x="5099050" y="5805488"/>
            <a:ext cx="4924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</a:rPr>
              <a:t>…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0950E-715D-EE4F-98A2-DE2C81BFC62C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0340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l-PL" smtClean="0"/>
              <a:t>Magda Balazinska - CSE 344, Fall 2012</a:t>
            </a:r>
            <a:endParaRPr lang="en-US" dirty="0"/>
          </a:p>
        </p:txBody>
      </p:sp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How about Subqueries?</a:t>
            </a:r>
          </a:p>
        </p:txBody>
      </p:sp>
      <p:sp>
        <p:nvSpPr>
          <p:cNvPr id="405507" name="Rectangle 3"/>
          <p:cNvSpPr>
            <a:spLocks noChangeArrowheads="1"/>
          </p:cNvSpPr>
          <p:nvPr/>
        </p:nvSpPr>
        <p:spPr bwMode="auto">
          <a:xfrm>
            <a:off x="247650" y="1905000"/>
            <a:ext cx="4020381" cy="30476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 err="1">
                <a:latin typeface="Arial" pitchFamily="112" charset="0"/>
                <a:ea typeface="Arial" pitchFamily="112" charset="0"/>
                <a:cs typeface="Arial" pitchFamily="112" charset="0"/>
              </a:rPr>
              <a:t>Q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.sno</a:t>
            </a:r>
            <a:endParaRPr lang="en-US" dirty="0" smtClean="0">
              <a:latin typeface="Arial" pitchFamily="112" charset="0"/>
              <a:ea typeface="Arial" pitchFamily="112" charset="0"/>
              <a:cs typeface="Arial" pitchFamily="112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Supplier Q</a:t>
            </a:r>
            <a:endParaRPr lang="en-US" dirty="0">
              <a:latin typeface="Arial" pitchFamily="112" charset="0"/>
              <a:ea typeface="Arial" pitchFamily="112" charset="0"/>
              <a:cs typeface="Arial" pitchFamily="112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 err="1">
                <a:latin typeface="Arial" pitchFamily="112" charset="0"/>
                <a:ea typeface="Arial" pitchFamily="112" charset="0"/>
                <a:cs typeface="Arial" pitchFamily="112" charset="0"/>
              </a:rPr>
              <a:t>Q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.sstate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= ‘WA’ </a:t>
            </a: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/>
            </a:r>
            <a:b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not exists</a:t>
            </a:r>
          </a:p>
          <a:p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  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*</a:t>
            </a:r>
          </a:p>
          <a:p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  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Supply P</a:t>
            </a: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/>
            </a:r>
            <a:b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      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>
                <a:latin typeface="Arial" pitchFamily="112" charset="0"/>
                <a:ea typeface="Arial" pitchFamily="112" charset="0"/>
                <a:cs typeface="Arial" pitchFamily="112" charset="0"/>
              </a:rPr>
              <a:t>P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.sno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= </a:t>
            </a:r>
            <a:r>
              <a:rPr lang="en-US" dirty="0" err="1">
                <a:latin typeface="Arial" pitchFamily="112" charset="0"/>
                <a:ea typeface="Arial" pitchFamily="112" charset="0"/>
                <a:cs typeface="Arial" pitchFamily="112" charset="0"/>
              </a:rPr>
              <a:t>Q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.sno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/>
            </a:r>
            <a:b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       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  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>
                <a:latin typeface="Arial" pitchFamily="112" charset="0"/>
                <a:ea typeface="Arial" pitchFamily="112" charset="0"/>
                <a:cs typeface="Arial" pitchFamily="112" charset="0"/>
              </a:rPr>
              <a:t>P.price</a:t>
            </a: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&gt; 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100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endParaRPr lang="en-US" dirty="0">
              <a:latin typeface="Arial" pitchFamily="112" charset="0"/>
              <a:ea typeface="Arial" pitchFamily="112" charset="0"/>
              <a:cs typeface="Arial" pitchFamily="112" charset="0"/>
            </a:endParaRPr>
          </a:p>
        </p:txBody>
      </p:sp>
      <p:sp>
        <p:nvSpPr>
          <p:cNvPr id="983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DAED77F-89F4-4AFF-B461-93055C2DDED6}" type="slidenum">
              <a:rPr lang="en-US" smtClean="0"/>
              <a:pPr/>
              <a:t>48</a:t>
            </a:fld>
            <a:endParaRPr lang="en-US" smtClean="0"/>
          </a:p>
        </p:txBody>
      </p:sp>
      <p:sp>
        <p:nvSpPr>
          <p:cNvPr id="7" name="TextBox 6"/>
          <p:cNvSpPr txBox="1"/>
          <p:nvPr/>
        </p:nvSpPr>
        <p:spPr>
          <a:xfrm>
            <a:off x="6019800" y="76200"/>
            <a:ext cx="276567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Supplier(sno,sname,scity,sstate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</a:p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Part(pno,pname,psize,pcolor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</a:p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Supply(sno,pno,price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  <a:endParaRPr lang="en-US" sz="1400" dirty="0">
              <a:latin typeface="Arial" pitchFamily="112" charset="0"/>
              <a:ea typeface="Arial" pitchFamily="112" charset="0"/>
              <a:cs typeface="Arial" pitchFamily="1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9122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l-PL" smtClean="0"/>
              <a:t>Magda Balazinska - CSE 344, Fall 2012</a:t>
            </a:r>
            <a:endParaRPr lang="en-US" dirty="0"/>
          </a:p>
        </p:txBody>
      </p:sp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How about Subqueries?</a:t>
            </a:r>
          </a:p>
        </p:txBody>
      </p:sp>
      <p:sp>
        <p:nvSpPr>
          <p:cNvPr id="405507" name="Rectangle 3"/>
          <p:cNvSpPr>
            <a:spLocks noChangeArrowheads="1"/>
          </p:cNvSpPr>
          <p:nvPr/>
        </p:nvSpPr>
        <p:spPr bwMode="auto">
          <a:xfrm>
            <a:off x="247650" y="1905000"/>
            <a:ext cx="4020381" cy="30476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Q.sno</a:t>
            </a:r>
            <a:endParaRPr lang="en-US" dirty="0" smtClean="0">
              <a:latin typeface="Arial" pitchFamily="112" charset="0"/>
              <a:ea typeface="Arial" pitchFamily="112" charset="0"/>
              <a:cs typeface="Arial" pitchFamily="112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Supplier Q</a:t>
            </a:r>
          </a:p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Q.sstate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= ‘WA’ </a:t>
            </a:r>
            <a:b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not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exists</a:t>
            </a:r>
          </a:p>
          <a:p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*</a:t>
            </a:r>
          </a:p>
          <a:p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   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Supply P</a:t>
            </a:r>
            <a:b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   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P.sno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=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Q.sno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/>
            </a:r>
            <a:b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       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P.price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&gt; 100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endParaRPr lang="en-US" dirty="0">
              <a:latin typeface="Arial" pitchFamily="112" charset="0"/>
              <a:ea typeface="Arial" pitchFamily="112" charset="0"/>
              <a:cs typeface="Arial" pitchFamily="112" charset="0"/>
            </a:endParaRPr>
          </a:p>
        </p:txBody>
      </p:sp>
      <p:sp>
        <p:nvSpPr>
          <p:cNvPr id="983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DAED77F-89F4-4AFF-B461-93055C2DDED6}" type="slidenum">
              <a:rPr lang="en-US" smtClean="0"/>
              <a:pPr/>
              <a:t>49</a:t>
            </a:fld>
            <a:endParaRPr lang="en-US" smtClean="0"/>
          </a:p>
        </p:txBody>
      </p:sp>
      <p:sp>
        <p:nvSpPr>
          <p:cNvPr id="6" name="Connector 5"/>
          <p:cNvSpPr/>
          <p:nvPr/>
        </p:nvSpPr>
        <p:spPr bwMode="auto">
          <a:xfrm>
            <a:off x="4191000" y="2514600"/>
            <a:ext cx="2616998" cy="649188"/>
          </a:xfrm>
          <a:prstGeom prst="flowChartConnector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</a:rPr>
              <a:t>Correlation !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cxnSp>
        <p:nvCxnSpPr>
          <p:cNvPr id="8" name="Straight Arrow Connector 7"/>
          <p:cNvCxnSpPr>
            <a:stCxn id="6" idx="2"/>
          </p:cNvCxnSpPr>
          <p:nvPr/>
        </p:nvCxnSpPr>
        <p:spPr bwMode="auto">
          <a:xfrm rot="10800000">
            <a:off x="2667000" y="2590800"/>
            <a:ext cx="1524000" cy="2483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Straight Arrow Connector 9"/>
          <p:cNvCxnSpPr>
            <a:stCxn id="6" idx="3"/>
          </p:cNvCxnSpPr>
          <p:nvPr/>
        </p:nvCxnSpPr>
        <p:spPr bwMode="auto">
          <a:xfrm rot="5400000">
            <a:off x="3592885" y="3209634"/>
            <a:ext cx="1122283" cy="8404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6019800" y="76200"/>
            <a:ext cx="276567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Supplier(sno,sname,scity,sstate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</a:p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Part(pno,pname,psize,pcolor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</a:p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Supply(sno,pno,price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  <a:endParaRPr lang="en-US" sz="1400" dirty="0">
              <a:latin typeface="Arial" pitchFamily="112" charset="0"/>
              <a:ea typeface="Arial" pitchFamily="112" charset="0"/>
              <a:cs typeface="Arial" pitchFamily="1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5234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l-PL" smtClean="0"/>
              <a:t>Magda Balazinska - CSE 344, Fall 2012</a:t>
            </a:r>
            <a:endParaRPr lang="en-US" dirty="0"/>
          </a:p>
        </p:txBody>
      </p:sp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How about Subqueries?</a:t>
            </a:r>
          </a:p>
        </p:txBody>
      </p:sp>
      <p:sp>
        <p:nvSpPr>
          <p:cNvPr id="405507" name="Rectangle 3"/>
          <p:cNvSpPr>
            <a:spLocks noChangeArrowheads="1"/>
          </p:cNvSpPr>
          <p:nvPr/>
        </p:nvSpPr>
        <p:spPr bwMode="auto">
          <a:xfrm>
            <a:off x="247650" y="1905000"/>
            <a:ext cx="4020381" cy="30476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Q.sno</a:t>
            </a:r>
            <a:endParaRPr lang="en-US" dirty="0" smtClean="0">
              <a:latin typeface="Arial" pitchFamily="112" charset="0"/>
              <a:ea typeface="Arial" pitchFamily="112" charset="0"/>
              <a:cs typeface="Arial" pitchFamily="112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Supplier Q</a:t>
            </a:r>
          </a:p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Q.sstate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= ‘WA’ </a:t>
            </a:r>
            <a:b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not exists</a:t>
            </a:r>
          </a:p>
          <a:p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*</a:t>
            </a:r>
          </a:p>
          <a:p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   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Supply P</a:t>
            </a:r>
            <a:b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   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P.sno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=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Q.sno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/>
            </a:r>
            <a:b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       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P.price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&gt; 100)</a:t>
            </a:r>
            <a:endParaRPr lang="en-US" dirty="0">
              <a:latin typeface="Arial" pitchFamily="112" charset="0"/>
              <a:ea typeface="Arial" pitchFamily="112" charset="0"/>
              <a:cs typeface="Arial" pitchFamily="112" charset="0"/>
            </a:endParaRPr>
          </a:p>
        </p:txBody>
      </p:sp>
      <p:sp>
        <p:nvSpPr>
          <p:cNvPr id="983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DAED77F-89F4-4AFF-B461-93055C2DDED6}" type="slidenum">
              <a:rPr lang="en-US" smtClean="0"/>
              <a:pPr/>
              <a:t>50</a:t>
            </a:fld>
            <a:endParaRPr lang="en-US" smtClean="0"/>
          </a:p>
        </p:txBody>
      </p:sp>
      <p:sp>
        <p:nvSpPr>
          <p:cNvPr id="6" name="Connector 5"/>
          <p:cNvSpPr/>
          <p:nvPr/>
        </p:nvSpPr>
        <p:spPr bwMode="auto">
          <a:xfrm>
            <a:off x="5562600" y="2133600"/>
            <a:ext cx="3073881" cy="649188"/>
          </a:xfrm>
          <a:prstGeom prst="flowChartConnector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</a:rPr>
              <a:t>De-Correlation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5029200" y="3505200"/>
            <a:ext cx="3986117" cy="26782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 err="1">
                <a:latin typeface="Arial" pitchFamily="112" charset="0"/>
                <a:ea typeface="Arial" pitchFamily="112" charset="0"/>
                <a:cs typeface="Arial" pitchFamily="112" charset="0"/>
              </a:rPr>
              <a:t>Q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.sno</a:t>
            </a:r>
            <a:endParaRPr lang="en-US" dirty="0" smtClean="0">
              <a:latin typeface="Arial" pitchFamily="112" charset="0"/>
              <a:ea typeface="Arial" pitchFamily="112" charset="0"/>
              <a:cs typeface="Arial" pitchFamily="112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Supplier Q</a:t>
            </a:r>
            <a:endParaRPr lang="en-US" dirty="0">
              <a:latin typeface="Arial" pitchFamily="112" charset="0"/>
              <a:ea typeface="Arial" pitchFamily="112" charset="0"/>
              <a:cs typeface="Arial" pitchFamily="112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 err="1">
                <a:latin typeface="Arial" pitchFamily="112" charset="0"/>
                <a:ea typeface="Arial" pitchFamily="112" charset="0"/>
                <a:cs typeface="Arial" pitchFamily="112" charset="0"/>
              </a:rPr>
              <a:t>Q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.sstate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= ‘WA’</a:t>
            </a:r>
            <a:b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Q.sno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not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in</a:t>
            </a:r>
          </a:p>
          <a:p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  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P.sno</a:t>
            </a:r>
            <a:endParaRPr lang="en-US" dirty="0" smtClean="0">
              <a:latin typeface="Arial" pitchFamily="112" charset="0"/>
              <a:ea typeface="Arial" pitchFamily="112" charset="0"/>
              <a:cs typeface="Arial" pitchFamily="112" charset="0"/>
            </a:endParaRPr>
          </a:p>
          <a:p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      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Supply P</a:t>
            </a: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/>
            </a:r>
            <a:b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      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</a:t>
            </a:r>
            <a:r>
              <a:rPr lang="en-US" dirty="0" err="1">
                <a:latin typeface="Arial" pitchFamily="112" charset="0"/>
                <a:ea typeface="Arial" pitchFamily="112" charset="0"/>
                <a:cs typeface="Arial" pitchFamily="112" charset="0"/>
              </a:rPr>
              <a:t>.price</a:t>
            </a: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&gt; 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100)</a:t>
            </a:r>
            <a:endParaRPr lang="en-US" dirty="0">
              <a:latin typeface="Arial" pitchFamily="112" charset="0"/>
              <a:ea typeface="Arial" pitchFamily="112" charset="0"/>
              <a:cs typeface="Arial" pitchFamily="112" charset="0"/>
            </a:endParaRPr>
          </a:p>
        </p:txBody>
      </p:sp>
      <p:sp>
        <p:nvSpPr>
          <p:cNvPr id="11" name="Bent-Up Arrow 10"/>
          <p:cNvSpPr/>
          <p:nvPr/>
        </p:nvSpPr>
        <p:spPr bwMode="auto">
          <a:xfrm rot="10800000" flipH="1">
            <a:off x="4876800" y="2667000"/>
            <a:ext cx="850392" cy="731520"/>
          </a:xfrm>
          <a:prstGeom prst="bentUp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19800" y="76200"/>
            <a:ext cx="276567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Supplier(sno,sname,scity,sstate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</a:p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Part(pno,pname,psize,pcolor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</a:p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Supply(sno,pno,price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  <a:endParaRPr lang="en-US" sz="1400" dirty="0">
              <a:latin typeface="Arial" pitchFamily="112" charset="0"/>
              <a:ea typeface="Arial" pitchFamily="112" charset="0"/>
              <a:cs typeface="Arial" pitchFamily="1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3578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How about Subqueries?</a:t>
            </a:r>
          </a:p>
        </p:txBody>
      </p:sp>
      <p:sp>
        <p:nvSpPr>
          <p:cNvPr id="983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DAED77F-89F4-4AFF-B461-93055C2DDED6}" type="slidenum">
              <a:rPr lang="en-US" smtClean="0"/>
              <a:pPr/>
              <a:t>51</a:t>
            </a:fld>
            <a:endParaRPr lang="en-US" smtClean="0"/>
          </a:p>
        </p:txBody>
      </p:sp>
      <p:sp>
        <p:nvSpPr>
          <p:cNvPr id="6" name="Connector 5"/>
          <p:cNvSpPr/>
          <p:nvPr/>
        </p:nvSpPr>
        <p:spPr bwMode="auto">
          <a:xfrm>
            <a:off x="4038600" y="1828800"/>
            <a:ext cx="2352631" cy="649188"/>
          </a:xfrm>
          <a:prstGeom prst="flowChartConnector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</a:rPr>
              <a:t>Un-nesting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5029200" y="2971800"/>
            <a:ext cx="3986117" cy="26782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Q.sno</a:t>
            </a:r>
            <a:endParaRPr lang="en-US" dirty="0" smtClean="0">
              <a:latin typeface="Arial" pitchFamily="112" charset="0"/>
              <a:ea typeface="Arial" pitchFamily="112" charset="0"/>
              <a:cs typeface="Arial" pitchFamily="112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Supplier Q</a:t>
            </a:r>
          </a:p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Q.sstate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= ‘WA’</a:t>
            </a:r>
            <a:b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Q.sno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not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in</a:t>
            </a:r>
          </a:p>
          <a:p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P.sno</a:t>
            </a:r>
            <a:endParaRPr lang="en-US" dirty="0" smtClean="0">
              <a:latin typeface="Arial" pitchFamily="112" charset="0"/>
              <a:ea typeface="Arial" pitchFamily="112" charset="0"/>
              <a:cs typeface="Arial" pitchFamily="112" charset="0"/>
            </a:endParaRPr>
          </a:p>
          <a:p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   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Supply P</a:t>
            </a:r>
            <a:b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   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P.price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&gt; 100)</a:t>
            </a:r>
            <a:endParaRPr lang="en-US" dirty="0">
              <a:latin typeface="Arial" pitchFamily="112" charset="0"/>
              <a:ea typeface="Arial" pitchFamily="112" charset="0"/>
              <a:cs typeface="Arial" pitchFamily="112" charset="0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52400" y="2209800"/>
            <a:ext cx="3785642" cy="26782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dirty="0" smtClean="0">
                <a:solidFill>
                  <a:schemeClr val="accent2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 err="1">
                <a:latin typeface="Arial" pitchFamily="112" charset="0"/>
                <a:ea typeface="Arial" pitchFamily="112" charset="0"/>
                <a:cs typeface="Arial" pitchFamily="112" charset="0"/>
              </a:rPr>
              <a:t>Q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.sno</a:t>
            </a:r>
            <a:endParaRPr lang="en-US" dirty="0" smtClean="0">
              <a:latin typeface="Arial" pitchFamily="112" charset="0"/>
              <a:ea typeface="Arial" pitchFamily="112" charset="0"/>
              <a:cs typeface="Arial" pitchFamily="112" charset="0"/>
            </a:endParaRPr>
          </a:p>
          <a:p>
            <a:r>
              <a:rPr lang="en-US" dirty="0" smtClean="0">
                <a:solidFill>
                  <a:schemeClr val="accent2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Supplier Q</a:t>
            </a:r>
          </a:p>
          <a:p>
            <a:r>
              <a:rPr lang="en-US" dirty="0" smtClean="0">
                <a:solidFill>
                  <a:schemeClr val="accent2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 err="1">
                <a:latin typeface="Arial" pitchFamily="112" charset="0"/>
                <a:ea typeface="Arial" pitchFamily="112" charset="0"/>
                <a:cs typeface="Arial" pitchFamily="112" charset="0"/>
              </a:rPr>
              <a:t>Q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.sstate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= ‘WA’)</a:t>
            </a:r>
          </a:p>
          <a:p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</a:t>
            </a:r>
            <a:r>
              <a:rPr lang="en-US" dirty="0" smtClean="0">
                <a:solidFill>
                  <a:srgbClr val="FF0000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EXCEPT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/>
            </a:r>
            <a:b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P.sno</a:t>
            </a:r>
            <a:endParaRPr lang="en-US" dirty="0" smtClean="0">
              <a:latin typeface="Arial" pitchFamily="112" charset="0"/>
              <a:ea typeface="Arial" pitchFamily="112" charset="0"/>
              <a:cs typeface="Arial" pitchFamily="112" charset="0"/>
            </a:endParaRPr>
          </a:p>
          <a:p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Supply P</a:t>
            </a: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/>
            </a:r>
            <a:b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</a:t>
            </a:r>
            <a:r>
              <a:rPr lang="en-US" dirty="0" err="1">
                <a:latin typeface="Arial" pitchFamily="112" charset="0"/>
                <a:ea typeface="Arial" pitchFamily="112" charset="0"/>
                <a:cs typeface="Arial" pitchFamily="112" charset="0"/>
              </a:rPr>
              <a:t>.price</a:t>
            </a: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&gt; 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100)</a:t>
            </a:r>
            <a:endParaRPr lang="en-US" dirty="0">
              <a:latin typeface="Arial" pitchFamily="112" charset="0"/>
              <a:ea typeface="Arial" pitchFamily="112" charset="0"/>
              <a:cs typeface="Arial" pitchFamily="112" charset="0"/>
            </a:endParaRPr>
          </a:p>
        </p:txBody>
      </p:sp>
      <p:sp>
        <p:nvSpPr>
          <p:cNvPr id="12" name="Left Arrow 11"/>
          <p:cNvSpPr/>
          <p:nvPr/>
        </p:nvSpPr>
        <p:spPr bwMode="auto">
          <a:xfrm>
            <a:off x="3962400" y="4038600"/>
            <a:ext cx="978408" cy="484632"/>
          </a:xfrm>
          <a:prstGeom prst="lef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19800" y="76200"/>
            <a:ext cx="276567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Supplier(sno,sname,scity,sstate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</a:p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Part(pno,pname,psize,pcolor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</a:p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Supply(sno,pno,price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  <a:endParaRPr lang="en-US" sz="1400" dirty="0">
              <a:latin typeface="Arial" pitchFamily="112" charset="0"/>
              <a:ea typeface="Arial" pitchFamily="112" charset="0"/>
              <a:cs typeface="Arial" pitchFamily="112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74392" y="5402400"/>
            <a:ext cx="3603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n-lt"/>
              </a:rPr>
              <a:t>EXCEPT = set difference</a:t>
            </a:r>
            <a:endParaRPr lang="en-US" dirty="0">
              <a:latin typeface="+mn-lt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0749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l-PL" smtClean="0"/>
              <a:t>Magda Balazinska - CSE 344, Fall 2012</a:t>
            </a:r>
            <a:endParaRPr lang="en-US" dirty="0"/>
          </a:p>
        </p:txBody>
      </p:sp>
      <p:sp>
        <p:nvSpPr>
          <p:cNvPr id="1003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How about Subqueries?</a:t>
            </a:r>
          </a:p>
        </p:txBody>
      </p:sp>
      <p:sp>
        <p:nvSpPr>
          <p:cNvPr id="100365" name="Rectangle 16"/>
          <p:cNvSpPr>
            <a:spLocks noChangeArrowheads="1"/>
          </p:cNvSpPr>
          <p:nvPr/>
        </p:nvSpPr>
        <p:spPr bwMode="auto">
          <a:xfrm>
            <a:off x="7469563" y="5486400"/>
            <a:ext cx="916918" cy="354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700" b="1" dirty="0" smtClean="0">
                <a:solidFill>
                  <a:srgbClr val="000000"/>
                </a:solidFill>
                <a:latin typeface="Arial" pitchFamily="112" charset="0"/>
              </a:rPr>
              <a:t>Supply</a:t>
            </a:r>
            <a:endParaRPr lang="en-US" sz="1700" b="1" dirty="0">
              <a:solidFill>
                <a:srgbClr val="000000"/>
              </a:solidFill>
              <a:latin typeface="Arial" pitchFamily="112" charset="0"/>
            </a:endParaRPr>
          </a:p>
        </p:txBody>
      </p:sp>
      <p:sp>
        <p:nvSpPr>
          <p:cNvPr id="100371" name="Text Box 22"/>
          <p:cNvSpPr txBox="1">
            <a:spLocks noChangeArrowheads="1"/>
          </p:cNvSpPr>
          <p:nvPr/>
        </p:nvSpPr>
        <p:spPr bwMode="auto">
          <a:xfrm>
            <a:off x="5638800" y="4343400"/>
            <a:ext cx="15055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="1" dirty="0" err="1" smtClean="0">
                <a:latin typeface="Arial"/>
                <a:sym typeface="Symbol" pitchFamily="112" charset="2"/>
              </a:rPr>
              <a:t></a:t>
            </a:r>
            <a:r>
              <a:rPr lang="en-US" b="1" baseline="-25000" dirty="0" err="1" smtClean="0">
                <a:latin typeface="Arial"/>
                <a:sym typeface="Symbol" pitchFamily="112" charset="2"/>
              </a:rPr>
              <a:t>sstate</a:t>
            </a:r>
            <a:r>
              <a:rPr lang="en-US" b="1" baseline="-25000" dirty="0" smtClean="0">
                <a:latin typeface="Arial"/>
                <a:sym typeface="Symbol" pitchFamily="112" charset="2"/>
              </a:rPr>
              <a:t>=‘WA’</a:t>
            </a:r>
          </a:p>
        </p:txBody>
      </p:sp>
      <p:sp>
        <p:nvSpPr>
          <p:cNvPr id="100372" name="Rectangle 23"/>
          <p:cNvSpPr>
            <a:spLocks noChangeArrowheads="1"/>
          </p:cNvSpPr>
          <p:nvPr/>
        </p:nvSpPr>
        <p:spPr bwMode="auto">
          <a:xfrm>
            <a:off x="5862526" y="5486400"/>
            <a:ext cx="1058088" cy="354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700" b="1" dirty="0" smtClean="0">
                <a:solidFill>
                  <a:srgbClr val="000000"/>
                </a:solidFill>
                <a:latin typeface="Arial" pitchFamily="112" charset="0"/>
              </a:rPr>
              <a:t>Supplier</a:t>
            </a:r>
            <a:endParaRPr lang="en-US" sz="1700" b="1" dirty="0">
              <a:solidFill>
                <a:srgbClr val="000000"/>
              </a:solidFill>
              <a:latin typeface="Arial" pitchFamily="112" charset="0"/>
            </a:endParaRPr>
          </a:p>
        </p:txBody>
      </p:sp>
      <p:sp>
        <p:nvSpPr>
          <p:cNvPr id="100374" name="Text Box 25"/>
          <p:cNvSpPr txBox="1">
            <a:spLocks noChangeArrowheads="1"/>
          </p:cNvSpPr>
          <p:nvPr/>
        </p:nvSpPr>
        <p:spPr bwMode="auto">
          <a:xfrm>
            <a:off x="7200900" y="4343400"/>
            <a:ext cx="14542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="1" dirty="0" err="1" smtClean="0">
                <a:latin typeface="Arial"/>
                <a:sym typeface="Symbol" pitchFamily="112" charset="2"/>
              </a:rPr>
              <a:t></a:t>
            </a:r>
            <a:r>
              <a:rPr lang="en-US" b="1" baseline="-25000" dirty="0" err="1" smtClean="0">
                <a:latin typeface="Arial"/>
                <a:sym typeface="Symbol" pitchFamily="112" charset="2"/>
              </a:rPr>
              <a:t>Price</a:t>
            </a:r>
            <a:r>
              <a:rPr lang="en-US" b="1" baseline="-25000" dirty="0" smtClean="0">
                <a:latin typeface="Arial"/>
                <a:sym typeface="Symbol" pitchFamily="112" charset="2"/>
              </a:rPr>
              <a:t> &gt; 100</a:t>
            </a:r>
          </a:p>
        </p:txBody>
      </p:sp>
      <p:sp>
        <p:nvSpPr>
          <p:cNvPr id="100385" name="Slide Number Placeholder 3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02A1D6C-3EE2-46F9-A941-1D0945065FE2}" type="slidenum">
              <a:rPr lang="en-US" smtClean="0"/>
              <a:pPr/>
              <a:t>52</a:t>
            </a:fld>
            <a:endParaRPr lang="en-US" smtClean="0"/>
          </a:p>
        </p:txBody>
      </p:sp>
      <p:sp>
        <p:nvSpPr>
          <p:cNvPr id="39" name="Rectangle 3"/>
          <p:cNvSpPr>
            <a:spLocks noChangeArrowheads="1"/>
          </p:cNvSpPr>
          <p:nvPr/>
        </p:nvSpPr>
        <p:spPr bwMode="auto">
          <a:xfrm>
            <a:off x="152400" y="2895600"/>
            <a:ext cx="3785642" cy="26782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dirty="0" smtClean="0">
                <a:solidFill>
                  <a:schemeClr val="accent2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Q.sno</a:t>
            </a:r>
            <a:endParaRPr lang="en-US" dirty="0" smtClean="0">
              <a:latin typeface="Arial" pitchFamily="112" charset="0"/>
              <a:ea typeface="Arial" pitchFamily="112" charset="0"/>
              <a:cs typeface="Arial" pitchFamily="112" charset="0"/>
            </a:endParaRPr>
          </a:p>
          <a:p>
            <a:r>
              <a:rPr lang="en-US" dirty="0" smtClean="0">
                <a:solidFill>
                  <a:schemeClr val="accent2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Supplier Q</a:t>
            </a:r>
          </a:p>
          <a:p>
            <a:r>
              <a:rPr lang="en-US" dirty="0" smtClean="0">
                <a:solidFill>
                  <a:schemeClr val="accent2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Q.sstate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= ‘WA’)</a:t>
            </a:r>
          </a:p>
          <a:p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</a:t>
            </a:r>
            <a:r>
              <a:rPr lang="en-US" dirty="0" smtClean="0">
                <a:solidFill>
                  <a:srgbClr val="FF0000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EXCEPT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/>
            </a:r>
            <a:b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P.sno</a:t>
            </a:r>
            <a:endParaRPr lang="en-US" dirty="0" smtClean="0">
              <a:latin typeface="Arial" pitchFamily="112" charset="0"/>
              <a:ea typeface="Arial" pitchFamily="112" charset="0"/>
              <a:cs typeface="Arial" pitchFamily="112" charset="0"/>
            </a:endParaRPr>
          </a:p>
          <a:p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Supply P</a:t>
            </a:r>
            <a:b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P.price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&gt; 100)</a:t>
            </a:r>
            <a:endParaRPr lang="en-US" dirty="0">
              <a:latin typeface="Arial" pitchFamily="112" charset="0"/>
              <a:ea typeface="Arial" pitchFamily="112" charset="0"/>
              <a:cs typeface="Arial" pitchFamily="112" charset="0"/>
            </a:endParaRPr>
          </a:p>
        </p:txBody>
      </p:sp>
      <p:cxnSp>
        <p:nvCxnSpPr>
          <p:cNvPr id="30" name="Straight Connector 29"/>
          <p:cNvCxnSpPr>
            <a:stCxn id="100372" idx="0"/>
            <a:endCxn id="100371" idx="2"/>
          </p:cNvCxnSpPr>
          <p:nvPr/>
        </p:nvCxnSpPr>
        <p:spPr bwMode="auto">
          <a:xfrm rot="5400000" flipH="1" flipV="1">
            <a:off x="6050903" y="5145733"/>
            <a:ext cx="681335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/>
          <p:cNvCxnSpPr>
            <a:stCxn id="100365" idx="0"/>
            <a:endCxn id="100374" idx="2"/>
          </p:cNvCxnSpPr>
          <p:nvPr/>
        </p:nvCxnSpPr>
        <p:spPr bwMode="auto">
          <a:xfrm rot="5400000" flipH="1" flipV="1">
            <a:off x="7587355" y="5145733"/>
            <a:ext cx="681335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0" name="TextBox 39"/>
          <p:cNvSpPr txBox="1"/>
          <p:nvPr/>
        </p:nvSpPr>
        <p:spPr>
          <a:xfrm>
            <a:off x="6781800" y="2438400"/>
            <a:ext cx="42431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</a:rPr>
              <a:t>−</a:t>
            </a:r>
            <a:endParaRPr lang="en-US" sz="3200" b="1" dirty="0">
              <a:latin typeface="Arial"/>
            </a:endParaRPr>
          </a:p>
        </p:txBody>
      </p:sp>
      <p:cxnSp>
        <p:nvCxnSpPr>
          <p:cNvPr id="42" name="Straight Connector 41"/>
          <p:cNvCxnSpPr>
            <a:stCxn id="23" idx="0"/>
            <a:endCxn id="40" idx="2"/>
          </p:cNvCxnSpPr>
          <p:nvPr/>
        </p:nvCxnSpPr>
        <p:spPr bwMode="auto">
          <a:xfrm flipV="1">
            <a:off x="6378983" y="3023176"/>
            <a:ext cx="614975" cy="5582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Straight Connector 44"/>
          <p:cNvCxnSpPr>
            <a:stCxn id="18" idx="0"/>
            <a:endCxn id="40" idx="2"/>
          </p:cNvCxnSpPr>
          <p:nvPr/>
        </p:nvCxnSpPr>
        <p:spPr bwMode="auto">
          <a:xfrm flipH="1" flipV="1">
            <a:off x="6993958" y="3023176"/>
            <a:ext cx="952659" cy="4820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6019800" y="76200"/>
            <a:ext cx="276567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Supplier(sno,sname,scity,sstate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</a:p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Part(pno,pname,psize,pcolor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</a:p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Supply(sno,pno,price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  <a:endParaRPr lang="en-US" sz="1400" dirty="0">
              <a:latin typeface="Arial" pitchFamily="112" charset="0"/>
              <a:ea typeface="Arial" pitchFamily="112" charset="0"/>
              <a:cs typeface="Arial" pitchFamily="112" charset="0"/>
            </a:endParaRPr>
          </a:p>
        </p:txBody>
      </p:sp>
      <p:sp>
        <p:nvSpPr>
          <p:cNvPr id="47" name="Connector 46"/>
          <p:cNvSpPr/>
          <p:nvPr/>
        </p:nvSpPr>
        <p:spPr bwMode="auto">
          <a:xfrm>
            <a:off x="4038600" y="2514600"/>
            <a:ext cx="1943085" cy="649188"/>
          </a:xfrm>
          <a:prstGeom prst="flowChartConnector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</a:rPr>
              <a:t>Finally…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48" name="Left Arrow 47"/>
          <p:cNvSpPr/>
          <p:nvPr/>
        </p:nvSpPr>
        <p:spPr bwMode="auto">
          <a:xfrm rot="10800000">
            <a:off x="4343400" y="4038600"/>
            <a:ext cx="978408" cy="484632"/>
          </a:xfrm>
          <a:prstGeom prst="lef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7587434" y="3505200"/>
            <a:ext cx="7183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smtClean="0">
                <a:latin typeface="Symbol" charset="2"/>
                <a:sym typeface="Symbol" charset="2"/>
              </a:rPr>
              <a:t></a:t>
            </a:r>
            <a:r>
              <a:rPr lang="en-US" b="1" baseline="-25000" dirty="0" err="1" smtClean="0">
                <a:latin typeface="Arial"/>
                <a:sym typeface="Symbol" pitchFamily="112" charset="2"/>
              </a:rPr>
              <a:t>sno</a:t>
            </a:r>
            <a:endParaRPr lang="en-US" b="1" baseline="-25000" dirty="0" smtClean="0">
              <a:latin typeface="Arial"/>
              <a:sym typeface="Symbol" pitchFamily="112" charset="2"/>
            </a:endParaRPr>
          </a:p>
        </p:txBody>
      </p:sp>
      <p:cxnSp>
        <p:nvCxnSpPr>
          <p:cNvPr id="20" name="Straight Connector 19"/>
          <p:cNvCxnSpPr>
            <a:stCxn id="100374" idx="0"/>
            <a:endCxn id="18" idx="2"/>
          </p:cNvCxnSpPr>
          <p:nvPr/>
        </p:nvCxnSpPr>
        <p:spPr bwMode="auto">
          <a:xfrm flipV="1">
            <a:off x="7928022" y="3966865"/>
            <a:ext cx="18595" cy="3765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Text Box 25"/>
          <p:cNvSpPr txBox="1">
            <a:spLocks noChangeArrowheads="1"/>
          </p:cNvSpPr>
          <p:nvPr/>
        </p:nvSpPr>
        <p:spPr bwMode="auto">
          <a:xfrm>
            <a:off x="6019800" y="3581400"/>
            <a:ext cx="7183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smtClean="0">
                <a:latin typeface="Symbol" charset="2"/>
                <a:sym typeface="Symbol" charset="2"/>
              </a:rPr>
              <a:t></a:t>
            </a:r>
            <a:r>
              <a:rPr lang="en-US" b="1" baseline="-25000" dirty="0" err="1" smtClean="0">
                <a:latin typeface="Arial"/>
                <a:sym typeface="Symbol" pitchFamily="112" charset="2"/>
              </a:rPr>
              <a:t>sno</a:t>
            </a:r>
            <a:endParaRPr lang="en-US" b="1" baseline="-25000" dirty="0" smtClean="0">
              <a:latin typeface="Arial"/>
              <a:sym typeface="Symbol" pitchFamily="112" charset="2"/>
            </a:endParaRPr>
          </a:p>
        </p:txBody>
      </p:sp>
      <p:cxnSp>
        <p:nvCxnSpPr>
          <p:cNvPr id="24" name="Straight Connector 23"/>
          <p:cNvCxnSpPr>
            <a:stCxn id="100371" idx="0"/>
            <a:endCxn id="23" idx="2"/>
          </p:cNvCxnSpPr>
          <p:nvPr/>
        </p:nvCxnSpPr>
        <p:spPr bwMode="auto">
          <a:xfrm flipH="1" flipV="1">
            <a:off x="6378983" y="4043065"/>
            <a:ext cx="12587" cy="3003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7111746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44C505-0347-8A4D-ABAD-7E39CA80EF55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p:sp>
        <p:nvSpPr>
          <p:cNvPr id="5" name="Title 8"/>
          <p:cNvSpPr>
            <a:spLocks noGrp="1"/>
          </p:cNvSpPr>
          <p:nvPr>
            <p:ph type="title"/>
          </p:nvPr>
        </p:nvSpPr>
        <p:spPr>
          <a:xfrm>
            <a:off x="685800" y="2819400"/>
            <a:ext cx="7772400" cy="1143000"/>
          </a:xfrm>
        </p:spPr>
        <p:txBody>
          <a:bodyPr/>
          <a:lstStyle/>
          <a:p>
            <a:r>
              <a:rPr lang="en-US" dirty="0" smtClean="0"/>
              <a:t>From Logical Plans </a:t>
            </a:r>
            <a:br>
              <a:rPr lang="en-US" dirty="0" smtClean="0"/>
            </a:br>
            <a:r>
              <a:rPr lang="en-US" dirty="0" smtClean="0"/>
              <a:t>to Physical Plans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4059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194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>
                <a:latin typeface="Arial" charset="0"/>
              </a:rPr>
              <a:t>Magda Balazinska - CSE 344, Fall 2012</a:t>
            </a:r>
            <a:endParaRPr lang="en-US" sz="1400">
              <a:latin typeface="Arial" charset="0"/>
            </a:endParaRPr>
          </a:p>
        </p:txBody>
      </p:sp>
      <p:sp>
        <p:nvSpPr>
          <p:cNvPr id="194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4DF6B2A2-487E-6347-9219-2225E7AB7C71}" type="slidenum">
              <a:rPr lang="en-US" sz="1400">
                <a:latin typeface="Arial" charset="0"/>
              </a:rPr>
              <a:pPr eaLnBrk="1" hangingPunct="1"/>
              <a:t>54</a:t>
            </a:fld>
            <a:endParaRPr lang="en-US" sz="1400">
              <a:latin typeface="Arial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04800" y="2281237"/>
            <a:ext cx="3276600" cy="6461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88900" dir="2700000" algn="tl" rotWithShape="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sz="1800" dirty="0">
                <a:latin typeface="Calibri"/>
                <a:cs typeface="Calibri"/>
              </a:rPr>
              <a:t>Supplier(</a:t>
            </a:r>
            <a:r>
              <a:rPr lang="en-US" sz="1800" u="sng" dirty="0" err="1">
                <a:latin typeface="Calibri"/>
                <a:cs typeface="Calibri"/>
              </a:rPr>
              <a:t>sid</a:t>
            </a:r>
            <a:r>
              <a:rPr lang="en-US" sz="1800" dirty="0">
                <a:latin typeface="Calibri"/>
                <a:cs typeface="Calibri"/>
              </a:rPr>
              <a:t>, </a:t>
            </a:r>
            <a:r>
              <a:rPr lang="en-US" sz="1800" dirty="0" err="1">
                <a:latin typeface="Calibri"/>
                <a:cs typeface="Calibri"/>
              </a:rPr>
              <a:t>sname</a:t>
            </a:r>
            <a:r>
              <a:rPr lang="en-US" sz="1800" dirty="0">
                <a:latin typeface="Calibri"/>
                <a:cs typeface="Calibri"/>
              </a:rPr>
              <a:t>, </a:t>
            </a:r>
            <a:r>
              <a:rPr lang="en-US" sz="1800" dirty="0" err="1">
                <a:latin typeface="Calibri"/>
                <a:cs typeface="Calibri"/>
              </a:rPr>
              <a:t>scity</a:t>
            </a:r>
            <a:r>
              <a:rPr lang="en-US" sz="1800" dirty="0">
                <a:latin typeface="Calibri"/>
                <a:cs typeface="Calibri"/>
              </a:rPr>
              <a:t>, </a:t>
            </a:r>
            <a:r>
              <a:rPr lang="en-US" sz="1800" dirty="0" err="1">
                <a:latin typeface="Calibri"/>
                <a:cs typeface="Calibri"/>
              </a:rPr>
              <a:t>sstate</a:t>
            </a:r>
            <a:r>
              <a:rPr lang="en-US" sz="1800" dirty="0">
                <a:latin typeface="Calibri"/>
                <a:cs typeface="Calibri"/>
              </a:rPr>
              <a:t>)</a:t>
            </a:r>
          </a:p>
          <a:p>
            <a:pPr>
              <a:defRPr/>
            </a:pPr>
            <a:r>
              <a:rPr lang="en-US" sz="1800" dirty="0">
                <a:latin typeface="Calibri"/>
                <a:cs typeface="Calibri"/>
              </a:rPr>
              <a:t>Supply(</a:t>
            </a:r>
            <a:r>
              <a:rPr lang="en-US" sz="1800" u="sng" dirty="0" err="1">
                <a:latin typeface="Calibri"/>
                <a:cs typeface="Calibri"/>
              </a:rPr>
              <a:t>sid</a:t>
            </a:r>
            <a:r>
              <a:rPr lang="en-US" sz="1800" u="sng" dirty="0">
                <a:latin typeface="Calibri"/>
                <a:cs typeface="Calibri"/>
              </a:rPr>
              <a:t>, </a:t>
            </a:r>
            <a:r>
              <a:rPr lang="en-US" sz="1800" u="sng" dirty="0" err="1">
                <a:latin typeface="Calibri"/>
                <a:cs typeface="Calibri"/>
              </a:rPr>
              <a:t>pno</a:t>
            </a:r>
            <a:r>
              <a:rPr lang="en-US" sz="1800" dirty="0">
                <a:latin typeface="Calibri"/>
                <a:cs typeface="Calibri"/>
              </a:rPr>
              <a:t>, quantity)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2122487"/>
            <a:ext cx="3454792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88900" dir="2700000" algn="tl" rotWithShape="0">
              <a:srgbClr val="000000">
                <a:alpha val="43000"/>
              </a:srgb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Calibri"/>
                <a:cs typeface="Calibri"/>
              </a:rPr>
              <a:t>SELECT </a:t>
            </a:r>
            <a:r>
              <a:rPr lang="en-US" dirty="0" err="1">
                <a:latin typeface="Calibri"/>
                <a:cs typeface="Calibri"/>
              </a:rPr>
              <a:t>sname</a:t>
            </a:r>
            <a:endParaRPr lang="en-US" dirty="0">
              <a:latin typeface="Calibri"/>
              <a:cs typeface="Calibri"/>
            </a:endParaRPr>
          </a:p>
          <a:p>
            <a:pPr>
              <a:defRPr/>
            </a:pPr>
            <a:r>
              <a:rPr lang="en-US" dirty="0">
                <a:latin typeface="Calibri"/>
                <a:cs typeface="Calibri"/>
              </a:rPr>
              <a:t>FROM Supplier x, Supply y</a:t>
            </a:r>
          </a:p>
          <a:p>
            <a:pPr>
              <a:defRPr/>
            </a:pPr>
            <a:r>
              <a:rPr lang="en-US" dirty="0">
                <a:latin typeface="Calibri"/>
                <a:cs typeface="Calibri"/>
              </a:rPr>
              <a:t>WHERE </a:t>
            </a:r>
            <a:r>
              <a:rPr lang="en-US" dirty="0" err="1">
                <a:latin typeface="Calibri"/>
                <a:cs typeface="Calibri"/>
              </a:rPr>
              <a:t>x.sid</a:t>
            </a:r>
            <a:r>
              <a:rPr lang="en-US" dirty="0">
                <a:latin typeface="Calibri"/>
                <a:cs typeface="Calibri"/>
              </a:rPr>
              <a:t> = </a:t>
            </a:r>
            <a:r>
              <a:rPr lang="en-US" dirty="0" err="1">
                <a:latin typeface="Calibri"/>
                <a:cs typeface="Calibri"/>
              </a:rPr>
              <a:t>y.sid</a:t>
            </a:r>
            <a:r>
              <a:rPr lang="en-US" dirty="0">
                <a:latin typeface="Calibri"/>
                <a:cs typeface="Calibri"/>
              </a:rPr>
              <a:t/>
            </a:r>
            <a:br>
              <a:rPr lang="en-US" dirty="0">
                <a:latin typeface="Calibri"/>
                <a:cs typeface="Calibri"/>
              </a:rPr>
            </a:br>
            <a:r>
              <a:rPr lang="en-US" dirty="0">
                <a:latin typeface="Calibri"/>
                <a:cs typeface="Calibri"/>
              </a:rPr>
              <a:t>    and  </a:t>
            </a:r>
            <a:r>
              <a:rPr lang="en-US" dirty="0" err="1">
                <a:latin typeface="Calibri"/>
                <a:cs typeface="Calibri"/>
              </a:rPr>
              <a:t>y.pno</a:t>
            </a:r>
            <a:r>
              <a:rPr lang="en-US" dirty="0">
                <a:latin typeface="Calibri"/>
                <a:cs typeface="Calibri"/>
              </a:rPr>
              <a:t> = 2</a:t>
            </a:r>
            <a:br>
              <a:rPr lang="en-US" dirty="0">
                <a:latin typeface="Calibri"/>
                <a:cs typeface="Calibri"/>
              </a:rPr>
            </a:br>
            <a:r>
              <a:rPr lang="en-US" dirty="0">
                <a:latin typeface="Calibri"/>
                <a:cs typeface="Calibri"/>
              </a:rPr>
              <a:t>    and </a:t>
            </a:r>
            <a:r>
              <a:rPr lang="en-US" dirty="0" err="1">
                <a:latin typeface="Calibri"/>
                <a:cs typeface="Calibri"/>
              </a:rPr>
              <a:t>x.scity</a:t>
            </a:r>
            <a:r>
              <a:rPr lang="en-US" dirty="0">
                <a:latin typeface="Calibri"/>
                <a:cs typeface="Calibri"/>
              </a:rPr>
              <a:t> = </a:t>
            </a:r>
            <a:r>
              <a:rPr lang="ja-JP" altLang="en-US" dirty="0">
                <a:latin typeface="Calibri"/>
                <a:cs typeface="Calibri"/>
              </a:rPr>
              <a:t>‘</a:t>
            </a:r>
            <a:r>
              <a:rPr lang="en-US" dirty="0">
                <a:latin typeface="Calibri"/>
                <a:cs typeface="Calibri"/>
              </a:rPr>
              <a:t>Seattle</a:t>
            </a:r>
            <a:r>
              <a:rPr lang="ja-JP" altLang="en-US" dirty="0">
                <a:latin typeface="Calibri"/>
                <a:cs typeface="Calibri"/>
              </a:rPr>
              <a:t>’</a:t>
            </a:r>
            <a:r>
              <a:rPr lang="en-US" dirty="0">
                <a:latin typeface="Calibri"/>
                <a:cs typeface="Calibri"/>
              </a:rPr>
              <a:t/>
            </a:r>
            <a:br>
              <a:rPr lang="en-US" dirty="0">
                <a:latin typeface="Calibri"/>
                <a:cs typeface="Calibri"/>
              </a:rPr>
            </a:br>
            <a:r>
              <a:rPr lang="en-US" dirty="0">
                <a:latin typeface="Calibri"/>
                <a:cs typeface="Calibri"/>
              </a:rPr>
              <a:t>    and </a:t>
            </a:r>
            <a:r>
              <a:rPr lang="en-US" dirty="0" err="1">
                <a:latin typeface="Calibri"/>
                <a:cs typeface="Calibri"/>
              </a:rPr>
              <a:t>x.sstate</a:t>
            </a:r>
            <a:r>
              <a:rPr lang="en-US" dirty="0">
                <a:latin typeface="Calibri"/>
                <a:cs typeface="Calibri"/>
              </a:rPr>
              <a:t> = </a:t>
            </a:r>
            <a:r>
              <a:rPr lang="ja-JP" altLang="en-US" dirty="0">
                <a:latin typeface="Calibri"/>
                <a:cs typeface="Calibri"/>
              </a:rPr>
              <a:t>‘</a:t>
            </a:r>
            <a:r>
              <a:rPr lang="en-US" dirty="0">
                <a:latin typeface="Calibri"/>
                <a:cs typeface="Calibri"/>
              </a:rPr>
              <a:t>WA</a:t>
            </a:r>
            <a:r>
              <a:rPr lang="ja-JP" altLang="en-US" dirty="0">
                <a:latin typeface="Calibri"/>
                <a:cs typeface="Calibri"/>
              </a:rPr>
              <a:t>’</a:t>
            </a:r>
            <a:endParaRPr lang="en-US" dirty="0">
              <a:latin typeface="Calibri"/>
              <a:cs typeface="Calibri"/>
            </a:endParaRPr>
          </a:p>
        </p:txBody>
      </p:sp>
      <p:sp>
        <p:nvSpPr>
          <p:cNvPr id="19460" name="TextBox 3"/>
          <p:cNvSpPr txBox="1">
            <a:spLocks noChangeArrowheads="1"/>
          </p:cNvSpPr>
          <p:nvPr/>
        </p:nvSpPr>
        <p:spPr bwMode="auto">
          <a:xfrm>
            <a:off x="990600" y="5100637"/>
            <a:ext cx="7467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Calibri"/>
                <a:cs typeface="Calibri"/>
              </a:rPr>
              <a:t>Give a relational algebra expression for this query</a:t>
            </a:r>
          </a:p>
        </p:txBody>
      </p:sp>
    </p:spTree>
    <p:extLst>
      <p:ext uri="{BB962C8B-B14F-4D97-AF65-F5344CB8AC3E}">
        <p14:creationId xmlns:p14="http://schemas.microsoft.com/office/powerpoint/2010/main" val="37006668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Relational Algebra</a:t>
            </a:r>
          </a:p>
        </p:txBody>
      </p:sp>
      <p:sp>
        <p:nvSpPr>
          <p:cNvPr id="2151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>
                <a:latin typeface="Arial" charset="0"/>
              </a:rPr>
              <a:t>Magda Balazinska - CSE 344, Fall 2012</a:t>
            </a:r>
            <a:endParaRPr lang="en-US" sz="1400">
              <a:latin typeface="Arial" charset="0"/>
            </a:endParaRPr>
          </a:p>
        </p:txBody>
      </p:sp>
      <p:sp>
        <p:nvSpPr>
          <p:cNvPr id="2150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66494742-3F18-074D-977B-AAF1E93C6482}" type="slidenum">
              <a:rPr lang="en-US" sz="1400">
                <a:latin typeface="Arial" charset="0"/>
              </a:rPr>
              <a:pPr eaLnBrk="1" hangingPunct="1"/>
              <a:t>55</a:t>
            </a:fld>
            <a:endParaRPr lang="en-US" sz="1400">
              <a:latin typeface="Arial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464300" y="3365500"/>
            <a:ext cx="304800" cy="228600"/>
            <a:chOff x="480" y="4080"/>
            <a:chExt cx="96" cy="48"/>
          </a:xfrm>
        </p:grpSpPr>
        <p:sp>
          <p:nvSpPr>
            <p:cNvPr id="21511" name="Line 6"/>
            <p:cNvSpPr>
              <a:spLocks noChangeShapeType="1"/>
            </p:cNvSpPr>
            <p:nvPr/>
          </p:nvSpPr>
          <p:spPr bwMode="auto">
            <a:xfrm>
              <a:off x="480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2" name="Line 7"/>
            <p:cNvSpPr>
              <a:spLocks noChangeShapeType="1"/>
            </p:cNvSpPr>
            <p:nvPr/>
          </p:nvSpPr>
          <p:spPr bwMode="auto">
            <a:xfrm>
              <a:off x="576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3" name="Line 8"/>
            <p:cNvSpPr>
              <a:spLocks noChangeShapeType="1"/>
            </p:cNvSpPr>
            <p:nvPr/>
          </p:nvSpPr>
          <p:spPr bwMode="auto">
            <a:xfrm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4" name="Line 9"/>
            <p:cNvSpPr>
              <a:spLocks noChangeShapeType="1"/>
            </p:cNvSpPr>
            <p:nvPr/>
          </p:nvSpPr>
          <p:spPr bwMode="auto">
            <a:xfrm flipH="1"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507" name="Text Box 14"/>
          <p:cNvSpPr txBox="1">
            <a:spLocks noChangeArrowheads="1"/>
          </p:cNvSpPr>
          <p:nvPr/>
        </p:nvSpPr>
        <p:spPr bwMode="auto">
          <a:xfrm>
            <a:off x="609600" y="3200400"/>
            <a:ext cx="8077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 err="1">
                <a:latin typeface="Arial" charset="0"/>
                <a:cs typeface="Arial" charset="0"/>
                <a:sym typeface="Symbol" charset="0"/>
              </a:rPr>
              <a:t></a:t>
            </a:r>
            <a:r>
              <a:rPr lang="en-US" baseline="-25000" dirty="0" err="1">
                <a:latin typeface="Arial" charset="0"/>
                <a:cs typeface="Arial" charset="0"/>
              </a:rPr>
              <a:t>sname</a:t>
            </a:r>
            <a:r>
              <a:rPr lang="en-US" dirty="0" err="1">
                <a:latin typeface="Arial" charset="0"/>
                <a:cs typeface="Arial" charset="0"/>
                <a:sym typeface="Symbol" charset="0"/>
              </a:rPr>
              <a:t>(</a:t>
            </a:r>
            <a:r>
              <a:rPr lang="en-US" baseline="-25000" dirty="0" err="1">
                <a:latin typeface="Arial" charset="0"/>
                <a:cs typeface="Arial" charset="0"/>
              </a:rPr>
              <a:t>scity</a:t>
            </a:r>
            <a:r>
              <a:rPr lang="en-US" baseline="-25000" dirty="0">
                <a:latin typeface="Arial" charset="0"/>
                <a:cs typeface="Arial" charset="0"/>
              </a:rPr>
              <a:t>=</a:t>
            </a:r>
            <a:r>
              <a:rPr lang="ja-JP" altLang="en-US" baseline="-25000" dirty="0">
                <a:latin typeface="Arial" charset="0"/>
                <a:cs typeface="Arial" charset="0"/>
              </a:rPr>
              <a:t>‘</a:t>
            </a:r>
            <a:r>
              <a:rPr lang="en-US" altLang="ja-JP" baseline="-25000" dirty="0">
                <a:latin typeface="Arial" charset="0"/>
                <a:cs typeface="Arial" charset="0"/>
              </a:rPr>
              <a:t>Seattle</a:t>
            </a:r>
            <a:r>
              <a:rPr lang="ja-JP" altLang="en-US" baseline="-25000" dirty="0">
                <a:latin typeface="Arial" charset="0"/>
                <a:cs typeface="Arial" charset="0"/>
              </a:rPr>
              <a:t>’</a:t>
            </a:r>
            <a:r>
              <a:rPr lang="en-US" altLang="ja-JP" baseline="-25000" dirty="0" err="1">
                <a:latin typeface="Arial" charset="0"/>
                <a:cs typeface="Arial" charset="0"/>
                <a:sym typeface="Symbol" charset="0"/>
              </a:rPr>
              <a:t></a:t>
            </a:r>
            <a:r>
              <a:rPr lang="en-US" altLang="ja-JP" baseline="-25000" dirty="0">
                <a:latin typeface="Arial" charset="0"/>
                <a:cs typeface="Arial" charset="0"/>
                <a:sym typeface="Symbol" charset="0"/>
              </a:rPr>
              <a:t> </a:t>
            </a:r>
            <a:r>
              <a:rPr lang="en-US" altLang="ja-JP" baseline="-25000" dirty="0" err="1">
                <a:latin typeface="Arial" charset="0"/>
                <a:cs typeface="Arial" charset="0"/>
              </a:rPr>
              <a:t>sstate</a:t>
            </a:r>
            <a:r>
              <a:rPr lang="en-US" altLang="ja-JP" baseline="-25000" dirty="0">
                <a:latin typeface="Arial" charset="0"/>
                <a:cs typeface="Arial" charset="0"/>
              </a:rPr>
              <a:t>=</a:t>
            </a:r>
            <a:r>
              <a:rPr lang="ja-JP" altLang="en-US" baseline="-25000" dirty="0">
                <a:latin typeface="Arial" charset="0"/>
                <a:cs typeface="Arial" charset="0"/>
              </a:rPr>
              <a:t>‘</a:t>
            </a:r>
            <a:r>
              <a:rPr lang="en-US" altLang="ja-JP" baseline="-25000" dirty="0">
                <a:latin typeface="Arial" charset="0"/>
                <a:cs typeface="Arial" charset="0"/>
              </a:rPr>
              <a:t>WA</a:t>
            </a:r>
            <a:r>
              <a:rPr lang="ja-JP" altLang="en-US" baseline="-25000" dirty="0">
                <a:latin typeface="Arial" charset="0"/>
                <a:cs typeface="Arial" charset="0"/>
              </a:rPr>
              <a:t>’</a:t>
            </a:r>
            <a:r>
              <a:rPr lang="en-US" altLang="ja-JP" baseline="-25000" dirty="0" err="1">
                <a:latin typeface="Arial" charset="0"/>
                <a:cs typeface="Arial" charset="0"/>
                <a:sym typeface="Symbol" charset="0"/>
              </a:rPr>
              <a:t></a:t>
            </a:r>
            <a:r>
              <a:rPr lang="en-US" altLang="ja-JP" baseline="-25000" dirty="0">
                <a:latin typeface="Arial" charset="0"/>
                <a:cs typeface="Arial" charset="0"/>
              </a:rPr>
              <a:t> </a:t>
            </a:r>
            <a:r>
              <a:rPr lang="en-US" altLang="ja-JP" baseline="-25000" dirty="0" err="1">
                <a:latin typeface="Arial" charset="0"/>
                <a:cs typeface="Arial" charset="0"/>
              </a:rPr>
              <a:t>pno</a:t>
            </a:r>
            <a:r>
              <a:rPr lang="en-US" altLang="ja-JP" baseline="-25000" dirty="0">
                <a:latin typeface="Arial" charset="0"/>
                <a:cs typeface="Arial" charset="0"/>
              </a:rPr>
              <a:t>=2 </a:t>
            </a:r>
            <a:r>
              <a:rPr lang="en-US" altLang="ja-JP" dirty="0">
                <a:latin typeface="Arial" charset="0"/>
                <a:cs typeface="Arial" charset="0"/>
              </a:rPr>
              <a:t>(</a:t>
            </a:r>
            <a:r>
              <a:rPr lang="en-US" altLang="ja-JP" sz="1800" dirty="0">
                <a:latin typeface="Arial" charset="0"/>
                <a:cs typeface="Arial" charset="0"/>
              </a:rPr>
              <a:t>Supplier       </a:t>
            </a:r>
            <a:r>
              <a:rPr lang="en-US" altLang="ja-JP" sz="1800" baseline="-25000" dirty="0" err="1">
                <a:latin typeface="Arial" charset="0"/>
                <a:cs typeface="Arial" charset="0"/>
              </a:rPr>
              <a:t>sid</a:t>
            </a:r>
            <a:r>
              <a:rPr lang="en-US" altLang="ja-JP" sz="1800" baseline="-25000" dirty="0">
                <a:latin typeface="Arial" charset="0"/>
                <a:cs typeface="Arial" charset="0"/>
              </a:rPr>
              <a:t> = </a:t>
            </a:r>
            <a:r>
              <a:rPr lang="en-US" altLang="ja-JP" sz="1800" baseline="-25000" dirty="0" err="1">
                <a:latin typeface="Arial" charset="0"/>
                <a:cs typeface="Arial" charset="0"/>
              </a:rPr>
              <a:t>sid</a:t>
            </a:r>
            <a:r>
              <a:rPr lang="en-US" altLang="ja-JP" sz="1800" baseline="-25000" dirty="0">
                <a:latin typeface="Arial" charset="0"/>
                <a:cs typeface="Arial" charset="0"/>
              </a:rPr>
              <a:t> </a:t>
            </a:r>
            <a:r>
              <a:rPr lang="en-US" altLang="ja-JP" sz="1800" dirty="0">
                <a:latin typeface="Arial" charset="0"/>
                <a:cs typeface="Arial" charset="0"/>
              </a:rPr>
              <a:t>Supply</a:t>
            </a:r>
            <a:r>
              <a:rPr lang="en-US" altLang="ja-JP" dirty="0">
                <a:latin typeface="Arial" charset="0"/>
                <a:cs typeface="Arial" charset="0"/>
              </a:rPr>
              <a:t>))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85800" y="2097088"/>
            <a:ext cx="3276600" cy="6461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88900" dir="2700000" algn="tl" rotWithShape="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sz="1800" dirty="0">
                <a:latin typeface="Calibri"/>
                <a:cs typeface="Calibri"/>
              </a:rPr>
              <a:t>Supplier(</a:t>
            </a:r>
            <a:r>
              <a:rPr lang="en-US" sz="1800" u="sng" dirty="0" err="1">
                <a:latin typeface="Calibri"/>
                <a:cs typeface="Calibri"/>
              </a:rPr>
              <a:t>sid</a:t>
            </a:r>
            <a:r>
              <a:rPr lang="en-US" sz="1800" dirty="0">
                <a:latin typeface="Calibri"/>
                <a:cs typeface="Calibri"/>
              </a:rPr>
              <a:t>, </a:t>
            </a:r>
            <a:r>
              <a:rPr lang="en-US" sz="1800" dirty="0" err="1">
                <a:latin typeface="Calibri"/>
                <a:cs typeface="Calibri"/>
              </a:rPr>
              <a:t>sname</a:t>
            </a:r>
            <a:r>
              <a:rPr lang="en-US" sz="1800" dirty="0">
                <a:latin typeface="Calibri"/>
                <a:cs typeface="Calibri"/>
              </a:rPr>
              <a:t>, </a:t>
            </a:r>
            <a:r>
              <a:rPr lang="en-US" sz="1800" dirty="0" err="1">
                <a:latin typeface="Calibri"/>
                <a:cs typeface="Calibri"/>
              </a:rPr>
              <a:t>scity</a:t>
            </a:r>
            <a:r>
              <a:rPr lang="en-US" sz="1800" dirty="0">
                <a:latin typeface="Calibri"/>
                <a:cs typeface="Calibri"/>
              </a:rPr>
              <a:t>, </a:t>
            </a:r>
            <a:r>
              <a:rPr lang="en-US" sz="1800" dirty="0" err="1">
                <a:latin typeface="Calibri"/>
                <a:cs typeface="Calibri"/>
              </a:rPr>
              <a:t>sstate</a:t>
            </a:r>
            <a:r>
              <a:rPr lang="en-US" sz="1800" dirty="0">
                <a:latin typeface="Calibri"/>
                <a:cs typeface="Calibri"/>
              </a:rPr>
              <a:t>)</a:t>
            </a:r>
          </a:p>
          <a:p>
            <a:pPr>
              <a:defRPr/>
            </a:pPr>
            <a:r>
              <a:rPr lang="en-US" sz="1800" dirty="0">
                <a:latin typeface="Calibri"/>
                <a:cs typeface="Calibri"/>
              </a:rPr>
              <a:t>Supply(</a:t>
            </a:r>
            <a:r>
              <a:rPr lang="en-US" sz="1800" u="sng" dirty="0" err="1">
                <a:latin typeface="Calibri"/>
                <a:cs typeface="Calibri"/>
              </a:rPr>
              <a:t>sid</a:t>
            </a:r>
            <a:r>
              <a:rPr lang="en-US" sz="1800" u="sng" dirty="0">
                <a:latin typeface="Calibri"/>
                <a:cs typeface="Calibri"/>
              </a:rPr>
              <a:t>, </a:t>
            </a:r>
            <a:r>
              <a:rPr lang="en-US" sz="1800" u="sng" dirty="0" err="1">
                <a:latin typeface="Calibri"/>
                <a:cs typeface="Calibri"/>
              </a:rPr>
              <a:t>pno</a:t>
            </a:r>
            <a:r>
              <a:rPr lang="en-US" sz="1800" dirty="0">
                <a:latin typeface="Calibri"/>
                <a:cs typeface="Calibri"/>
              </a:rPr>
              <a:t>, quantity)</a:t>
            </a:r>
          </a:p>
        </p:txBody>
      </p:sp>
    </p:spTree>
    <p:extLst>
      <p:ext uri="{BB962C8B-B14F-4D97-AF65-F5344CB8AC3E}">
        <p14:creationId xmlns:p14="http://schemas.microsoft.com/office/powerpoint/2010/main" val="2580390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479CA200-E989-7844-AEE3-47933F48B8B5}" type="slidenum">
              <a:rPr lang="en-US" sz="1400">
                <a:latin typeface="Arial" charset="0"/>
              </a:rPr>
              <a:pPr eaLnBrk="1" hangingPunct="1"/>
              <a:t>56</a:t>
            </a:fld>
            <a:endParaRPr lang="en-US" sz="1400">
              <a:latin typeface="Arial" charset="0"/>
            </a:endParaRPr>
          </a:p>
        </p:txBody>
      </p:sp>
      <p:sp>
        <p:nvSpPr>
          <p:cNvPr id="23554" name="Text Box 3"/>
          <p:cNvSpPr txBox="1">
            <a:spLocks noChangeArrowheads="1"/>
          </p:cNvSpPr>
          <p:nvPr/>
        </p:nvSpPr>
        <p:spPr bwMode="auto">
          <a:xfrm>
            <a:off x="4648200" y="5486400"/>
            <a:ext cx="1304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</a:rPr>
              <a:t>Supplier</a:t>
            </a:r>
          </a:p>
        </p:txBody>
      </p:sp>
      <p:sp>
        <p:nvSpPr>
          <p:cNvPr id="23555" name="Text Box 4"/>
          <p:cNvSpPr txBox="1">
            <a:spLocks noChangeArrowheads="1"/>
          </p:cNvSpPr>
          <p:nvPr/>
        </p:nvSpPr>
        <p:spPr bwMode="auto">
          <a:xfrm>
            <a:off x="6858000" y="5486400"/>
            <a:ext cx="111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</a:rPr>
              <a:t>Supply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867400" y="4419600"/>
            <a:ext cx="762000" cy="228600"/>
            <a:chOff x="480" y="4080"/>
            <a:chExt cx="96" cy="48"/>
          </a:xfrm>
        </p:grpSpPr>
        <p:sp>
          <p:nvSpPr>
            <p:cNvPr id="23566" name="Line 6"/>
            <p:cNvSpPr>
              <a:spLocks noChangeShapeType="1"/>
            </p:cNvSpPr>
            <p:nvPr/>
          </p:nvSpPr>
          <p:spPr bwMode="auto">
            <a:xfrm>
              <a:off x="480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7" name="Line 7"/>
            <p:cNvSpPr>
              <a:spLocks noChangeShapeType="1"/>
            </p:cNvSpPr>
            <p:nvPr/>
          </p:nvSpPr>
          <p:spPr bwMode="auto">
            <a:xfrm>
              <a:off x="576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8" name="Line 8"/>
            <p:cNvSpPr>
              <a:spLocks noChangeShapeType="1"/>
            </p:cNvSpPr>
            <p:nvPr/>
          </p:nvSpPr>
          <p:spPr bwMode="auto">
            <a:xfrm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9" name="Line 9"/>
            <p:cNvSpPr>
              <a:spLocks noChangeShapeType="1"/>
            </p:cNvSpPr>
            <p:nvPr/>
          </p:nvSpPr>
          <p:spPr bwMode="auto">
            <a:xfrm flipH="1"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557" name="Text Box 10"/>
          <p:cNvSpPr txBox="1">
            <a:spLocks noChangeArrowheads="1"/>
          </p:cNvSpPr>
          <p:nvPr/>
        </p:nvSpPr>
        <p:spPr bwMode="auto">
          <a:xfrm>
            <a:off x="6667500" y="4273550"/>
            <a:ext cx="9429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aseline="-25000">
                <a:latin typeface="Arial" charset="0"/>
                <a:cs typeface="Arial" charset="0"/>
              </a:rPr>
              <a:t>sid = sid</a:t>
            </a:r>
          </a:p>
        </p:txBody>
      </p:sp>
      <p:sp>
        <p:nvSpPr>
          <p:cNvPr id="23558" name="Line 11"/>
          <p:cNvSpPr>
            <a:spLocks noChangeShapeType="1"/>
          </p:cNvSpPr>
          <p:nvPr/>
        </p:nvSpPr>
        <p:spPr bwMode="auto">
          <a:xfrm flipV="1">
            <a:off x="5410200" y="48006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9" name="Line 12"/>
          <p:cNvSpPr>
            <a:spLocks noChangeShapeType="1"/>
          </p:cNvSpPr>
          <p:nvPr/>
        </p:nvSpPr>
        <p:spPr bwMode="auto">
          <a:xfrm>
            <a:off x="6705600" y="4800600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0" name="Line 13"/>
          <p:cNvSpPr>
            <a:spLocks noChangeShapeType="1"/>
          </p:cNvSpPr>
          <p:nvPr/>
        </p:nvSpPr>
        <p:spPr bwMode="auto">
          <a:xfrm>
            <a:off x="6232525" y="3657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1" name="Text Box 14"/>
          <p:cNvSpPr txBox="1">
            <a:spLocks noChangeArrowheads="1"/>
          </p:cNvSpPr>
          <p:nvPr/>
        </p:nvSpPr>
        <p:spPr bwMode="auto">
          <a:xfrm>
            <a:off x="4724400" y="3124200"/>
            <a:ext cx="4079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  <a:sym typeface="Symbol" charset="0"/>
              </a:rPr>
              <a:t></a:t>
            </a:r>
            <a:r>
              <a:rPr lang="en-US" baseline="-25000">
                <a:latin typeface="Arial" charset="0"/>
                <a:cs typeface="Arial" charset="0"/>
              </a:rPr>
              <a:t>scity=</a:t>
            </a:r>
            <a:r>
              <a:rPr lang="ja-JP" altLang="en-US" baseline="-25000">
                <a:latin typeface="Arial" charset="0"/>
                <a:cs typeface="Arial" charset="0"/>
              </a:rPr>
              <a:t>‘</a:t>
            </a:r>
            <a:r>
              <a:rPr lang="en-US" altLang="ja-JP" baseline="-25000">
                <a:latin typeface="Arial" charset="0"/>
                <a:cs typeface="Arial" charset="0"/>
              </a:rPr>
              <a:t>Seattle</a:t>
            </a:r>
            <a:r>
              <a:rPr lang="ja-JP" altLang="en-US" baseline="-25000">
                <a:latin typeface="Arial" charset="0"/>
                <a:cs typeface="Arial" charset="0"/>
              </a:rPr>
              <a:t>’</a:t>
            </a:r>
            <a:r>
              <a:rPr lang="en-US" altLang="ja-JP" baseline="-25000">
                <a:latin typeface="Arial" charset="0"/>
                <a:cs typeface="Arial" charset="0"/>
              </a:rPr>
              <a:t> </a:t>
            </a:r>
            <a:r>
              <a:rPr lang="en-US" altLang="ja-JP" baseline="-25000">
                <a:latin typeface="Arial" charset="0"/>
                <a:cs typeface="Arial" charset="0"/>
                <a:sym typeface="Symbol" charset="0"/>
              </a:rPr>
              <a:t> </a:t>
            </a:r>
            <a:r>
              <a:rPr lang="en-US" altLang="ja-JP" baseline="-25000">
                <a:latin typeface="Arial" charset="0"/>
                <a:cs typeface="Arial" charset="0"/>
              </a:rPr>
              <a:t>sstate=</a:t>
            </a:r>
            <a:r>
              <a:rPr lang="ja-JP" altLang="en-US" baseline="-25000">
                <a:latin typeface="Arial" charset="0"/>
                <a:cs typeface="Arial" charset="0"/>
              </a:rPr>
              <a:t>‘</a:t>
            </a:r>
            <a:r>
              <a:rPr lang="en-US" altLang="ja-JP" baseline="-25000">
                <a:latin typeface="Arial" charset="0"/>
                <a:cs typeface="Arial" charset="0"/>
              </a:rPr>
              <a:t>WA</a:t>
            </a:r>
            <a:r>
              <a:rPr lang="ja-JP" altLang="en-US" baseline="-25000">
                <a:latin typeface="Arial" charset="0"/>
                <a:cs typeface="Arial" charset="0"/>
              </a:rPr>
              <a:t>’</a:t>
            </a:r>
            <a:r>
              <a:rPr lang="en-US" altLang="ja-JP" baseline="-25000">
                <a:latin typeface="Arial" charset="0"/>
                <a:cs typeface="Arial" charset="0"/>
              </a:rPr>
              <a:t> </a:t>
            </a:r>
            <a:r>
              <a:rPr lang="en-US" altLang="ja-JP" baseline="-25000">
                <a:latin typeface="Arial" charset="0"/>
                <a:cs typeface="Arial" charset="0"/>
                <a:sym typeface="Symbol" charset="0"/>
              </a:rPr>
              <a:t></a:t>
            </a:r>
            <a:r>
              <a:rPr lang="en-US" altLang="ja-JP" baseline="-25000">
                <a:latin typeface="Arial" charset="0"/>
                <a:cs typeface="Arial" charset="0"/>
              </a:rPr>
              <a:t> pno=2</a:t>
            </a:r>
            <a:endParaRPr lang="en-US" baseline="-25000">
              <a:latin typeface="Arial" charset="0"/>
              <a:cs typeface="Arial" charset="0"/>
            </a:endParaRPr>
          </a:p>
        </p:txBody>
      </p:sp>
      <p:sp>
        <p:nvSpPr>
          <p:cNvPr id="23562" name="Text Box 15"/>
          <p:cNvSpPr txBox="1">
            <a:spLocks noChangeArrowheads="1"/>
          </p:cNvSpPr>
          <p:nvPr/>
        </p:nvSpPr>
        <p:spPr bwMode="auto">
          <a:xfrm>
            <a:off x="5649913" y="1905000"/>
            <a:ext cx="1036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  <a:sym typeface="Symbol" charset="0"/>
              </a:rPr>
              <a:t></a:t>
            </a:r>
            <a:r>
              <a:rPr lang="en-US" baseline="-25000">
                <a:latin typeface="Arial" charset="0"/>
                <a:cs typeface="Arial" charset="0"/>
              </a:rPr>
              <a:t>sname</a:t>
            </a:r>
          </a:p>
        </p:txBody>
      </p:sp>
      <p:sp>
        <p:nvSpPr>
          <p:cNvPr id="23563" name="Line 16"/>
          <p:cNvSpPr>
            <a:spLocks noChangeShapeType="1"/>
          </p:cNvSpPr>
          <p:nvPr/>
        </p:nvSpPr>
        <p:spPr bwMode="auto">
          <a:xfrm>
            <a:off x="6259513" y="2514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Relational Algebra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2057400"/>
            <a:ext cx="3276600" cy="6461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88900" dir="2700000" algn="tl" rotWithShape="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sz="1800" dirty="0">
                <a:latin typeface="Calibri"/>
                <a:cs typeface="Calibri"/>
              </a:rPr>
              <a:t>Supplier(</a:t>
            </a:r>
            <a:r>
              <a:rPr lang="en-US" sz="1800" u="sng" dirty="0" err="1">
                <a:latin typeface="Calibri"/>
                <a:cs typeface="Calibri"/>
              </a:rPr>
              <a:t>sid</a:t>
            </a:r>
            <a:r>
              <a:rPr lang="en-US" sz="1800" dirty="0">
                <a:latin typeface="Calibri"/>
                <a:cs typeface="Calibri"/>
              </a:rPr>
              <a:t>, </a:t>
            </a:r>
            <a:r>
              <a:rPr lang="en-US" sz="1800" dirty="0" err="1">
                <a:latin typeface="Calibri"/>
                <a:cs typeface="Calibri"/>
              </a:rPr>
              <a:t>sname</a:t>
            </a:r>
            <a:r>
              <a:rPr lang="en-US" sz="1800" dirty="0">
                <a:latin typeface="Calibri"/>
                <a:cs typeface="Calibri"/>
              </a:rPr>
              <a:t>, </a:t>
            </a:r>
            <a:r>
              <a:rPr lang="en-US" sz="1800" dirty="0" err="1">
                <a:latin typeface="Calibri"/>
                <a:cs typeface="Calibri"/>
              </a:rPr>
              <a:t>scity</a:t>
            </a:r>
            <a:r>
              <a:rPr lang="en-US" sz="1800" dirty="0">
                <a:latin typeface="Calibri"/>
                <a:cs typeface="Calibri"/>
              </a:rPr>
              <a:t>, </a:t>
            </a:r>
            <a:r>
              <a:rPr lang="en-US" sz="1800" dirty="0" err="1">
                <a:latin typeface="Calibri"/>
                <a:cs typeface="Calibri"/>
              </a:rPr>
              <a:t>sstate</a:t>
            </a:r>
            <a:r>
              <a:rPr lang="en-US" sz="1800" dirty="0">
                <a:latin typeface="Calibri"/>
                <a:cs typeface="Calibri"/>
              </a:rPr>
              <a:t>)</a:t>
            </a:r>
          </a:p>
          <a:p>
            <a:pPr>
              <a:defRPr/>
            </a:pPr>
            <a:r>
              <a:rPr lang="en-US" sz="1800" dirty="0">
                <a:latin typeface="Calibri"/>
                <a:cs typeface="Calibri"/>
              </a:rPr>
              <a:t>Supply(</a:t>
            </a:r>
            <a:r>
              <a:rPr lang="en-US" sz="1800" u="sng" dirty="0" err="1">
                <a:latin typeface="Calibri"/>
                <a:cs typeface="Calibri"/>
              </a:rPr>
              <a:t>sid</a:t>
            </a:r>
            <a:r>
              <a:rPr lang="en-US" sz="1800" u="sng" dirty="0">
                <a:latin typeface="Calibri"/>
                <a:cs typeface="Calibri"/>
              </a:rPr>
              <a:t>, </a:t>
            </a:r>
            <a:r>
              <a:rPr lang="en-US" sz="1800" u="sng" dirty="0" err="1">
                <a:latin typeface="Calibri"/>
                <a:cs typeface="Calibri"/>
              </a:rPr>
              <a:t>pno</a:t>
            </a:r>
            <a:r>
              <a:rPr lang="en-US" sz="1800" dirty="0">
                <a:latin typeface="Calibri"/>
                <a:cs typeface="Calibri"/>
              </a:rPr>
              <a:t>, quantity)</a:t>
            </a: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57200" y="3810000"/>
            <a:ext cx="3886200" cy="707886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 smtClean="0">
                <a:latin typeface="Calibri"/>
                <a:cs typeface="Calibri"/>
              </a:rPr>
              <a:t>Relational algebra expression is also called the “logical query plan”</a:t>
            </a:r>
            <a:endParaRPr lang="en-US"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63296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6DF4749D-7258-2D4B-956D-410BEE5D7BB1}" type="slidenum">
              <a:rPr lang="en-US" sz="1400">
                <a:latin typeface="Arial" charset="0"/>
              </a:rPr>
              <a:pPr eaLnBrk="1" hangingPunct="1"/>
              <a:t>57</a:t>
            </a:fld>
            <a:endParaRPr lang="en-US" sz="1400">
              <a:latin typeface="Arial" charset="0"/>
            </a:endParaRPr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Physical Query Plan 1</a:t>
            </a: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04800" y="5408613"/>
            <a:ext cx="1304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</a:rPr>
              <a:t>Supplier</a:t>
            </a: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3938588" y="5410200"/>
            <a:ext cx="111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</a:rPr>
              <a:t>Supply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530475" y="4191000"/>
            <a:ext cx="762000" cy="228600"/>
            <a:chOff x="480" y="4080"/>
            <a:chExt cx="96" cy="48"/>
          </a:xfrm>
        </p:grpSpPr>
        <p:sp>
          <p:nvSpPr>
            <p:cNvPr id="34840" name="Line 6"/>
            <p:cNvSpPr>
              <a:spLocks noChangeShapeType="1"/>
            </p:cNvSpPr>
            <p:nvPr/>
          </p:nvSpPr>
          <p:spPr bwMode="auto">
            <a:xfrm>
              <a:off x="480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1" name="Line 7"/>
            <p:cNvSpPr>
              <a:spLocks noChangeShapeType="1"/>
            </p:cNvSpPr>
            <p:nvPr/>
          </p:nvSpPr>
          <p:spPr bwMode="auto">
            <a:xfrm>
              <a:off x="576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2" name="Line 8"/>
            <p:cNvSpPr>
              <a:spLocks noChangeShapeType="1"/>
            </p:cNvSpPr>
            <p:nvPr/>
          </p:nvSpPr>
          <p:spPr bwMode="auto">
            <a:xfrm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3" name="Line 9"/>
            <p:cNvSpPr>
              <a:spLocks noChangeShapeType="1"/>
            </p:cNvSpPr>
            <p:nvPr/>
          </p:nvSpPr>
          <p:spPr bwMode="auto">
            <a:xfrm flipH="1"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4822" name="Text Box 10"/>
          <p:cNvSpPr txBox="1">
            <a:spLocks noChangeArrowheads="1"/>
          </p:cNvSpPr>
          <p:nvPr/>
        </p:nvSpPr>
        <p:spPr bwMode="auto">
          <a:xfrm>
            <a:off x="2268538" y="4267200"/>
            <a:ext cx="9350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aseline="-25000">
                <a:latin typeface="Arial" charset="0"/>
                <a:cs typeface="Arial" charset="0"/>
              </a:rPr>
              <a:t>sid = sid</a:t>
            </a:r>
          </a:p>
        </p:txBody>
      </p:sp>
      <p:sp>
        <p:nvSpPr>
          <p:cNvPr id="34823" name="Line 11"/>
          <p:cNvSpPr>
            <a:spLocks noChangeShapeType="1"/>
          </p:cNvSpPr>
          <p:nvPr/>
        </p:nvSpPr>
        <p:spPr bwMode="auto">
          <a:xfrm flipV="1">
            <a:off x="1066800" y="4800600"/>
            <a:ext cx="1219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4" name="Line 12"/>
          <p:cNvSpPr>
            <a:spLocks noChangeShapeType="1"/>
          </p:cNvSpPr>
          <p:nvPr/>
        </p:nvSpPr>
        <p:spPr bwMode="auto">
          <a:xfrm>
            <a:off x="3429000" y="4724400"/>
            <a:ext cx="1219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5" name="Line 13"/>
          <p:cNvSpPr>
            <a:spLocks noChangeShapeType="1"/>
          </p:cNvSpPr>
          <p:nvPr/>
        </p:nvSpPr>
        <p:spPr bwMode="auto">
          <a:xfrm>
            <a:off x="2895600" y="3429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6" name="Text Box 14"/>
          <p:cNvSpPr txBox="1">
            <a:spLocks noChangeArrowheads="1"/>
          </p:cNvSpPr>
          <p:nvPr/>
        </p:nvSpPr>
        <p:spPr bwMode="auto">
          <a:xfrm>
            <a:off x="609600" y="2895600"/>
            <a:ext cx="3754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  <a:sym typeface="Symbol" charset="0"/>
              </a:rPr>
              <a:t></a:t>
            </a:r>
            <a:r>
              <a:rPr lang="en-US" baseline="-25000">
                <a:latin typeface="Arial" charset="0"/>
                <a:cs typeface="Arial" charset="0"/>
              </a:rPr>
              <a:t>scity=</a:t>
            </a:r>
            <a:r>
              <a:rPr lang="ja-JP" altLang="en-US" baseline="-25000">
                <a:latin typeface="Arial" charset="0"/>
                <a:cs typeface="Arial" charset="0"/>
              </a:rPr>
              <a:t>‘</a:t>
            </a:r>
            <a:r>
              <a:rPr lang="en-US" altLang="ja-JP" baseline="-25000">
                <a:latin typeface="Arial" charset="0"/>
                <a:cs typeface="Arial" charset="0"/>
              </a:rPr>
              <a:t>Seattle</a:t>
            </a:r>
            <a:r>
              <a:rPr lang="ja-JP" altLang="en-US" baseline="-25000">
                <a:latin typeface="Arial" charset="0"/>
                <a:cs typeface="Arial" charset="0"/>
              </a:rPr>
              <a:t>’</a:t>
            </a:r>
            <a:r>
              <a:rPr lang="en-US" altLang="ja-JP" baseline="-25000">
                <a:latin typeface="Arial" charset="0"/>
                <a:cs typeface="Arial" charset="0"/>
              </a:rPr>
              <a:t> </a:t>
            </a:r>
            <a:r>
              <a:rPr lang="en-US" altLang="ja-JP" baseline="-25000">
                <a:latin typeface="Arial" charset="0"/>
                <a:cs typeface="Arial" charset="0"/>
                <a:sym typeface="Symbol" charset="0"/>
              </a:rPr>
              <a:t></a:t>
            </a:r>
            <a:r>
              <a:rPr lang="en-US" altLang="ja-JP" baseline="-25000">
                <a:latin typeface="Arial" charset="0"/>
                <a:cs typeface="Arial" charset="0"/>
              </a:rPr>
              <a:t>sstate=</a:t>
            </a:r>
            <a:r>
              <a:rPr lang="ja-JP" altLang="en-US" baseline="-25000">
                <a:latin typeface="Arial" charset="0"/>
                <a:cs typeface="Arial" charset="0"/>
              </a:rPr>
              <a:t>‘</a:t>
            </a:r>
            <a:r>
              <a:rPr lang="en-US" altLang="ja-JP" baseline="-25000">
                <a:latin typeface="Arial" charset="0"/>
                <a:cs typeface="Arial" charset="0"/>
              </a:rPr>
              <a:t>WA</a:t>
            </a:r>
            <a:r>
              <a:rPr lang="ja-JP" altLang="en-US" baseline="-25000">
                <a:latin typeface="Arial" charset="0"/>
                <a:cs typeface="Arial" charset="0"/>
              </a:rPr>
              <a:t>’</a:t>
            </a:r>
            <a:r>
              <a:rPr lang="en-US" altLang="ja-JP" baseline="-25000">
                <a:latin typeface="Arial" charset="0"/>
                <a:cs typeface="Arial" charset="0"/>
              </a:rPr>
              <a:t> </a:t>
            </a:r>
            <a:r>
              <a:rPr lang="en-US" altLang="ja-JP" baseline="-25000">
                <a:latin typeface="Arial" charset="0"/>
                <a:cs typeface="Arial" charset="0"/>
                <a:sym typeface="Symbol" charset="0"/>
              </a:rPr>
              <a:t></a:t>
            </a:r>
            <a:r>
              <a:rPr lang="en-US" altLang="ja-JP" baseline="-25000">
                <a:latin typeface="Arial" charset="0"/>
                <a:cs typeface="Arial" charset="0"/>
              </a:rPr>
              <a:t> pno=2</a:t>
            </a:r>
            <a:endParaRPr lang="en-US" baseline="-25000">
              <a:latin typeface="Arial" charset="0"/>
              <a:cs typeface="Arial" charset="0"/>
            </a:endParaRPr>
          </a:p>
        </p:txBody>
      </p:sp>
      <p:sp>
        <p:nvSpPr>
          <p:cNvPr id="34827" name="Text Box 15"/>
          <p:cNvSpPr txBox="1">
            <a:spLocks noChangeArrowheads="1"/>
          </p:cNvSpPr>
          <p:nvPr/>
        </p:nvSpPr>
        <p:spPr bwMode="auto">
          <a:xfrm>
            <a:off x="2312988" y="1676400"/>
            <a:ext cx="1036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  <a:sym typeface="Symbol" charset="0"/>
              </a:rPr>
              <a:t></a:t>
            </a:r>
            <a:r>
              <a:rPr lang="en-US" baseline="-25000">
                <a:latin typeface="Arial" charset="0"/>
                <a:cs typeface="Arial" charset="0"/>
              </a:rPr>
              <a:t>sname</a:t>
            </a:r>
          </a:p>
        </p:txBody>
      </p:sp>
      <p:sp>
        <p:nvSpPr>
          <p:cNvPr id="34828" name="Line 16"/>
          <p:cNvSpPr>
            <a:spLocks noChangeShapeType="1"/>
          </p:cNvSpPr>
          <p:nvPr/>
        </p:nvSpPr>
        <p:spPr bwMode="auto">
          <a:xfrm>
            <a:off x="2922588" y="2286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9" name="Text Box 17"/>
          <p:cNvSpPr txBox="1">
            <a:spLocks noChangeArrowheads="1"/>
          </p:cNvSpPr>
          <p:nvPr/>
        </p:nvSpPr>
        <p:spPr bwMode="auto">
          <a:xfrm>
            <a:off x="228600" y="5805488"/>
            <a:ext cx="1608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</a:rPr>
              <a:t>(</a:t>
            </a:r>
            <a:r>
              <a:rPr lang="en-US">
                <a:solidFill>
                  <a:srgbClr val="0000FF"/>
                </a:solidFill>
                <a:latin typeface="Arial" charset="0"/>
                <a:cs typeface="Arial" charset="0"/>
              </a:rPr>
              <a:t>File scan</a:t>
            </a:r>
            <a:r>
              <a:rPr lang="en-US">
                <a:latin typeface="Arial" charset="0"/>
                <a:cs typeface="Arial" charset="0"/>
              </a:rPr>
              <a:t>)</a:t>
            </a:r>
          </a:p>
        </p:txBody>
      </p:sp>
      <p:sp>
        <p:nvSpPr>
          <p:cNvPr id="34830" name="Text Box 18"/>
          <p:cNvSpPr txBox="1">
            <a:spLocks noChangeArrowheads="1"/>
          </p:cNvSpPr>
          <p:nvPr/>
        </p:nvSpPr>
        <p:spPr bwMode="auto">
          <a:xfrm>
            <a:off x="3886200" y="5791200"/>
            <a:ext cx="1608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</a:rPr>
              <a:t>(</a:t>
            </a:r>
            <a:r>
              <a:rPr lang="en-US">
                <a:solidFill>
                  <a:srgbClr val="0000FF"/>
                </a:solidFill>
                <a:latin typeface="Arial" charset="0"/>
                <a:cs typeface="Arial" charset="0"/>
              </a:rPr>
              <a:t>File scan</a:t>
            </a:r>
            <a:r>
              <a:rPr lang="en-US">
                <a:latin typeface="Arial" charset="0"/>
                <a:cs typeface="Arial" charset="0"/>
              </a:rPr>
              <a:t>)</a:t>
            </a:r>
          </a:p>
        </p:txBody>
      </p:sp>
      <p:sp>
        <p:nvSpPr>
          <p:cNvPr id="34831" name="Text Box 19"/>
          <p:cNvSpPr txBox="1">
            <a:spLocks noChangeArrowheads="1"/>
          </p:cNvSpPr>
          <p:nvPr/>
        </p:nvSpPr>
        <p:spPr bwMode="auto">
          <a:xfrm>
            <a:off x="0" y="3733800"/>
            <a:ext cx="2813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</a:rPr>
              <a:t>(</a:t>
            </a:r>
            <a:r>
              <a:rPr lang="en-US">
                <a:solidFill>
                  <a:srgbClr val="0000FF"/>
                </a:solidFill>
                <a:latin typeface="Arial" charset="0"/>
                <a:cs typeface="Arial" charset="0"/>
              </a:rPr>
              <a:t>Block-nested loop</a:t>
            </a:r>
            <a:r>
              <a:rPr lang="en-US">
                <a:latin typeface="Arial" charset="0"/>
                <a:cs typeface="Arial" charset="0"/>
              </a:rPr>
              <a:t>)</a:t>
            </a:r>
          </a:p>
        </p:txBody>
      </p:sp>
      <p:sp>
        <p:nvSpPr>
          <p:cNvPr id="34832" name="Text Box 20"/>
          <p:cNvSpPr txBox="1">
            <a:spLocks noChangeArrowheads="1"/>
          </p:cNvSpPr>
          <p:nvPr/>
        </p:nvSpPr>
        <p:spPr bwMode="auto">
          <a:xfrm>
            <a:off x="4763" y="2514600"/>
            <a:ext cx="169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</a:rPr>
              <a:t>(</a:t>
            </a:r>
            <a:r>
              <a:rPr lang="en-US">
                <a:solidFill>
                  <a:srgbClr val="0000FF"/>
                </a:solidFill>
                <a:latin typeface="Arial" charset="0"/>
                <a:cs typeface="Arial" charset="0"/>
              </a:rPr>
              <a:t>On the fly</a:t>
            </a:r>
            <a:r>
              <a:rPr lang="en-US">
                <a:latin typeface="Arial" charset="0"/>
                <a:cs typeface="Arial" charset="0"/>
              </a:rPr>
              <a:t>)</a:t>
            </a:r>
          </a:p>
        </p:txBody>
      </p:sp>
      <p:sp>
        <p:nvSpPr>
          <p:cNvPr id="34833" name="Text Box 21"/>
          <p:cNvSpPr txBox="1">
            <a:spLocks noChangeArrowheads="1"/>
          </p:cNvSpPr>
          <p:nvPr/>
        </p:nvSpPr>
        <p:spPr bwMode="auto">
          <a:xfrm>
            <a:off x="0" y="1676400"/>
            <a:ext cx="169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</a:rPr>
              <a:t>(</a:t>
            </a:r>
            <a:r>
              <a:rPr lang="en-US">
                <a:solidFill>
                  <a:srgbClr val="0000FF"/>
                </a:solidFill>
                <a:latin typeface="Arial" charset="0"/>
                <a:cs typeface="Arial" charset="0"/>
              </a:rPr>
              <a:t>On the fly</a:t>
            </a:r>
            <a:r>
              <a:rPr lang="en-US">
                <a:latin typeface="Arial" charset="0"/>
                <a:cs typeface="Arial" charset="0"/>
              </a:rPr>
              <a:t>)</a:t>
            </a:r>
          </a:p>
        </p:txBody>
      </p:sp>
      <p:sp>
        <p:nvSpPr>
          <p:cNvPr id="3483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>
                <a:latin typeface="Arial" charset="0"/>
              </a:rPr>
              <a:t>Magda Balazinska - CSE 344, Fall 2012</a:t>
            </a:r>
            <a:endParaRPr lang="en-US" sz="1400">
              <a:latin typeface="Arial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876800" y="2057400"/>
            <a:ext cx="3886200" cy="1015663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 smtClean="0">
                <a:latin typeface="Calibri"/>
                <a:cs typeface="Calibri"/>
              </a:rPr>
              <a:t>A physical query plan is a logical query plan annotated with physical implementation details</a:t>
            </a:r>
            <a:endParaRPr lang="en-US"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49318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7E962CB4-C691-0248-B418-6A00AEBB46A1}" type="slidenum">
              <a:rPr lang="en-US" sz="1400">
                <a:latin typeface="Arial" charset="0"/>
              </a:rPr>
              <a:pPr eaLnBrk="1" hangingPunct="1"/>
              <a:t>58</a:t>
            </a:fld>
            <a:endParaRPr lang="en-US" sz="1400">
              <a:latin typeface="Arial" charset="0"/>
            </a:endParaRPr>
          </a:p>
        </p:txBody>
      </p:sp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1273175" y="5256213"/>
            <a:ext cx="1304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</a:rPr>
              <a:t>Supplier</a:t>
            </a: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4162425" y="5319713"/>
            <a:ext cx="111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</a:rPr>
              <a:t>Supply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082925" y="3048000"/>
            <a:ext cx="762000" cy="228600"/>
            <a:chOff x="480" y="4080"/>
            <a:chExt cx="96" cy="48"/>
          </a:xfrm>
        </p:grpSpPr>
        <p:sp>
          <p:nvSpPr>
            <p:cNvPr id="36893" name="Line 5"/>
            <p:cNvSpPr>
              <a:spLocks noChangeShapeType="1"/>
            </p:cNvSpPr>
            <p:nvPr/>
          </p:nvSpPr>
          <p:spPr bwMode="auto">
            <a:xfrm>
              <a:off x="480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4" name="Line 6"/>
            <p:cNvSpPr>
              <a:spLocks noChangeShapeType="1"/>
            </p:cNvSpPr>
            <p:nvPr/>
          </p:nvSpPr>
          <p:spPr bwMode="auto">
            <a:xfrm>
              <a:off x="576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5" name="Line 7"/>
            <p:cNvSpPr>
              <a:spLocks noChangeShapeType="1"/>
            </p:cNvSpPr>
            <p:nvPr/>
          </p:nvSpPr>
          <p:spPr bwMode="auto">
            <a:xfrm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6" name="Line 8"/>
            <p:cNvSpPr>
              <a:spLocks noChangeShapeType="1"/>
            </p:cNvSpPr>
            <p:nvPr/>
          </p:nvSpPr>
          <p:spPr bwMode="auto">
            <a:xfrm flipH="1"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6869" name="Text Box 9"/>
          <p:cNvSpPr txBox="1">
            <a:spLocks noChangeArrowheads="1"/>
          </p:cNvSpPr>
          <p:nvPr/>
        </p:nvSpPr>
        <p:spPr bwMode="auto">
          <a:xfrm>
            <a:off x="2820988" y="3124200"/>
            <a:ext cx="9350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aseline="-25000">
                <a:latin typeface="Arial" charset="0"/>
                <a:cs typeface="Arial" charset="0"/>
              </a:rPr>
              <a:t>sid = sid</a:t>
            </a:r>
          </a:p>
        </p:txBody>
      </p:sp>
      <p:sp>
        <p:nvSpPr>
          <p:cNvPr id="36870" name="Line 10"/>
          <p:cNvSpPr>
            <a:spLocks noChangeShapeType="1"/>
          </p:cNvSpPr>
          <p:nvPr/>
        </p:nvSpPr>
        <p:spPr bwMode="auto">
          <a:xfrm flipV="1">
            <a:off x="1906588" y="3657600"/>
            <a:ext cx="1219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1" name="Line 11"/>
          <p:cNvSpPr>
            <a:spLocks noChangeShapeType="1"/>
          </p:cNvSpPr>
          <p:nvPr/>
        </p:nvSpPr>
        <p:spPr bwMode="auto">
          <a:xfrm>
            <a:off x="3735388" y="3657600"/>
            <a:ext cx="1219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Line 12"/>
          <p:cNvSpPr>
            <a:spLocks noChangeShapeType="1"/>
          </p:cNvSpPr>
          <p:nvPr/>
        </p:nvSpPr>
        <p:spPr bwMode="auto">
          <a:xfrm>
            <a:off x="2057400" y="4876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3" name="Text Box 13"/>
          <p:cNvSpPr txBox="1">
            <a:spLocks noChangeArrowheads="1"/>
          </p:cNvSpPr>
          <p:nvPr/>
        </p:nvSpPr>
        <p:spPr bwMode="auto">
          <a:xfrm>
            <a:off x="228600" y="4267200"/>
            <a:ext cx="36560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  <a:sym typeface="Symbol" charset="0"/>
              </a:rPr>
              <a:t>a</a:t>
            </a:r>
            <a:r>
              <a:rPr lang="en-US" baseline="-25000">
                <a:latin typeface="Arial" charset="0"/>
                <a:cs typeface="Arial" charset="0"/>
              </a:rPr>
              <a:t>scity=</a:t>
            </a:r>
            <a:r>
              <a:rPr lang="ja-JP" altLang="en-US" baseline="-25000">
                <a:latin typeface="Arial" charset="0"/>
                <a:cs typeface="Arial" charset="0"/>
              </a:rPr>
              <a:t>‘</a:t>
            </a:r>
            <a:r>
              <a:rPr lang="en-US" altLang="ja-JP" baseline="-25000">
                <a:latin typeface="Arial" charset="0"/>
                <a:cs typeface="Arial" charset="0"/>
              </a:rPr>
              <a:t>Seattle</a:t>
            </a:r>
            <a:r>
              <a:rPr lang="ja-JP" altLang="en-US" baseline="-25000">
                <a:latin typeface="Arial" charset="0"/>
                <a:cs typeface="Arial" charset="0"/>
              </a:rPr>
              <a:t>’</a:t>
            </a:r>
            <a:r>
              <a:rPr lang="en-US" altLang="ja-JP" baseline="-25000">
                <a:latin typeface="Arial" charset="0"/>
                <a:cs typeface="Arial" charset="0"/>
              </a:rPr>
              <a:t> </a:t>
            </a:r>
            <a:r>
              <a:rPr lang="en-US" altLang="ja-JP" baseline="-25000">
                <a:latin typeface="Arial" charset="0"/>
                <a:cs typeface="Arial" charset="0"/>
                <a:sym typeface="Symbol" charset="0"/>
              </a:rPr>
              <a:t></a:t>
            </a:r>
            <a:r>
              <a:rPr lang="en-US" altLang="ja-JP" baseline="-25000">
                <a:latin typeface="Arial" charset="0"/>
                <a:cs typeface="Arial" charset="0"/>
              </a:rPr>
              <a:t>sstate=</a:t>
            </a:r>
            <a:r>
              <a:rPr lang="ja-JP" altLang="en-US" baseline="-25000">
                <a:latin typeface="Arial" charset="0"/>
                <a:cs typeface="Arial" charset="0"/>
              </a:rPr>
              <a:t>‘</a:t>
            </a:r>
            <a:r>
              <a:rPr lang="en-US" altLang="ja-JP" baseline="-25000">
                <a:latin typeface="Arial" charset="0"/>
                <a:cs typeface="Arial" charset="0"/>
              </a:rPr>
              <a:t>WA</a:t>
            </a:r>
            <a:r>
              <a:rPr lang="ja-JP" altLang="en-US" baseline="-25000">
                <a:latin typeface="Arial" charset="0"/>
                <a:cs typeface="Arial" charset="0"/>
              </a:rPr>
              <a:t>’</a:t>
            </a:r>
            <a:endParaRPr lang="en-US" baseline="-25000">
              <a:latin typeface="Arial" charset="0"/>
              <a:cs typeface="Arial" charset="0"/>
            </a:endParaRPr>
          </a:p>
        </p:txBody>
      </p:sp>
      <p:sp>
        <p:nvSpPr>
          <p:cNvPr id="36874" name="Text Box 14"/>
          <p:cNvSpPr txBox="1">
            <a:spLocks noChangeArrowheads="1"/>
          </p:cNvSpPr>
          <p:nvPr/>
        </p:nvSpPr>
        <p:spPr bwMode="auto">
          <a:xfrm>
            <a:off x="2832100" y="1676400"/>
            <a:ext cx="1036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  <a:sym typeface="Symbol" charset="0"/>
              </a:rPr>
              <a:t></a:t>
            </a:r>
            <a:r>
              <a:rPr lang="en-US" baseline="-25000">
                <a:latin typeface="Arial" charset="0"/>
                <a:cs typeface="Arial" charset="0"/>
              </a:rPr>
              <a:t>sname</a:t>
            </a:r>
          </a:p>
        </p:txBody>
      </p:sp>
      <p:sp>
        <p:nvSpPr>
          <p:cNvPr id="36875" name="Line 15"/>
          <p:cNvSpPr>
            <a:spLocks noChangeShapeType="1"/>
          </p:cNvSpPr>
          <p:nvPr/>
        </p:nvSpPr>
        <p:spPr bwMode="auto">
          <a:xfrm>
            <a:off x="3441700" y="2286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6" name="Text Box 16"/>
          <p:cNvSpPr txBox="1">
            <a:spLocks noChangeArrowheads="1"/>
          </p:cNvSpPr>
          <p:nvPr/>
        </p:nvSpPr>
        <p:spPr bwMode="auto">
          <a:xfrm>
            <a:off x="1196975" y="5653088"/>
            <a:ext cx="1608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</a:rPr>
              <a:t>(</a:t>
            </a:r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</a:rPr>
              <a:t>File scan</a:t>
            </a:r>
            <a:r>
              <a:rPr lang="en-US">
                <a:latin typeface="Arial" charset="0"/>
                <a:cs typeface="Arial" charset="0"/>
              </a:rPr>
              <a:t>)</a:t>
            </a:r>
          </a:p>
        </p:txBody>
      </p:sp>
      <p:sp>
        <p:nvSpPr>
          <p:cNvPr id="36877" name="Text Box 17"/>
          <p:cNvSpPr txBox="1">
            <a:spLocks noChangeArrowheads="1"/>
          </p:cNvSpPr>
          <p:nvPr/>
        </p:nvSpPr>
        <p:spPr bwMode="auto">
          <a:xfrm>
            <a:off x="4110038" y="5715000"/>
            <a:ext cx="1608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</a:rPr>
              <a:t>(</a:t>
            </a:r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</a:rPr>
              <a:t>File scan</a:t>
            </a:r>
            <a:r>
              <a:rPr lang="en-US">
                <a:latin typeface="Arial" charset="0"/>
                <a:cs typeface="Arial" charset="0"/>
              </a:rPr>
              <a:t>)</a:t>
            </a:r>
          </a:p>
        </p:txBody>
      </p:sp>
      <p:sp>
        <p:nvSpPr>
          <p:cNvPr id="36878" name="Text Box 18"/>
          <p:cNvSpPr txBox="1">
            <a:spLocks noChangeArrowheads="1"/>
          </p:cNvSpPr>
          <p:nvPr/>
        </p:nvSpPr>
        <p:spPr bwMode="auto">
          <a:xfrm>
            <a:off x="76200" y="2868613"/>
            <a:ext cx="2473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</a:rPr>
              <a:t>(</a:t>
            </a:r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</a:rPr>
              <a:t>Sort-merge join</a:t>
            </a:r>
            <a:r>
              <a:rPr lang="en-US">
                <a:latin typeface="Arial" charset="0"/>
                <a:cs typeface="Arial" charset="0"/>
              </a:rPr>
              <a:t>)</a:t>
            </a:r>
          </a:p>
        </p:txBody>
      </p:sp>
      <p:sp>
        <p:nvSpPr>
          <p:cNvPr id="36879" name="Text Box 19"/>
          <p:cNvSpPr txBox="1">
            <a:spLocks noChangeArrowheads="1"/>
          </p:cNvSpPr>
          <p:nvPr/>
        </p:nvSpPr>
        <p:spPr bwMode="auto">
          <a:xfrm>
            <a:off x="5181600" y="3810000"/>
            <a:ext cx="17081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</a:rPr>
              <a:t>(</a:t>
            </a:r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</a:rPr>
              <a:t>Scan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</a:rPr>
              <a:t>write to T2</a:t>
            </a:r>
            <a:r>
              <a:rPr lang="en-US">
                <a:latin typeface="Arial" charset="0"/>
                <a:cs typeface="Arial" charset="0"/>
              </a:rPr>
              <a:t>)</a:t>
            </a:r>
          </a:p>
        </p:txBody>
      </p:sp>
      <p:sp>
        <p:nvSpPr>
          <p:cNvPr id="36880" name="Text Box 20"/>
          <p:cNvSpPr txBox="1">
            <a:spLocks noChangeArrowheads="1"/>
          </p:cNvSpPr>
          <p:nvPr/>
        </p:nvSpPr>
        <p:spPr bwMode="auto">
          <a:xfrm>
            <a:off x="76200" y="1725613"/>
            <a:ext cx="169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</a:rPr>
              <a:t>(</a:t>
            </a:r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</a:rPr>
              <a:t>On the fly</a:t>
            </a:r>
            <a:r>
              <a:rPr lang="en-US">
                <a:latin typeface="Arial" charset="0"/>
                <a:cs typeface="Arial" charset="0"/>
              </a:rPr>
              <a:t>)</a:t>
            </a:r>
          </a:p>
        </p:txBody>
      </p:sp>
      <p:sp>
        <p:nvSpPr>
          <p:cNvPr id="36881" name="Text Box 21"/>
          <p:cNvSpPr txBox="1">
            <a:spLocks noChangeArrowheads="1"/>
          </p:cNvSpPr>
          <p:nvPr/>
        </p:nvSpPr>
        <p:spPr bwMode="auto">
          <a:xfrm>
            <a:off x="4267200" y="4343400"/>
            <a:ext cx="1457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  <a:sym typeface="Symbol" charset="0"/>
              </a:rPr>
              <a:t>b</a:t>
            </a:r>
            <a:r>
              <a:rPr lang="en-US" baseline="-25000">
                <a:latin typeface="Arial" charset="0"/>
                <a:cs typeface="Arial" charset="0"/>
              </a:rPr>
              <a:t> pno=2</a:t>
            </a:r>
          </a:p>
        </p:txBody>
      </p:sp>
      <p:sp>
        <p:nvSpPr>
          <p:cNvPr id="36882" name="Line 22"/>
          <p:cNvSpPr>
            <a:spLocks noChangeShapeType="1"/>
          </p:cNvSpPr>
          <p:nvPr/>
        </p:nvSpPr>
        <p:spPr bwMode="auto">
          <a:xfrm>
            <a:off x="4894263" y="4938713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83" name="Text Box 23"/>
          <p:cNvSpPr txBox="1">
            <a:spLocks noChangeArrowheads="1"/>
          </p:cNvSpPr>
          <p:nvPr/>
        </p:nvSpPr>
        <p:spPr bwMode="auto">
          <a:xfrm>
            <a:off x="76200" y="3505200"/>
            <a:ext cx="17922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</a:rPr>
              <a:t>(</a:t>
            </a:r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</a:rPr>
              <a:t>Scan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</a:rPr>
              <a:t> write to T1</a:t>
            </a:r>
            <a:r>
              <a:rPr lang="en-US">
                <a:latin typeface="Arial" charset="0"/>
                <a:cs typeface="Arial" charset="0"/>
              </a:rPr>
              <a:t>)</a:t>
            </a:r>
          </a:p>
        </p:txBody>
      </p:sp>
      <p:sp>
        <p:nvSpPr>
          <p:cNvPr id="36884" name="Rectangle 24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610600" cy="1143000"/>
          </a:xfrm>
        </p:spPr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Physical Query Plan 2</a:t>
            </a:r>
          </a:p>
        </p:txBody>
      </p:sp>
      <p:sp>
        <p:nvSpPr>
          <p:cNvPr id="36886" name="Text Box 27"/>
          <p:cNvSpPr txBox="1">
            <a:spLocks noChangeArrowheads="1"/>
          </p:cNvSpPr>
          <p:nvPr/>
        </p:nvSpPr>
        <p:spPr bwMode="auto">
          <a:xfrm>
            <a:off x="3962400" y="2819400"/>
            <a:ext cx="5429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  <a:sym typeface="Symbol" charset="0"/>
              </a:rPr>
              <a:t>c</a:t>
            </a:r>
            <a:endParaRPr lang="en-US" baseline="-25000">
              <a:latin typeface="Arial" charset="0"/>
              <a:cs typeface="Arial" charset="0"/>
            </a:endParaRPr>
          </a:p>
        </p:txBody>
      </p:sp>
      <p:sp>
        <p:nvSpPr>
          <p:cNvPr id="36887" name="Text Box 28"/>
          <p:cNvSpPr txBox="1">
            <a:spLocks noChangeArrowheads="1"/>
          </p:cNvSpPr>
          <p:nvPr/>
        </p:nvSpPr>
        <p:spPr bwMode="auto">
          <a:xfrm>
            <a:off x="3962400" y="1676400"/>
            <a:ext cx="5603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  <a:sym typeface="Symbol" charset="0"/>
              </a:rPr>
              <a:t>d</a:t>
            </a:r>
            <a:endParaRPr lang="en-US" baseline="-25000">
              <a:latin typeface="Arial" charset="0"/>
              <a:cs typeface="Arial" charset="0"/>
            </a:endParaRPr>
          </a:p>
        </p:txBody>
      </p:sp>
      <p:sp>
        <p:nvSpPr>
          <p:cNvPr id="368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>
                <a:latin typeface="Arial" charset="0"/>
              </a:rPr>
              <a:t>Magda Balazinska - CSE 344, Fall 2012</a:t>
            </a:r>
            <a:endParaRPr lang="en-US" sz="14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53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ext Box 2"/>
          <p:cNvSpPr txBox="1">
            <a:spLocks noChangeArrowheads="1"/>
          </p:cNvSpPr>
          <p:nvPr/>
        </p:nvSpPr>
        <p:spPr bwMode="auto">
          <a:xfrm>
            <a:off x="1425575" y="5500688"/>
            <a:ext cx="111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</a:rPr>
              <a:t>Supply</a:t>
            </a:r>
          </a:p>
        </p:txBody>
      </p:sp>
      <p:sp>
        <p:nvSpPr>
          <p:cNvPr id="38914" name="Text Box 3"/>
          <p:cNvSpPr txBox="1">
            <a:spLocks noChangeArrowheads="1"/>
          </p:cNvSpPr>
          <p:nvPr/>
        </p:nvSpPr>
        <p:spPr bwMode="auto">
          <a:xfrm>
            <a:off x="4314825" y="5410200"/>
            <a:ext cx="1304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</a:rPr>
              <a:t>Supplier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005138" y="3581400"/>
            <a:ext cx="762000" cy="228600"/>
            <a:chOff x="480" y="4080"/>
            <a:chExt cx="96" cy="48"/>
          </a:xfrm>
        </p:grpSpPr>
        <p:sp>
          <p:nvSpPr>
            <p:cNvPr id="38942" name="Line 5"/>
            <p:cNvSpPr>
              <a:spLocks noChangeShapeType="1"/>
            </p:cNvSpPr>
            <p:nvPr/>
          </p:nvSpPr>
          <p:spPr bwMode="auto">
            <a:xfrm>
              <a:off x="480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3" name="Line 6"/>
            <p:cNvSpPr>
              <a:spLocks noChangeShapeType="1"/>
            </p:cNvSpPr>
            <p:nvPr/>
          </p:nvSpPr>
          <p:spPr bwMode="auto">
            <a:xfrm>
              <a:off x="576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4" name="Line 7"/>
            <p:cNvSpPr>
              <a:spLocks noChangeShapeType="1"/>
            </p:cNvSpPr>
            <p:nvPr/>
          </p:nvSpPr>
          <p:spPr bwMode="auto">
            <a:xfrm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5" name="Line 8"/>
            <p:cNvSpPr>
              <a:spLocks noChangeShapeType="1"/>
            </p:cNvSpPr>
            <p:nvPr/>
          </p:nvSpPr>
          <p:spPr bwMode="auto">
            <a:xfrm flipH="1"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8916" name="Text Box 9"/>
          <p:cNvSpPr txBox="1">
            <a:spLocks noChangeArrowheads="1"/>
          </p:cNvSpPr>
          <p:nvPr/>
        </p:nvSpPr>
        <p:spPr bwMode="auto">
          <a:xfrm>
            <a:off x="2743200" y="3657600"/>
            <a:ext cx="9350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aseline="-25000">
                <a:latin typeface="Arial" charset="0"/>
                <a:cs typeface="Arial" charset="0"/>
              </a:rPr>
              <a:t>sid = sid</a:t>
            </a:r>
          </a:p>
        </p:txBody>
      </p:sp>
      <p:sp>
        <p:nvSpPr>
          <p:cNvPr id="38917" name="Line 10"/>
          <p:cNvSpPr>
            <a:spLocks noChangeShapeType="1"/>
          </p:cNvSpPr>
          <p:nvPr/>
        </p:nvSpPr>
        <p:spPr bwMode="auto">
          <a:xfrm flipV="1">
            <a:off x="2286000" y="40386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8" name="Line 11"/>
          <p:cNvSpPr>
            <a:spLocks noChangeShapeType="1"/>
          </p:cNvSpPr>
          <p:nvPr/>
        </p:nvSpPr>
        <p:spPr bwMode="auto">
          <a:xfrm>
            <a:off x="3810000" y="4038600"/>
            <a:ext cx="10668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9" name="Line 12"/>
          <p:cNvSpPr>
            <a:spLocks noChangeShapeType="1"/>
          </p:cNvSpPr>
          <p:nvPr/>
        </p:nvSpPr>
        <p:spPr bwMode="auto">
          <a:xfrm>
            <a:off x="2133600" y="5105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0" name="Text Box 13"/>
          <p:cNvSpPr txBox="1">
            <a:spLocks noChangeArrowheads="1"/>
          </p:cNvSpPr>
          <p:nvPr/>
        </p:nvSpPr>
        <p:spPr bwMode="auto">
          <a:xfrm>
            <a:off x="1643063" y="2376488"/>
            <a:ext cx="29479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  <a:sym typeface="Symbol" charset="0"/>
              </a:rPr>
              <a:t></a:t>
            </a:r>
            <a:r>
              <a:rPr lang="en-US" baseline="-25000">
                <a:latin typeface="Arial" charset="0"/>
                <a:cs typeface="Arial" charset="0"/>
              </a:rPr>
              <a:t>scity=</a:t>
            </a:r>
            <a:r>
              <a:rPr lang="ja-JP" altLang="en-US" baseline="-25000">
                <a:latin typeface="Arial" charset="0"/>
                <a:cs typeface="Arial" charset="0"/>
              </a:rPr>
              <a:t>‘</a:t>
            </a:r>
            <a:r>
              <a:rPr lang="en-US" altLang="ja-JP" baseline="-25000">
                <a:latin typeface="Arial" charset="0"/>
                <a:cs typeface="Arial" charset="0"/>
              </a:rPr>
              <a:t>Seattle</a:t>
            </a:r>
            <a:r>
              <a:rPr lang="ja-JP" altLang="en-US" baseline="-25000">
                <a:latin typeface="Arial" charset="0"/>
                <a:cs typeface="Arial" charset="0"/>
              </a:rPr>
              <a:t>’</a:t>
            </a:r>
            <a:r>
              <a:rPr lang="en-US" altLang="ja-JP" baseline="-25000">
                <a:latin typeface="Arial" charset="0"/>
                <a:cs typeface="Arial" charset="0"/>
              </a:rPr>
              <a:t> </a:t>
            </a:r>
            <a:r>
              <a:rPr lang="en-US" altLang="ja-JP" baseline="-25000">
                <a:latin typeface="Arial" charset="0"/>
                <a:cs typeface="Arial" charset="0"/>
                <a:sym typeface="Symbol" charset="0"/>
              </a:rPr>
              <a:t></a:t>
            </a:r>
            <a:r>
              <a:rPr lang="en-US" altLang="ja-JP" baseline="-25000">
                <a:latin typeface="Arial" charset="0"/>
                <a:cs typeface="Arial" charset="0"/>
              </a:rPr>
              <a:t>sstate=</a:t>
            </a:r>
            <a:r>
              <a:rPr lang="ja-JP" altLang="en-US" baseline="-25000">
                <a:latin typeface="Arial" charset="0"/>
                <a:cs typeface="Arial" charset="0"/>
              </a:rPr>
              <a:t>‘</a:t>
            </a:r>
            <a:r>
              <a:rPr lang="en-US" altLang="ja-JP" baseline="-25000">
                <a:latin typeface="Arial" charset="0"/>
                <a:cs typeface="Arial" charset="0"/>
              </a:rPr>
              <a:t>WA</a:t>
            </a:r>
            <a:r>
              <a:rPr lang="ja-JP" altLang="en-US" baseline="-25000">
                <a:latin typeface="Arial" charset="0"/>
                <a:cs typeface="Arial" charset="0"/>
              </a:rPr>
              <a:t>’</a:t>
            </a:r>
            <a:endParaRPr lang="en-US" baseline="-25000">
              <a:latin typeface="Arial" charset="0"/>
              <a:cs typeface="Arial" charset="0"/>
            </a:endParaRPr>
          </a:p>
        </p:txBody>
      </p:sp>
      <p:sp>
        <p:nvSpPr>
          <p:cNvPr id="38921" name="Text Box 14"/>
          <p:cNvSpPr txBox="1">
            <a:spLocks noChangeArrowheads="1"/>
          </p:cNvSpPr>
          <p:nvPr/>
        </p:nvSpPr>
        <p:spPr bwMode="auto">
          <a:xfrm>
            <a:off x="2601913" y="1371600"/>
            <a:ext cx="1036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  <a:sym typeface="Symbol" charset="0"/>
              </a:rPr>
              <a:t></a:t>
            </a:r>
            <a:r>
              <a:rPr lang="en-US" baseline="-25000">
                <a:latin typeface="Arial" charset="0"/>
                <a:cs typeface="Arial" charset="0"/>
              </a:rPr>
              <a:t>sname</a:t>
            </a:r>
          </a:p>
        </p:txBody>
      </p:sp>
      <p:sp>
        <p:nvSpPr>
          <p:cNvPr id="38922" name="Line 15"/>
          <p:cNvSpPr>
            <a:spLocks noChangeShapeType="1"/>
          </p:cNvSpPr>
          <p:nvPr/>
        </p:nvSpPr>
        <p:spPr bwMode="auto">
          <a:xfrm>
            <a:off x="3352800" y="3048000"/>
            <a:ext cx="11113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3" name="Text Box 18"/>
          <p:cNvSpPr txBox="1">
            <a:spLocks noChangeArrowheads="1"/>
          </p:cNvSpPr>
          <p:nvPr/>
        </p:nvSpPr>
        <p:spPr bwMode="auto">
          <a:xfrm>
            <a:off x="3962400" y="3581400"/>
            <a:ext cx="2795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</a:rPr>
              <a:t>(</a:t>
            </a:r>
            <a:r>
              <a:rPr lang="en-US">
                <a:solidFill>
                  <a:srgbClr val="339933"/>
                </a:solidFill>
                <a:latin typeface="Arial" charset="0"/>
                <a:cs typeface="Arial" charset="0"/>
              </a:rPr>
              <a:t>Index nested loop</a:t>
            </a:r>
            <a:r>
              <a:rPr lang="en-US">
                <a:latin typeface="Arial" charset="0"/>
                <a:cs typeface="Arial" charset="0"/>
              </a:rPr>
              <a:t>)</a:t>
            </a:r>
          </a:p>
        </p:txBody>
      </p:sp>
      <p:sp>
        <p:nvSpPr>
          <p:cNvPr id="38924" name="Text Box 19"/>
          <p:cNvSpPr txBox="1">
            <a:spLocks noChangeArrowheads="1"/>
          </p:cNvSpPr>
          <p:nvPr/>
        </p:nvSpPr>
        <p:spPr bwMode="auto">
          <a:xfrm>
            <a:off x="3784600" y="5883275"/>
            <a:ext cx="4724400" cy="8302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</a:rPr>
              <a:t>(</a:t>
            </a:r>
            <a:r>
              <a:rPr lang="en-US">
                <a:solidFill>
                  <a:srgbClr val="339933"/>
                </a:solidFill>
                <a:latin typeface="Arial" charset="0"/>
                <a:cs typeface="Arial" charset="0"/>
              </a:rPr>
              <a:t>Index lookup on sid</a:t>
            </a:r>
            <a:r>
              <a:rPr lang="en-US">
                <a:latin typeface="Arial" charset="0"/>
                <a:cs typeface="Arial" charset="0"/>
              </a:rPr>
              <a:t>)</a:t>
            </a:r>
          </a:p>
          <a:p>
            <a:pPr eaLnBrk="1" hangingPunct="1"/>
            <a:r>
              <a:rPr lang="en-US">
                <a:latin typeface="Arial" charset="0"/>
                <a:cs typeface="Arial" charset="0"/>
              </a:rPr>
              <a:t>Doesn</a:t>
            </a:r>
            <a:r>
              <a:rPr lang="ja-JP" altLang="en-US">
                <a:latin typeface="Arial" charset="0"/>
                <a:cs typeface="Arial" charset="0"/>
              </a:rPr>
              <a:t>’</a:t>
            </a:r>
            <a:r>
              <a:rPr lang="en-US" altLang="ja-JP">
                <a:latin typeface="Arial" charset="0"/>
                <a:cs typeface="Arial" charset="0"/>
              </a:rPr>
              <a:t>t matter if clustered or not</a:t>
            </a: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38925" name="Text Box 20"/>
          <p:cNvSpPr txBox="1">
            <a:spLocks noChangeArrowheads="1"/>
          </p:cNvSpPr>
          <p:nvPr/>
        </p:nvSpPr>
        <p:spPr bwMode="auto">
          <a:xfrm>
            <a:off x="152400" y="1371600"/>
            <a:ext cx="169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</a:rPr>
              <a:t>(</a:t>
            </a:r>
            <a:r>
              <a:rPr lang="en-US">
                <a:solidFill>
                  <a:srgbClr val="339933"/>
                </a:solidFill>
                <a:latin typeface="Arial" charset="0"/>
                <a:cs typeface="Arial" charset="0"/>
              </a:rPr>
              <a:t>On the fly</a:t>
            </a:r>
            <a:r>
              <a:rPr lang="en-US">
                <a:latin typeface="Arial" charset="0"/>
                <a:cs typeface="Arial" charset="0"/>
              </a:rPr>
              <a:t>)</a:t>
            </a:r>
          </a:p>
        </p:txBody>
      </p:sp>
      <p:sp>
        <p:nvSpPr>
          <p:cNvPr id="38926" name="Text Box 21"/>
          <p:cNvSpPr txBox="1">
            <a:spLocks noChangeArrowheads="1"/>
          </p:cNvSpPr>
          <p:nvPr/>
        </p:nvSpPr>
        <p:spPr bwMode="auto">
          <a:xfrm>
            <a:off x="1295400" y="4648200"/>
            <a:ext cx="1457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  <a:sym typeface="Symbol" charset="0"/>
              </a:rPr>
              <a:t>a</a:t>
            </a:r>
            <a:r>
              <a:rPr lang="en-US" baseline="-25000">
                <a:latin typeface="Arial" charset="0"/>
                <a:cs typeface="Arial" charset="0"/>
              </a:rPr>
              <a:t> pno=2</a:t>
            </a:r>
          </a:p>
        </p:txBody>
      </p:sp>
      <p:sp>
        <p:nvSpPr>
          <p:cNvPr id="38927" name="Line 22"/>
          <p:cNvSpPr>
            <a:spLocks noChangeShapeType="1"/>
          </p:cNvSpPr>
          <p:nvPr/>
        </p:nvSpPr>
        <p:spPr bwMode="auto">
          <a:xfrm>
            <a:off x="3352800" y="1981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8" name="Text Box 23"/>
          <p:cNvSpPr txBox="1">
            <a:spLocks noChangeArrowheads="1"/>
          </p:cNvSpPr>
          <p:nvPr/>
        </p:nvSpPr>
        <p:spPr bwMode="auto">
          <a:xfrm>
            <a:off x="533400" y="5883275"/>
            <a:ext cx="32591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(</a:t>
            </a:r>
            <a:r>
              <a:rPr lang="en-US" dirty="0">
                <a:solidFill>
                  <a:srgbClr val="339933"/>
                </a:solidFill>
                <a:latin typeface="Arial" charset="0"/>
                <a:cs typeface="Arial" charset="0"/>
              </a:rPr>
              <a:t>Index lookup on </a:t>
            </a:r>
            <a:r>
              <a:rPr lang="en-US" dirty="0" err="1">
                <a:solidFill>
                  <a:srgbClr val="339933"/>
                </a:solidFill>
                <a:latin typeface="Arial" charset="0"/>
                <a:cs typeface="Arial" charset="0"/>
              </a:rPr>
              <a:t>pno</a:t>
            </a: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  <a:r>
              <a:rPr lang="en-US" dirty="0">
                <a:latin typeface="Arial" charset="0"/>
                <a:cs typeface="Arial" charset="0"/>
              </a:rPr>
              <a:t>)</a:t>
            </a:r>
          </a:p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Assume: clustered</a:t>
            </a:r>
          </a:p>
        </p:txBody>
      </p:sp>
      <p:sp>
        <p:nvSpPr>
          <p:cNvPr id="38929" name="Rectangle 24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610600" cy="1143000"/>
          </a:xfrm>
        </p:spPr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Physical Query Plan 3</a:t>
            </a:r>
          </a:p>
        </p:txBody>
      </p:sp>
      <p:sp>
        <p:nvSpPr>
          <p:cNvPr id="38931" name="Text Box 26"/>
          <p:cNvSpPr txBox="1">
            <a:spLocks noChangeArrowheads="1"/>
          </p:cNvSpPr>
          <p:nvPr/>
        </p:nvSpPr>
        <p:spPr bwMode="auto">
          <a:xfrm>
            <a:off x="0" y="4267200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</a:rPr>
              <a:t>(</a:t>
            </a:r>
            <a:r>
              <a:rPr lang="en-US">
                <a:solidFill>
                  <a:srgbClr val="339933"/>
                </a:solidFill>
                <a:latin typeface="Arial" charset="0"/>
                <a:cs typeface="Arial" charset="0"/>
              </a:rPr>
              <a:t>Use index</a:t>
            </a:r>
            <a:r>
              <a:rPr lang="en-US">
                <a:latin typeface="Arial" charset="0"/>
                <a:cs typeface="Arial" charset="0"/>
              </a:rPr>
              <a:t>)</a:t>
            </a:r>
          </a:p>
        </p:txBody>
      </p:sp>
      <p:sp>
        <p:nvSpPr>
          <p:cNvPr id="38932" name="Text Box 27"/>
          <p:cNvSpPr txBox="1">
            <a:spLocks noChangeArrowheads="1"/>
          </p:cNvSpPr>
          <p:nvPr/>
        </p:nvSpPr>
        <p:spPr bwMode="auto">
          <a:xfrm>
            <a:off x="1981200" y="3429000"/>
            <a:ext cx="5603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  <a:sym typeface="Symbol" charset="0"/>
              </a:rPr>
              <a:t>b</a:t>
            </a:r>
            <a:endParaRPr lang="en-US" baseline="-25000">
              <a:latin typeface="Arial" charset="0"/>
              <a:cs typeface="Arial" charset="0"/>
            </a:endParaRPr>
          </a:p>
        </p:txBody>
      </p:sp>
      <p:sp>
        <p:nvSpPr>
          <p:cNvPr id="38933" name="Text Box 28"/>
          <p:cNvSpPr txBox="1">
            <a:spLocks noChangeArrowheads="1"/>
          </p:cNvSpPr>
          <p:nvPr/>
        </p:nvSpPr>
        <p:spPr bwMode="auto">
          <a:xfrm>
            <a:off x="1001713" y="2362200"/>
            <a:ext cx="5429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  <a:sym typeface="Symbol" charset="0"/>
              </a:rPr>
              <a:t>c</a:t>
            </a:r>
            <a:endParaRPr lang="en-US" baseline="-25000">
              <a:latin typeface="Arial" charset="0"/>
              <a:cs typeface="Arial" charset="0"/>
            </a:endParaRPr>
          </a:p>
        </p:txBody>
      </p:sp>
      <p:sp>
        <p:nvSpPr>
          <p:cNvPr id="38934" name="Text Box 29"/>
          <p:cNvSpPr txBox="1">
            <a:spLocks noChangeArrowheads="1"/>
          </p:cNvSpPr>
          <p:nvPr/>
        </p:nvSpPr>
        <p:spPr bwMode="auto">
          <a:xfrm>
            <a:off x="1905000" y="1371600"/>
            <a:ext cx="5603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  <a:sym typeface="Symbol" charset="0"/>
              </a:rPr>
              <a:t>d</a:t>
            </a:r>
            <a:endParaRPr lang="en-US" baseline="-25000">
              <a:latin typeface="Arial" charset="0"/>
              <a:cs typeface="Arial" charset="0"/>
            </a:endParaRPr>
          </a:p>
        </p:txBody>
      </p:sp>
      <p:sp>
        <p:nvSpPr>
          <p:cNvPr id="38935" name="Text Box 30"/>
          <p:cNvSpPr txBox="1">
            <a:spLocks noChangeArrowheads="1"/>
          </p:cNvSpPr>
          <p:nvPr/>
        </p:nvSpPr>
        <p:spPr bwMode="auto">
          <a:xfrm>
            <a:off x="152400" y="1981200"/>
            <a:ext cx="169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cs typeface="Arial" charset="0"/>
              </a:rPr>
              <a:t>(</a:t>
            </a:r>
            <a:r>
              <a:rPr lang="en-US">
                <a:solidFill>
                  <a:srgbClr val="339933"/>
                </a:solidFill>
                <a:latin typeface="Arial" charset="0"/>
                <a:cs typeface="Arial" charset="0"/>
              </a:rPr>
              <a:t>On the fly</a:t>
            </a:r>
            <a:r>
              <a:rPr lang="en-US">
                <a:latin typeface="Arial" charset="0"/>
                <a:cs typeface="Arial" charset="0"/>
              </a:rPr>
              <a:t>)</a:t>
            </a:r>
          </a:p>
        </p:txBody>
      </p:sp>
      <p:sp>
        <p:nvSpPr>
          <p:cNvPr id="38937" name="Slide Number Placeholder 29"/>
          <p:cNvSpPr>
            <a:spLocks noGrp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1611DE04-B54B-CE44-891D-6C810205B710}" type="slidenum">
              <a:rPr lang="en-US" sz="1400">
                <a:latin typeface="Arial" charset="0"/>
              </a:rPr>
              <a:pPr eaLnBrk="1" hangingPunct="1"/>
              <a:t>59</a:t>
            </a:fld>
            <a:endParaRPr lang="en-US" sz="14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3616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1314</TotalTime>
  <Words>3144</Words>
  <Application>Microsoft Macintosh PowerPoint</Application>
  <PresentationFormat>On-screen Show (4:3)</PresentationFormat>
  <Paragraphs>911</Paragraphs>
  <Slides>59</Slides>
  <Notes>49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0" baseType="lpstr">
      <vt:lpstr>Blank Presentation</vt:lpstr>
      <vt:lpstr>Introduction to Data Management CSE 344</vt:lpstr>
      <vt:lpstr>Where We Are</vt:lpstr>
      <vt:lpstr>Data Management with SQLite</vt:lpstr>
      <vt:lpstr>Client-Server Architecture</vt:lpstr>
      <vt:lpstr>Client-Server Architecture</vt:lpstr>
      <vt:lpstr>DBMS Deployment: 3 Tiers</vt:lpstr>
      <vt:lpstr>DBMS Deployment: Cloud</vt:lpstr>
      <vt:lpstr>Using a DBMS Server</vt:lpstr>
      <vt:lpstr>Query Evaluation Steps Review</vt:lpstr>
      <vt:lpstr>Question: How does Query Evaluation Work?</vt:lpstr>
      <vt:lpstr>The WHAT and the HOW</vt:lpstr>
      <vt:lpstr>Physical Data Independence</vt:lpstr>
      <vt:lpstr>Overview: SQL  = WHAT</vt:lpstr>
      <vt:lpstr>Overview: Relational Algebra = HOW</vt:lpstr>
      <vt:lpstr>Relational Algebra</vt:lpstr>
      <vt:lpstr>Sets v.s. Bags</vt:lpstr>
      <vt:lpstr>Relational Algebra Operators</vt:lpstr>
      <vt:lpstr>Union and Difference</vt:lpstr>
      <vt:lpstr>What about Intersection ?</vt:lpstr>
      <vt:lpstr>Selection</vt:lpstr>
      <vt:lpstr>PowerPoint Presentation</vt:lpstr>
      <vt:lpstr>Projection</vt:lpstr>
      <vt:lpstr>PowerPoint Presentation</vt:lpstr>
      <vt:lpstr>Composing RA Operators</vt:lpstr>
      <vt:lpstr>Cartesian Product</vt:lpstr>
      <vt:lpstr>PowerPoint Presentation</vt:lpstr>
      <vt:lpstr>Renaming</vt:lpstr>
      <vt:lpstr>Natural Join</vt:lpstr>
      <vt:lpstr>Natural Join Example</vt:lpstr>
      <vt:lpstr>Natural Join Example 2</vt:lpstr>
      <vt:lpstr>Natural Join</vt:lpstr>
      <vt:lpstr>Theta Join</vt:lpstr>
      <vt:lpstr>Equijoin</vt:lpstr>
      <vt:lpstr>Equijoin Example</vt:lpstr>
      <vt:lpstr>Join Summary</vt:lpstr>
      <vt:lpstr>So Which Join Is It ?</vt:lpstr>
      <vt:lpstr>More Joins</vt:lpstr>
      <vt:lpstr>Outer Join Example</vt:lpstr>
      <vt:lpstr>Some Examples</vt:lpstr>
      <vt:lpstr>PowerPoint Presentation</vt:lpstr>
      <vt:lpstr>From SQL to RA</vt:lpstr>
      <vt:lpstr>From SQL to RA</vt:lpstr>
      <vt:lpstr>An Equivalent Expression</vt:lpstr>
      <vt:lpstr>Extended RA: Operators on Bags</vt:lpstr>
      <vt:lpstr>Logical Query Plan</vt:lpstr>
      <vt:lpstr>Typical Plan for Block (1/2)</vt:lpstr>
      <vt:lpstr>Typical Plan For Block (2/2)</vt:lpstr>
      <vt:lpstr>How about Subqueries?</vt:lpstr>
      <vt:lpstr>How about Subqueries?</vt:lpstr>
      <vt:lpstr>How about Subqueries?</vt:lpstr>
      <vt:lpstr>How about Subqueries?</vt:lpstr>
      <vt:lpstr>How about Subqueries?</vt:lpstr>
      <vt:lpstr>From Logical Plans  to Physical Plans</vt:lpstr>
      <vt:lpstr>Example</vt:lpstr>
      <vt:lpstr>Relational Algebra</vt:lpstr>
      <vt:lpstr>Relational Algebra</vt:lpstr>
      <vt:lpstr>Physical Query Plan 1</vt:lpstr>
      <vt:lpstr>Physical Query Plan 2</vt:lpstr>
      <vt:lpstr>Physical Query Plan 3</vt:lpstr>
    </vt:vector>
  </TitlesOfParts>
  <Company>University of Washington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Relational Algebra</dc:title>
  <dc:creator>Dan Suciu</dc:creator>
  <cp:lastModifiedBy>Magdalena Balazinska</cp:lastModifiedBy>
  <cp:revision>283</cp:revision>
  <cp:lastPrinted>2009-05-06T18:56:14Z</cp:lastPrinted>
  <dcterms:created xsi:type="dcterms:W3CDTF">2011-10-16T18:39:54Z</dcterms:created>
  <dcterms:modified xsi:type="dcterms:W3CDTF">2012-10-15T04:42:22Z</dcterms:modified>
</cp:coreProperties>
</file>